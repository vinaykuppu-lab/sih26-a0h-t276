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Lst>
  <p:sldSz cx="18288000" cy="10287000"/>
  <p:notesSz cx="6858000" cy="9144000"/>
  <p:embeddedFontLst>
    <p:embeddedFont>
      <p:font typeface="Garamond Bold" charset="1" panose="02020804030307010803"/>
      <p:regular r:id="rId12"/>
    </p:embeddedFont>
    <p:embeddedFont>
      <p:font typeface="Arial Bold" charset="1" panose="020B0704020202020204"/>
      <p:regular r:id="rId13"/>
    </p:embeddedFont>
    <p:embeddedFont>
      <p:font typeface="Calibri (MS) Bold" charset="1" panose="020F0702030404030204"/>
      <p:regular r:id="rId14"/>
    </p:embeddedFont>
    <p:embeddedFont>
      <p:font typeface="Arimo" charset="1" panose="020B0604020202020204"/>
      <p:regular r:id="rId15"/>
    </p:embeddedFont>
    <p:embeddedFont>
      <p:font typeface="Calibri (MS)" charset="1" panose="020F0502020204030204"/>
      <p:regular r:id="rId16"/>
    </p:embeddedFont>
    <p:embeddedFont>
      <p:font typeface="Times New Roman" charset="1" panose="02020603050405020304"/>
      <p:regular r:id="rId20"/>
    </p:embeddedFont>
    <p:embeddedFont>
      <p:font typeface="Arial" charset="1" panose="020B0604020202020204"/>
      <p:regular r:id="rId21"/>
    </p:embeddedFont>
    <p:embeddedFont>
      <p:font typeface="Calibri (MS) Bold Italics" charset="1" panose="020F07020304040A0204"/>
      <p:regular r:id="rId22"/>
    </p:embeddedFont>
    <p:embeddedFont>
      <p:font typeface="Calibri (MS) Italics" charset="1" panose="020F05020202040A0204"/>
      <p:regular r:id="rId23"/>
    </p:embeddedFont>
    <p:embeddedFont>
      <p:font typeface="Times New Roman Bold" charset="1" panose="02020803070505020304"/>
      <p:regular r:id="rId25"/>
    </p:embeddedFont>
    <p:embeddedFont>
      <p:font typeface="Aptos Bold" charset="1" panose="020B0004020202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notesSlides/notesSlide3.xml" Type="http://schemas.openxmlformats.org/officeDocument/2006/relationships/notesSlide"/><Relationship Id="rId27" Target="notesSlides/notesSlide4.xml" Type="http://schemas.openxmlformats.org/officeDocument/2006/relationships/notesSlide"/><Relationship Id="rId28" Target="fonts/font28.fntdata" Type="http://schemas.openxmlformats.org/officeDocument/2006/relationships/font"/><Relationship Id="rId29" Target="notesSlides/notesSlide5.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6.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85165" y="1277283"/>
            <a:ext cx="6957908" cy="7732452"/>
          </a:xfrm>
          <a:custGeom>
            <a:avLst/>
            <a:gdLst/>
            <a:ahLst/>
            <a:cxnLst/>
            <a:rect r="r" b="b" t="t" l="l"/>
            <a:pathLst>
              <a:path h="7732452" w="6957908">
                <a:moveTo>
                  <a:pt x="0" y="0"/>
                </a:moveTo>
                <a:lnTo>
                  <a:pt x="6957908" y="0"/>
                </a:lnTo>
                <a:lnTo>
                  <a:pt x="6957908" y="7732453"/>
                </a:lnTo>
                <a:lnTo>
                  <a:pt x="0" y="77324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9874" y="3068134"/>
            <a:ext cx="4805267" cy="5139357"/>
            <a:chOff x="0" y="0"/>
            <a:chExt cx="6407023" cy="6852476"/>
          </a:xfrm>
        </p:grpSpPr>
        <p:sp>
          <p:nvSpPr>
            <p:cNvPr name="Freeform 4" id="4"/>
            <p:cNvSpPr/>
            <p:nvPr/>
          </p:nvSpPr>
          <p:spPr>
            <a:xfrm flipH="false" flipV="false" rot="0">
              <a:off x="0" y="0"/>
              <a:ext cx="6407023" cy="6852412"/>
            </a:xfrm>
            <a:custGeom>
              <a:avLst/>
              <a:gdLst/>
              <a:ahLst/>
              <a:cxnLst/>
              <a:rect r="r" b="b" t="t" l="l"/>
              <a:pathLst>
                <a:path h="6852412" w="6407023">
                  <a:moveTo>
                    <a:pt x="0" y="0"/>
                  </a:moveTo>
                  <a:lnTo>
                    <a:pt x="6407023" y="0"/>
                  </a:lnTo>
                  <a:lnTo>
                    <a:pt x="6407023" y="6852412"/>
                  </a:lnTo>
                  <a:lnTo>
                    <a:pt x="0" y="6852412"/>
                  </a:lnTo>
                  <a:lnTo>
                    <a:pt x="0" y="0"/>
                  </a:lnTo>
                  <a:close/>
                </a:path>
              </a:pathLst>
            </a:custGeom>
            <a:blipFill>
              <a:blip r:embed="rId4"/>
              <a:stretch>
                <a:fillRect l="0" t="0" r="-149475" b="-1"/>
              </a:stretch>
            </a:blipFill>
          </p:spPr>
        </p:sp>
      </p:grpSp>
      <p:grpSp>
        <p:nvGrpSpPr>
          <p:cNvPr name="Group 5" id="5"/>
          <p:cNvGrpSpPr/>
          <p:nvPr/>
        </p:nvGrpSpPr>
        <p:grpSpPr>
          <a:xfrm rot="0">
            <a:off x="496929" y="-790137"/>
            <a:ext cx="15544800" cy="3114675"/>
            <a:chOff x="0" y="0"/>
            <a:chExt cx="20726400" cy="4152900"/>
          </a:xfrm>
        </p:grpSpPr>
        <p:sp>
          <p:nvSpPr>
            <p:cNvPr name="Freeform 6" id="6"/>
            <p:cNvSpPr/>
            <p:nvPr/>
          </p:nvSpPr>
          <p:spPr>
            <a:xfrm flipH="false" flipV="false" rot="0">
              <a:off x="0" y="0"/>
              <a:ext cx="20726400" cy="4152900"/>
            </a:xfrm>
            <a:custGeom>
              <a:avLst/>
              <a:gdLst/>
              <a:ahLst/>
              <a:cxnLst/>
              <a:rect r="r" b="b" t="t" l="l"/>
              <a:pathLst>
                <a:path h="4152900" w="20726400">
                  <a:moveTo>
                    <a:pt x="0" y="0"/>
                  </a:moveTo>
                  <a:lnTo>
                    <a:pt x="20726400" y="0"/>
                  </a:lnTo>
                  <a:lnTo>
                    <a:pt x="20726400" y="4152900"/>
                  </a:lnTo>
                  <a:lnTo>
                    <a:pt x="0" y="4152900"/>
                  </a:lnTo>
                  <a:close/>
                </a:path>
              </a:pathLst>
            </a:custGeom>
            <a:blipFill>
              <a:blip r:embed="rId5">
                <a:alphaModFix amt="0"/>
              </a:blip>
              <a:stretch>
                <a:fillRect l="0" t="-47246" r="0" b="-47246"/>
              </a:stretch>
            </a:blipFill>
          </p:spPr>
        </p:sp>
        <p:sp>
          <p:nvSpPr>
            <p:cNvPr name="TextBox 7" id="7"/>
            <p:cNvSpPr txBox="true"/>
            <p:nvPr/>
          </p:nvSpPr>
          <p:spPr>
            <a:xfrm>
              <a:off x="0" y="-19050"/>
              <a:ext cx="20726400" cy="4171950"/>
            </a:xfrm>
            <a:prstGeom prst="rect">
              <a:avLst/>
            </a:prstGeom>
          </p:spPr>
          <p:txBody>
            <a:bodyPr anchor="ctr" rtlCol="false" tIns="0" lIns="0" bIns="0" rIns="0"/>
            <a:lstStyle/>
            <a:p>
              <a:pPr algn="ctr">
                <a:lnSpc>
                  <a:spcPts val="7200"/>
                </a:lnSpc>
              </a:pPr>
              <a:r>
                <a:rPr lang="en-US" sz="6000" b="true">
                  <a:solidFill>
                    <a:srgbClr val="1F497D"/>
                  </a:solidFill>
                  <a:latin typeface="Garamond Bold"/>
                  <a:ea typeface="Garamond Bold"/>
                  <a:cs typeface="Garamond Bold"/>
                  <a:sym typeface="Garamond Bold"/>
                </a:rPr>
                <a:t>SMART INDIA HACKATHON 2026</a:t>
              </a:r>
            </a:p>
          </p:txBody>
        </p:sp>
      </p:grpSp>
      <p:grpSp>
        <p:nvGrpSpPr>
          <p:cNvPr name="Group 8" id="8"/>
          <p:cNvGrpSpPr/>
          <p:nvPr/>
        </p:nvGrpSpPr>
        <p:grpSpPr>
          <a:xfrm rot="0">
            <a:off x="14670129" y="2248"/>
            <a:ext cx="3374774" cy="1593504"/>
            <a:chOff x="0" y="0"/>
            <a:chExt cx="4499699" cy="2124672"/>
          </a:xfrm>
        </p:grpSpPr>
        <p:sp>
          <p:nvSpPr>
            <p:cNvPr name="Freeform 9" id="9"/>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6"/>
              <a:stretch>
                <a:fillRect l="0" t="0" r="0" b="1"/>
              </a:stretch>
            </a:blipFill>
          </p:spPr>
        </p:sp>
      </p:grpSp>
      <p:grpSp>
        <p:nvGrpSpPr>
          <p:cNvPr name="Group 10" id="10"/>
          <p:cNvGrpSpPr/>
          <p:nvPr/>
        </p:nvGrpSpPr>
        <p:grpSpPr>
          <a:xfrm rot="0">
            <a:off x="254251" y="490233"/>
            <a:ext cx="1524352" cy="1524352"/>
            <a:chOff x="0" y="0"/>
            <a:chExt cx="2032470" cy="2032470"/>
          </a:xfrm>
        </p:grpSpPr>
        <p:sp>
          <p:nvSpPr>
            <p:cNvPr name="Freeform 11" id="11"/>
            <p:cNvSpPr/>
            <p:nvPr/>
          </p:nvSpPr>
          <p:spPr>
            <a:xfrm flipH="false" flipV="false" rot="0">
              <a:off x="0" y="0"/>
              <a:ext cx="2032508" cy="2032508"/>
            </a:xfrm>
            <a:custGeom>
              <a:avLst/>
              <a:gdLst/>
              <a:ahLst/>
              <a:cxnLst/>
              <a:rect r="r" b="b" t="t" l="l"/>
              <a:pathLst>
                <a:path h="2032508" w="2032508">
                  <a:moveTo>
                    <a:pt x="0" y="0"/>
                  </a:moveTo>
                  <a:lnTo>
                    <a:pt x="2032508" y="0"/>
                  </a:lnTo>
                  <a:lnTo>
                    <a:pt x="2032508" y="2032508"/>
                  </a:lnTo>
                  <a:lnTo>
                    <a:pt x="0" y="2032508"/>
                  </a:lnTo>
                  <a:lnTo>
                    <a:pt x="0" y="0"/>
                  </a:lnTo>
                  <a:close/>
                </a:path>
              </a:pathLst>
            </a:custGeom>
            <a:blipFill>
              <a:blip r:embed="rId7"/>
              <a:stretch>
                <a:fillRect l="0" t="0" r="1" b="1"/>
              </a:stretch>
            </a:blipFill>
          </p:spPr>
        </p:sp>
      </p:grpSp>
      <p:sp>
        <p:nvSpPr>
          <p:cNvPr name="TextBox 12" id="12"/>
          <p:cNvSpPr txBox="true"/>
          <p:nvPr/>
        </p:nvSpPr>
        <p:spPr>
          <a:xfrm rot="0">
            <a:off x="581475" y="2422381"/>
            <a:ext cx="12682757" cy="7219950"/>
          </a:xfrm>
          <a:prstGeom prst="rect">
            <a:avLst/>
          </a:prstGeom>
        </p:spPr>
        <p:txBody>
          <a:bodyPr anchor="t" rtlCol="false" tIns="0" lIns="0" bIns="0" rIns="0">
            <a:spAutoFit/>
          </a:bodyPr>
          <a:lstStyle/>
          <a:p>
            <a:pPr algn="just" marL="542925" indent="-271462" lvl="1">
              <a:lnSpc>
                <a:spcPts val="7200"/>
              </a:lnSpc>
              <a:buFont typeface="Arial"/>
              <a:buChar char="•"/>
            </a:pPr>
            <a:r>
              <a:rPr lang="en-US" b="true" sz="3000">
                <a:solidFill>
                  <a:srgbClr val="000000"/>
                </a:solidFill>
                <a:latin typeface="Arial Bold"/>
                <a:ea typeface="Arial Bold"/>
                <a:cs typeface="Arial Bold"/>
                <a:sym typeface="Arial Bold"/>
              </a:rPr>
              <a:t>Problem Statement ID –SIH26008</a:t>
            </a:r>
          </a:p>
          <a:p>
            <a:pPr algn="just" marL="542925" indent="-271462" lvl="1">
              <a:lnSpc>
                <a:spcPts val="3600"/>
              </a:lnSpc>
            </a:pPr>
          </a:p>
          <a:p>
            <a:pPr algn="just" marL="542925" indent="-271462" lvl="1">
              <a:lnSpc>
                <a:spcPts val="3600"/>
              </a:lnSpc>
              <a:buFont typeface="Arial"/>
              <a:buChar char="•"/>
            </a:pPr>
            <a:r>
              <a:rPr lang="en-US" b="true" sz="3000">
                <a:solidFill>
                  <a:srgbClr val="000000"/>
                </a:solidFill>
                <a:latin typeface="Arial Bold"/>
                <a:ea typeface="Arial Bold"/>
                <a:cs typeface="Arial Bold"/>
                <a:sym typeface="Arial Bold"/>
              </a:rPr>
              <a:t> Problem Statement Title-</a:t>
            </a:r>
          </a:p>
          <a:p>
            <a:pPr algn="just" marL="542925" indent="-271462" lvl="1">
              <a:lnSpc>
                <a:spcPts val="3600"/>
              </a:lnSpc>
            </a:pPr>
          </a:p>
          <a:p>
            <a:pPr algn="just">
              <a:lnSpc>
                <a:spcPts val="3600"/>
              </a:lnSpc>
            </a:pPr>
            <a:r>
              <a:rPr lang="en-US" b="true" sz="3000">
                <a:solidFill>
                  <a:srgbClr val="000000"/>
                </a:solidFill>
                <a:latin typeface="Calibri (MS) Bold"/>
                <a:ea typeface="Calibri (MS) Bold"/>
                <a:cs typeface="Calibri (MS) Bold"/>
                <a:sym typeface="Calibri (MS) Bold"/>
              </a:rPr>
              <a:t>   "Intelligent Monitoring and Prediction of Conveyor</a:t>
            </a:r>
          </a:p>
          <a:p>
            <a:pPr algn="just">
              <a:lnSpc>
                <a:spcPts val="3600"/>
              </a:lnSpc>
            </a:pPr>
            <a:r>
              <a:rPr lang="en-US" b="true" sz="3000">
                <a:solidFill>
                  <a:srgbClr val="000000"/>
                </a:solidFill>
                <a:latin typeface="Calibri (MS) Bold"/>
                <a:ea typeface="Calibri (MS) Bold"/>
                <a:cs typeface="Calibri (MS) Bold"/>
                <a:sym typeface="Calibri (MS) Bold"/>
              </a:rPr>
              <a:t> Belt Joint Rupture and Damages in Iron Ore Mining </a:t>
            </a:r>
          </a:p>
          <a:p>
            <a:pPr algn="just" marL="542925" indent="-271462" lvl="1">
              <a:lnSpc>
                <a:spcPts val="3600"/>
              </a:lnSpc>
            </a:pPr>
            <a:r>
              <a:rPr lang="en-US" b="true" sz="3000">
                <a:solidFill>
                  <a:srgbClr val="000000"/>
                </a:solidFill>
                <a:latin typeface="Calibri (MS) Bold"/>
                <a:ea typeface="Calibri (MS) Bold"/>
                <a:cs typeface="Calibri (MS) Bold"/>
                <a:sym typeface="Calibri (MS) Bold"/>
              </a:rPr>
              <a:t>Industry."</a:t>
            </a:r>
          </a:p>
          <a:p>
            <a:pPr algn="just" marL="542925" indent="-271462" lvl="1">
              <a:lnSpc>
                <a:spcPts val="3600"/>
              </a:lnSpc>
            </a:pPr>
          </a:p>
          <a:p>
            <a:pPr algn="just" marL="542925" indent="-271462" lvl="1">
              <a:lnSpc>
                <a:spcPts val="3600"/>
              </a:lnSpc>
              <a:buFont typeface="Arial"/>
              <a:buChar char="•"/>
            </a:pPr>
            <a:r>
              <a:rPr lang="en-US" b="true" sz="3000">
                <a:solidFill>
                  <a:srgbClr val="000000"/>
                </a:solidFill>
                <a:latin typeface="Calibri (MS) Bold"/>
                <a:ea typeface="Calibri (MS) Bold"/>
                <a:cs typeface="Calibri (MS) Bold"/>
                <a:sym typeface="Calibri (MS) Bold"/>
              </a:rPr>
              <a:t>Theme-Smart Automation</a:t>
            </a:r>
          </a:p>
          <a:p>
            <a:pPr algn="just" marL="542925" indent="-271462" lvl="1">
              <a:lnSpc>
                <a:spcPts val="7200"/>
              </a:lnSpc>
              <a:buFont typeface="Arial"/>
              <a:buChar char="•"/>
            </a:pPr>
            <a:r>
              <a:rPr lang="en-US" b="true" sz="3000">
                <a:solidFill>
                  <a:srgbClr val="000000"/>
                </a:solidFill>
                <a:latin typeface="Arial Bold"/>
                <a:ea typeface="Arial Bold"/>
                <a:cs typeface="Arial Bold"/>
                <a:sym typeface="Arial Bold"/>
              </a:rPr>
              <a:t>PS Category- Hardware</a:t>
            </a:r>
          </a:p>
          <a:p>
            <a:pPr algn="just" marL="542925" indent="-271462" lvl="1">
              <a:lnSpc>
                <a:spcPts val="7200"/>
              </a:lnSpc>
              <a:buFont typeface="Arial"/>
              <a:buChar char="•"/>
            </a:pPr>
            <a:r>
              <a:rPr lang="en-US" b="true" sz="3000">
                <a:solidFill>
                  <a:srgbClr val="000000"/>
                </a:solidFill>
                <a:latin typeface="Arial Bold"/>
                <a:ea typeface="Arial Bold"/>
                <a:cs typeface="Arial Bold"/>
                <a:sym typeface="Arial Bold"/>
              </a:rPr>
              <a:t>Team ID-SIH26-A0H-T276</a:t>
            </a:r>
          </a:p>
          <a:p>
            <a:pPr algn="just" marL="542925" indent="-271462" lvl="1">
              <a:lnSpc>
                <a:spcPts val="7200"/>
              </a:lnSpc>
              <a:buFont typeface="Arial"/>
              <a:buChar char="•"/>
            </a:pPr>
            <a:r>
              <a:rPr lang="en-US" b="true" sz="3000">
                <a:solidFill>
                  <a:srgbClr val="000000"/>
                </a:solidFill>
                <a:latin typeface="Arial Bold"/>
                <a:ea typeface="Arial Bold"/>
                <a:cs typeface="Arial Bold"/>
                <a:sym typeface="Arial Bold"/>
              </a:rPr>
              <a:t>Team Name (Registered on portal)-HexaCore</a:t>
            </a:r>
          </a:p>
        </p:txBody>
      </p:sp>
      <p:sp>
        <p:nvSpPr>
          <p:cNvPr name="TextBox 13" id="13"/>
          <p:cNvSpPr txBox="true"/>
          <p:nvPr/>
        </p:nvSpPr>
        <p:spPr>
          <a:xfrm rot="0">
            <a:off x="3706099" y="1233359"/>
            <a:ext cx="9558133" cy="1550972"/>
          </a:xfrm>
          <a:prstGeom prst="rect">
            <a:avLst/>
          </a:prstGeom>
        </p:spPr>
        <p:txBody>
          <a:bodyPr anchor="t" rtlCol="false" tIns="0" lIns="0" bIns="0" rIns="0">
            <a:spAutoFit/>
          </a:bodyPr>
          <a:lstStyle/>
          <a:p>
            <a:pPr algn="ctr">
              <a:lnSpc>
                <a:spcPts val="4063"/>
              </a:lnSpc>
            </a:pPr>
            <a:r>
              <a:rPr lang="en-US" sz="3385">
                <a:solidFill>
                  <a:srgbClr val="000000"/>
                </a:solidFill>
                <a:latin typeface="Arimo"/>
                <a:ea typeface="Arimo"/>
                <a:cs typeface="Arimo"/>
                <a:sym typeface="Arimo"/>
              </a:rPr>
              <a:t>" Intelligent Monitoring and Prediction of Conveyor Belt Joint Rupture and Damages in Iron Ore Mining Industry."</a:t>
            </a:r>
          </a:p>
        </p:txBody>
      </p:sp>
      <p:sp>
        <p:nvSpPr>
          <p:cNvPr name="TextBox 14" id="14"/>
          <p:cNvSpPr txBox="true"/>
          <p:nvPr/>
        </p:nvSpPr>
        <p:spPr>
          <a:xfrm rot="0">
            <a:off x="17544674" y="9585181"/>
            <a:ext cx="1000458" cy="519713"/>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46789" y="-227323"/>
            <a:ext cx="12218851" cy="1428004"/>
            <a:chOff x="0" y="0"/>
            <a:chExt cx="16291801" cy="1904006"/>
          </a:xfrm>
        </p:grpSpPr>
        <p:sp>
          <p:nvSpPr>
            <p:cNvPr name="Freeform 3" id="3"/>
            <p:cNvSpPr/>
            <p:nvPr/>
          </p:nvSpPr>
          <p:spPr>
            <a:xfrm flipH="false" flipV="false" rot="0">
              <a:off x="0" y="0"/>
              <a:ext cx="16291796" cy="1904003"/>
            </a:xfrm>
            <a:custGeom>
              <a:avLst/>
              <a:gdLst/>
              <a:ahLst/>
              <a:cxnLst/>
              <a:rect r="r" b="b" t="t" l="l"/>
              <a:pathLst>
                <a:path h="1904003" w="16291796">
                  <a:moveTo>
                    <a:pt x="0" y="0"/>
                  </a:moveTo>
                  <a:lnTo>
                    <a:pt x="16291796" y="0"/>
                  </a:lnTo>
                  <a:lnTo>
                    <a:pt x="16291796" y="1904003"/>
                  </a:lnTo>
                  <a:lnTo>
                    <a:pt x="0" y="1904003"/>
                  </a:lnTo>
                  <a:close/>
                </a:path>
              </a:pathLst>
            </a:custGeom>
            <a:blipFill>
              <a:blip r:embed="rId3">
                <a:alphaModFix amt="0"/>
              </a:blip>
              <a:stretch>
                <a:fillRect l="0" t="-116725" r="0" b="-116725"/>
              </a:stretch>
            </a:blipFill>
          </p:spPr>
        </p:sp>
        <p:sp>
          <p:nvSpPr>
            <p:cNvPr name="TextBox 4" id="4"/>
            <p:cNvSpPr txBox="true"/>
            <p:nvPr/>
          </p:nvSpPr>
          <p:spPr>
            <a:xfrm>
              <a:off x="0" y="-28575"/>
              <a:ext cx="16291801" cy="1932581"/>
            </a:xfrm>
            <a:prstGeom prst="rect">
              <a:avLst/>
            </a:prstGeom>
          </p:spPr>
          <p:txBody>
            <a:bodyPr anchor="ctr" rtlCol="false" tIns="0" lIns="0" bIns="0" rIns="0"/>
            <a:lstStyle/>
            <a:p>
              <a:pPr algn="ctr">
                <a:lnSpc>
                  <a:spcPts val="5831"/>
                </a:lnSpc>
              </a:pPr>
              <a:r>
                <a:rPr lang="en-US" sz="4859">
                  <a:solidFill>
                    <a:srgbClr val="000000"/>
                  </a:solidFill>
                  <a:latin typeface="Times New Roman"/>
                  <a:ea typeface="Times New Roman"/>
                  <a:cs typeface="Times New Roman"/>
                  <a:sym typeface="Times New Roman"/>
                </a:rPr>
                <a:t>CONVEYOR HEALTH MONITORING</a:t>
              </a:r>
            </a:p>
          </p:txBody>
        </p:sp>
      </p:grpSp>
      <p:grpSp>
        <p:nvGrpSpPr>
          <p:cNvPr name="Group 5" id="5"/>
          <p:cNvGrpSpPr/>
          <p:nvPr/>
        </p:nvGrpSpPr>
        <p:grpSpPr>
          <a:xfrm rot="0">
            <a:off x="14670129" y="2248"/>
            <a:ext cx="3374774" cy="1593504"/>
            <a:chOff x="0" y="0"/>
            <a:chExt cx="4499699" cy="2124672"/>
          </a:xfrm>
        </p:grpSpPr>
        <p:sp>
          <p:nvSpPr>
            <p:cNvPr name="Freeform 6" id="6"/>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7" id="7"/>
          <p:cNvGrpSpPr/>
          <p:nvPr/>
        </p:nvGrpSpPr>
        <p:grpSpPr>
          <a:xfrm rot="0">
            <a:off x="1755384" y="5188170"/>
            <a:ext cx="2009175" cy="483318"/>
            <a:chOff x="0" y="0"/>
            <a:chExt cx="2678900" cy="644423"/>
          </a:xfrm>
        </p:grpSpPr>
        <p:sp>
          <p:nvSpPr>
            <p:cNvPr name="Freeform 8" id="8"/>
            <p:cNvSpPr/>
            <p:nvPr/>
          </p:nvSpPr>
          <p:spPr>
            <a:xfrm flipH="false" flipV="false" rot="0">
              <a:off x="0" y="0"/>
              <a:ext cx="2678898" cy="644426"/>
            </a:xfrm>
            <a:custGeom>
              <a:avLst/>
              <a:gdLst/>
              <a:ahLst/>
              <a:cxnLst/>
              <a:rect r="r" b="b" t="t" l="l"/>
              <a:pathLst>
                <a:path h="644426" w="2678898">
                  <a:moveTo>
                    <a:pt x="0" y="0"/>
                  </a:moveTo>
                  <a:lnTo>
                    <a:pt x="2678898" y="0"/>
                  </a:lnTo>
                  <a:lnTo>
                    <a:pt x="2678898" y="644426"/>
                  </a:lnTo>
                  <a:lnTo>
                    <a:pt x="0" y="644426"/>
                  </a:lnTo>
                  <a:close/>
                </a:path>
              </a:pathLst>
            </a:custGeom>
            <a:blipFill>
              <a:blip r:embed="rId3">
                <a:alphaModFix amt="0"/>
              </a:blip>
              <a:stretch>
                <a:fillRect l="0" t="-31000" r="0" b="-30999"/>
              </a:stretch>
            </a:blipFill>
          </p:spPr>
        </p:sp>
        <p:sp>
          <p:nvSpPr>
            <p:cNvPr name="TextBox 9" id="9"/>
            <p:cNvSpPr txBox="true"/>
            <p:nvPr/>
          </p:nvSpPr>
          <p:spPr>
            <a:xfrm>
              <a:off x="0" y="-28575"/>
              <a:ext cx="2678900" cy="672998"/>
            </a:xfrm>
            <a:prstGeom prst="rect">
              <a:avLst/>
            </a:prstGeom>
          </p:spPr>
          <p:txBody>
            <a:bodyPr anchor="ctr" rtlCol="false" tIns="0" lIns="0" bIns="0" rIns="0"/>
            <a:lstStyle/>
            <a:p>
              <a:pPr algn="ctr">
                <a:lnSpc>
                  <a:spcPts val="1530"/>
                </a:lnSpc>
              </a:pPr>
              <a:r>
                <a:rPr lang="en-US" sz="1275">
                  <a:solidFill>
                    <a:srgbClr val="51677A"/>
                  </a:solidFill>
                  <a:latin typeface="Calibri (MS)"/>
                  <a:ea typeface="Calibri (MS)"/>
                  <a:cs typeface="Calibri (MS)"/>
                  <a:sym typeface="Calibri (MS)"/>
                </a:rPr>
                <a:t>Logs yield,</a:t>
              </a:r>
            </a:p>
            <a:p>
              <a:pPr algn="ctr">
                <a:lnSpc>
                  <a:spcPts val="1530"/>
                </a:lnSpc>
              </a:pPr>
              <a:r>
                <a:rPr lang="en-US" sz="1275">
                  <a:solidFill>
                    <a:srgbClr val="51677A"/>
                  </a:solidFill>
                  <a:latin typeface="Calibri (MS)"/>
                  <a:ea typeface="Calibri (MS)"/>
                  <a:cs typeface="Calibri (MS)"/>
                  <a:sym typeface="Calibri (MS)"/>
                </a:rPr>
                <a:t>works offline</a:t>
              </a:r>
            </a:p>
          </p:txBody>
        </p:sp>
      </p:grpSp>
      <p:grpSp>
        <p:nvGrpSpPr>
          <p:cNvPr name="Group 10" id="10"/>
          <p:cNvGrpSpPr/>
          <p:nvPr/>
        </p:nvGrpSpPr>
        <p:grpSpPr>
          <a:xfrm rot="5400000">
            <a:off x="189764" y="5203545"/>
            <a:ext cx="384048" cy="685800"/>
            <a:chOff x="0" y="0"/>
            <a:chExt cx="512064" cy="914400"/>
          </a:xfrm>
        </p:grpSpPr>
        <p:sp>
          <p:nvSpPr>
            <p:cNvPr name="Freeform 11" id="11"/>
            <p:cNvSpPr/>
            <p:nvPr/>
          </p:nvSpPr>
          <p:spPr>
            <a:xfrm flipH="false" flipV="false" rot="0">
              <a:off x="0" y="0"/>
              <a:ext cx="512064" cy="914400"/>
            </a:xfrm>
            <a:custGeom>
              <a:avLst/>
              <a:gdLst/>
              <a:ahLst/>
              <a:cxnLst/>
              <a:rect r="r" b="b" t="t" l="l"/>
              <a:pathLst>
                <a:path h="914400" w="512064">
                  <a:moveTo>
                    <a:pt x="0" y="0"/>
                  </a:moveTo>
                  <a:lnTo>
                    <a:pt x="512064" y="0"/>
                  </a:lnTo>
                  <a:lnTo>
                    <a:pt x="512064" y="914400"/>
                  </a:lnTo>
                  <a:lnTo>
                    <a:pt x="0" y="914400"/>
                  </a:lnTo>
                  <a:close/>
                </a:path>
              </a:pathLst>
            </a:custGeom>
            <a:blipFill>
              <a:blip r:embed="rId3">
                <a:alphaModFix amt="0"/>
              </a:blip>
              <a:stretch>
                <a:fillRect l="-179113" t="0" r="-179113" b="0"/>
              </a:stretch>
            </a:blipFill>
          </p:spPr>
        </p:sp>
        <p:sp>
          <p:nvSpPr>
            <p:cNvPr name="TextBox 12" id="12"/>
            <p:cNvSpPr txBox="true"/>
            <p:nvPr/>
          </p:nvSpPr>
          <p:spPr>
            <a:xfrm>
              <a:off x="0" y="-19050"/>
              <a:ext cx="512064" cy="933450"/>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13" id="13"/>
          <p:cNvGrpSpPr/>
          <p:nvPr/>
        </p:nvGrpSpPr>
        <p:grpSpPr>
          <a:xfrm rot="0">
            <a:off x="6193839" y="869645"/>
            <a:ext cx="5553075" cy="695083"/>
            <a:chOff x="0" y="0"/>
            <a:chExt cx="7404100" cy="926778"/>
          </a:xfrm>
        </p:grpSpPr>
        <p:sp>
          <p:nvSpPr>
            <p:cNvPr name="Freeform 14" id="14"/>
            <p:cNvSpPr/>
            <p:nvPr/>
          </p:nvSpPr>
          <p:spPr>
            <a:xfrm flipH="false" flipV="false" rot="0">
              <a:off x="0" y="0"/>
              <a:ext cx="7404100" cy="926733"/>
            </a:xfrm>
            <a:custGeom>
              <a:avLst/>
              <a:gdLst/>
              <a:ahLst/>
              <a:cxnLst/>
              <a:rect r="r" b="b" t="t" l="l"/>
              <a:pathLst>
                <a:path h="926733" w="7404100">
                  <a:moveTo>
                    <a:pt x="0" y="0"/>
                  </a:moveTo>
                  <a:lnTo>
                    <a:pt x="7404100" y="0"/>
                  </a:lnTo>
                  <a:lnTo>
                    <a:pt x="7404100" y="926733"/>
                  </a:lnTo>
                  <a:lnTo>
                    <a:pt x="0" y="926733"/>
                  </a:lnTo>
                  <a:close/>
                </a:path>
              </a:pathLst>
            </a:custGeom>
            <a:solidFill>
              <a:srgbClr val="FFA751"/>
            </a:solidFill>
            <a:ln w="38100" cap="sq">
              <a:solidFill>
                <a:srgbClr val="000000"/>
              </a:solidFill>
              <a:prstDash val="solid"/>
              <a:miter/>
            </a:ln>
          </p:spPr>
        </p:sp>
        <p:sp>
          <p:nvSpPr>
            <p:cNvPr name="TextBox 15" id="15"/>
            <p:cNvSpPr txBox="true"/>
            <p:nvPr/>
          </p:nvSpPr>
          <p:spPr>
            <a:xfrm>
              <a:off x="0" y="-57150"/>
              <a:ext cx="7404100" cy="983928"/>
            </a:xfrm>
            <a:prstGeom prst="rect">
              <a:avLst/>
            </a:prstGeom>
          </p:spPr>
          <p:txBody>
            <a:bodyPr anchor="t" rtlCol="false" tIns="50800" lIns="50800" bIns="50800" rIns="50800"/>
            <a:lstStyle/>
            <a:p>
              <a:pPr algn="l">
                <a:lnSpc>
                  <a:spcPts val="3240"/>
                </a:lnSpc>
              </a:pPr>
            </a:p>
          </p:txBody>
        </p:sp>
      </p:grpSp>
      <p:grpSp>
        <p:nvGrpSpPr>
          <p:cNvPr name="Group 16" id="16"/>
          <p:cNvGrpSpPr/>
          <p:nvPr/>
        </p:nvGrpSpPr>
        <p:grpSpPr>
          <a:xfrm rot="0">
            <a:off x="198064" y="1431620"/>
            <a:ext cx="4104357" cy="2066944"/>
            <a:chOff x="0" y="0"/>
            <a:chExt cx="5532891" cy="2786351"/>
          </a:xfrm>
        </p:grpSpPr>
        <p:sp>
          <p:nvSpPr>
            <p:cNvPr name="Freeform 17" id="17"/>
            <p:cNvSpPr/>
            <p:nvPr/>
          </p:nvSpPr>
          <p:spPr>
            <a:xfrm flipH="false" flipV="false" rot="0">
              <a:off x="0" y="0"/>
              <a:ext cx="5532891" cy="2786364"/>
            </a:xfrm>
            <a:custGeom>
              <a:avLst/>
              <a:gdLst/>
              <a:ahLst/>
              <a:cxnLst/>
              <a:rect r="r" b="b" t="t" l="l"/>
              <a:pathLst>
                <a:path h="2786364" w="5532891">
                  <a:moveTo>
                    <a:pt x="0" y="0"/>
                  </a:moveTo>
                  <a:lnTo>
                    <a:pt x="5532891" y="0"/>
                  </a:lnTo>
                  <a:lnTo>
                    <a:pt x="5532891" y="2786364"/>
                  </a:lnTo>
                  <a:lnTo>
                    <a:pt x="0" y="2786364"/>
                  </a:lnTo>
                  <a:close/>
                </a:path>
              </a:pathLst>
            </a:custGeom>
            <a:solidFill>
              <a:srgbClr val="E6B9B8"/>
            </a:solidFill>
            <a:ln cap="sq">
              <a:noFill/>
              <a:prstDash val="solid"/>
              <a:miter/>
            </a:ln>
          </p:spPr>
        </p:sp>
        <p:sp>
          <p:nvSpPr>
            <p:cNvPr name="TextBox 18" id="18"/>
            <p:cNvSpPr txBox="true"/>
            <p:nvPr/>
          </p:nvSpPr>
          <p:spPr>
            <a:xfrm>
              <a:off x="0" y="-47625"/>
              <a:ext cx="5532891" cy="2833976"/>
            </a:xfrm>
            <a:prstGeom prst="rect">
              <a:avLst/>
            </a:prstGeom>
          </p:spPr>
          <p:txBody>
            <a:bodyPr anchor="t" rtlCol="false" tIns="50800" lIns="50800" bIns="50800" rIns="50800"/>
            <a:lstStyle/>
            <a:p>
              <a:pPr algn="l">
                <a:lnSpc>
                  <a:spcPts val="2520"/>
                </a:lnSpc>
              </a:pPr>
              <a:r>
                <a:rPr lang="en-US" sz="2100">
                  <a:solidFill>
                    <a:srgbClr val="000000"/>
                  </a:solidFill>
                  <a:latin typeface="Calibri (MS)"/>
                  <a:ea typeface="Calibri (MS)"/>
                  <a:cs typeface="Calibri (MS)"/>
                  <a:sym typeface="Calibri (MS)"/>
                </a:rPr>
                <a:t>To detect any abnormalities like more friction between conveyor belt and the rollers below, belt misaignment, and any jamming in the conveyor joint, power and torque delivered is measured.</a:t>
              </a:r>
            </a:p>
          </p:txBody>
        </p:sp>
      </p:grpSp>
      <p:grpSp>
        <p:nvGrpSpPr>
          <p:cNvPr name="Group 19" id="19"/>
          <p:cNvGrpSpPr/>
          <p:nvPr/>
        </p:nvGrpSpPr>
        <p:grpSpPr>
          <a:xfrm rot="0">
            <a:off x="133800" y="3894632"/>
            <a:ext cx="4168621" cy="1939377"/>
            <a:chOff x="0" y="0"/>
            <a:chExt cx="5056330" cy="2352368"/>
          </a:xfrm>
        </p:grpSpPr>
        <p:sp>
          <p:nvSpPr>
            <p:cNvPr name="Freeform 20" id="20"/>
            <p:cNvSpPr/>
            <p:nvPr/>
          </p:nvSpPr>
          <p:spPr>
            <a:xfrm flipH="false" flipV="false" rot="0">
              <a:off x="0" y="0"/>
              <a:ext cx="5056331" cy="2352321"/>
            </a:xfrm>
            <a:custGeom>
              <a:avLst/>
              <a:gdLst/>
              <a:ahLst/>
              <a:cxnLst/>
              <a:rect r="r" b="b" t="t" l="l"/>
              <a:pathLst>
                <a:path h="2352321" w="5056331">
                  <a:moveTo>
                    <a:pt x="0" y="0"/>
                  </a:moveTo>
                  <a:lnTo>
                    <a:pt x="5056331" y="0"/>
                  </a:lnTo>
                  <a:lnTo>
                    <a:pt x="5056331" y="2352321"/>
                  </a:lnTo>
                  <a:lnTo>
                    <a:pt x="0" y="2352321"/>
                  </a:lnTo>
                  <a:close/>
                </a:path>
              </a:pathLst>
            </a:custGeom>
            <a:solidFill>
              <a:srgbClr val="E6B9B8"/>
            </a:solidFill>
            <a:ln cap="sq">
              <a:noFill/>
              <a:prstDash val="solid"/>
              <a:miter/>
            </a:ln>
          </p:spPr>
        </p:sp>
        <p:sp>
          <p:nvSpPr>
            <p:cNvPr name="TextBox 21" id="21"/>
            <p:cNvSpPr txBox="true"/>
            <p:nvPr/>
          </p:nvSpPr>
          <p:spPr>
            <a:xfrm>
              <a:off x="0" y="-38100"/>
              <a:ext cx="5056330" cy="2390468"/>
            </a:xfrm>
            <a:prstGeom prst="rect">
              <a:avLst/>
            </a:prstGeom>
          </p:spPr>
          <p:txBody>
            <a:bodyPr anchor="t" rtlCol="false" tIns="50800" lIns="50800" bIns="50800" rIns="50800"/>
            <a:lstStyle/>
            <a:p>
              <a:pPr algn="l">
                <a:lnSpc>
                  <a:spcPts val="2160"/>
                </a:lnSpc>
              </a:pPr>
              <a:r>
                <a:rPr lang="en-US" sz="1800">
                  <a:solidFill>
                    <a:srgbClr val="000000"/>
                  </a:solidFill>
                  <a:latin typeface="Calibri (MS)"/>
                  <a:ea typeface="Calibri (MS)"/>
                  <a:cs typeface="Calibri (MS)"/>
                  <a:sym typeface="Calibri (MS)"/>
                </a:rPr>
                <a:t>To calculate motors power:</a:t>
              </a:r>
            </a:p>
            <a:p>
              <a:pPr algn="l">
                <a:lnSpc>
                  <a:spcPts val="2520"/>
                </a:lnSpc>
              </a:pPr>
            </a:p>
            <a:p>
              <a:pPr algn="l">
                <a:lnSpc>
                  <a:spcPts val="2520"/>
                </a:lnSpc>
              </a:pPr>
            </a:p>
            <a:p>
              <a:pPr algn="l">
                <a:lnSpc>
                  <a:spcPts val="2520"/>
                </a:lnSpc>
              </a:pPr>
              <a:r>
                <a:rPr lang="en-US" sz="2100">
                  <a:solidFill>
                    <a:srgbClr val="000000"/>
                  </a:solidFill>
                  <a:latin typeface="Calibri (MS)"/>
                  <a:ea typeface="Calibri (MS)"/>
                  <a:cs typeface="Calibri (MS)"/>
                  <a:sym typeface="Calibri (MS)"/>
                </a:rPr>
                <a:t>The motors Torque is:</a:t>
              </a:r>
            </a:p>
          </p:txBody>
        </p:sp>
      </p:grpSp>
      <p:grpSp>
        <p:nvGrpSpPr>
          <p:cNvPr name="Group 22" id="22"/>
          <p:cNvGrpSpPr/>
          <p:nvPr/>
        </p:nvGrpSpPr>
        <p:grpSpPr>
          <a:xfrm rot="0">
            <a:off x="133800" y="6280102"/>
            <a:ext cx="4168621" cy="2170119"/>
            <a:chOff x="0" y="0"/>
            <a:chExt cx="5337868" cy="2778810"/>
          </a:xfrm>
        </p:grpSpPr>
        <p:sp>
          <p:nvSpPr>
            <p:cNvPr name="Freeform 23" id="23"/>
            <p:cNvSpPr/>
            <p:nvPr/>
          </p:nvSpPr>
          <p:spPr>
            <a:xfrm flipH="false" flipV="false" rot="0">
              <a:off x="0" y="0"/>
              <a:ext cx="5337868" cy="2778874"/>
            </a:xfrm>
            <a:custGeom>
              <a:avLst/>
              <a:gdLst/>
              <a:ahLst/>
              <a:cxnLst/>
              <a:rect r="r" b="b" t="t" l="l"/>
              <a:pathLst>
                <a:path h="2778874" w="5337868">
                  <a:moveTo>
                    <a:pt x="0" y="0"/>
                  </a:moveTo>
                  <a:lnTo>
                    <a:pt x="5337868" y="0"/>
                  </a:lnTo>
                  <a:lnTo>
                    <a:pt x="5337868" y="2778874"/>
                  </a:lnTo>
                  <a:lnTo>
                    <a:pt x="0" y="2778874"/>
                  </a:lnTo>
                  <a:close/>
                </a:path>
              </a:pathLst>
            </a:custGeom>
            <a:solidFill>
              <a:srgbClr val="E6B9B8"/>
            </a:solidFill>
            <a:ln cap="sq">
              <a:noFill/>
              <a:prstDash val="solid"/>
              <a:miter/>
            </a:ln>
          </p:spPr>
        </p:sp>
        <p:sp>
          <p:nvSpPr>
            <p:cNvPr name="TextBox 24" id="24"/>
            <p:cNvSpPr txBox="true"/>
            <p:nvPr/>
          </p:nvSpPr>
          <p:spPr>
            <a:xfrm>
              <a:off x="0" y="-38100"/>
              <a:ext cx="5337868" cy="2816910"/>
            </a:xfrm>
            <a:prstGeom prst="rect">
              <a:avLst/>
            </a:prstGeom>
          </p:spPr>
          <p:txBody>
            <a:bodyPr anchor="t" rtlCol="false" tIns="50800" lIns="50800" bIns="50800" rIns="50800"/>
            <a:lstStyle/>
            <a:p>
              <a:pPr algn="l">
                <a:lnSpc>
                  <a:spcPts val="2280"/>
                </a:lnSpc>
              </a:pPr>
              <a:r>
                <a:rPr lang="en-US" sz="1900">
                  <a:solidFill>
                    <a:srgbClr val="000000"/>
                  </a:solidFill>
                  <a:latin typeface="Calibri (MS)"/>
                  <a:ea typeface="Calibri (MS)"/>
                  <a:cs typeface="Calibri (MS)"/>
                  <a:sym typeface="Calibri (MS)"/>
                </a:rPr>
                <a:t>Since there will be variations in toque and power according to the amount of the ore material on the belt, both parameters are measured in real time. So abnormalities will be identified instantaneously. Here belt speed would be constant.</a:t>
              </a:r>
            </a:p>
          </p:txBody>
        </p:sp>
      </p:grpSp>
      <p:grpSp>
        <p:nvGrpSpPr>
          <p:cNvPr name="Group 25" id="25"/>
          <p:cNvGrpSpPr/>
          <p:nvPr/>
        </p:nvGrpSpPr>
        <p:grpSpPr>
          <a:xfrm rot="5400000">
            <a:off x="1909656" y="3344292"/>
            <a:ext cx="377257" cy="685800"/>
            <a:chOff x="0" y="0"/>
            <a:chExt cx="503009" cy="914400"/>
          </a:xfrm>
        </p:grpSpPr>
        <p:sp>
          <p:nvSpPr>
            <p:cNvPr name="Freeform 26" id="26"/>
            <p:cNvSpPr/>
            <p:nvPr/>
          </p:nvSpPr>
          <p:spPr>
            <a:xfrm flipH="false" flipV="false" rot="0">
              <a:off x="0" y="0"/>
              <a:ext cx="503009" cy="914400"/>
            </a:xfrm>
            <a:custGeom>
              <a:avLst/>
              <a:gdLst/>
              <a:ahLst/>
              <a:cxnLst/>
              <a:rect r="r" b="b" t="t" l="l"/>
              <a:pathLst>
                <a:path h="914400" w="503009">
                  <a:moveTo>
                    <a:pt x="0" y="0"/>
                  </a:moveTo>
                  <a:lnTo>
                    <a:pt x="503009" y="0"/>
                  </a:lnTo>
                  <a:lnTo>
                    <a:pt x="503009" y="914400"/>
                  </a:lnTo>
                  <a:lnTo>
                    <a:pt x="0" y="914400"/>
                  </a:lnTo>
                  <a:close/>
                </a:path>
              </a:pathLst>
            </a:custGeom>
            <a:blipFill>
              <a:blip r:embed="rId3">
                <a:alphaModFix amt="0"/>
              </a:blip>
              <a:stretch>
                <a:fillRect l="-182337" t="0" r="-184138" b="0"/>
              </a:stretch>
            </a:blipFill>
          </p:spPr>
        </p:sp>
        <p:sp>
          <p:nvSpPr>
            <p:cNvPr name="TextBox 27" id="27"/>
            <p:cNvSpPr txBox="true"/>
            <p:nvPr/>
          </p:nvSpPr>
          <p:spPr>
            <a:xfrm>
              <a:off x="0" y="-19050"/>
              <a:ext cx="503009" cy="933450"/>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28" id="28"/>
          <p:cNvGrpSpPr/>
          <p:nvPr/>
        </p:nvGrpSpPr>
        <p:grpSpPr>
          <a:xfrm rot="0">
            <a:off x="12395560" y="1595752"/>
            <a:ext cx="5649343" cy="5406855"/>
            <a:chOff x="0" y="0"/>
            <a:chExt cx="7532457" cy="7209140"/>
          </a:xfrm>
        </p:grpSpPr>
        <p:sp>
          <p:nvSpPr>
            <p:cNvPr name="Freeform 29" id="29"/>
            <p:cNvSpPr/>
            <p:nvPr/>
          </p:nvSpPr>
          <p:spPr>
            <a:xfrm flipH="false" flipV="false" rot="0">
              <a:off x="0" y="0"/>
              <a:ext cx="7532457" cy="7209140"/>
            </a:xfrm>
            <a:custGeom>
              <a:avLst/>
              <a:gdLst/>
              <a:ahLst/>
              <a:cxnLst/>
              <a:rect r="r" b="b" t="t" l="l"/>
              <a:pathLst>
                <a:path h="7209140" w="7532457">
                  <a:moveTo>
                    <a:pt x="0" y="0"/>
                  </a:moveTo>
                  <a:lnTo>
                    <a:pt x="7532457" y="0"/>
                  </a:lnTo>
                  <a:lnTo>
                    <a:pt x="7532457" y="7209140"/>
                  </a:lnTo>
                  <a:lnTo>
                    <a:pt x="0" y="7209140"/>
                  </a:lnTo>
                  <a:lnTo>
                    <a:pt x="0" y="0"/>
                  </a:lnTo>
                  <a:close/>
                </a:path>
              </a:pathLst>
            </a:custGeom>
            <a:blipFill>
              <a:blip r:embed="rId5">
                <a:extLst>
                  <a:ext uri="{96DAC541-7B7A-43D3-8B79-37D633B846F1}">
                    <asvg:svgBlip xmlns:asvg="http://schemas.microsoft.com/office/drawing/2016/SVG/main" r:embed="rId6"/>
                  </a:ext>
                </a:extLst>
              </a:blip>
              <a:stretch>
                <a:fillRect l="-16595" t="0" r="-16595" b="0"/>
              </a:stretch>
            </a:blipFill>
          </p:spPr>
        </p:sp>
        <p:sp>
          <p:nvSpPr>
            <p:cNvPr name="TextBox 30" id="30"/>
            <p:cNvSpPr txBox="true"/>
            <p:nvPr/>
          </p:nvSpPr>
          <p:spPr>
            <a:xfrm rot="0">
              <a:off x="316348" y="90877"/>
              <a:ext cx="6835518" cy="6970236"/>
            </a:xfrm>
            <a:prstGeom prst="rect">
              <a:avLst/>
            </a:prstGeom>
          </p:spPr>
          <p:txBody>
            <a:bodyPr anchor="t" rtlCol="false" tIns="0" lIns="0" bIns="0" rIns="0">
              <a:spAutoFit/>
            </a:bodyPr>
            <a:lstStyle/>
            <a:p>
              <a:pPr algn="just">
                <a:lnSpc>
                  <a:spcPts val="3206"/>
                </a:lnSpc>
              </a:pPr>
              <a:r>
                <a:rPr lang="en-US" b="true" sz="2671" i="true" u="sng">
                  <a:solidFill>
                    <a:srgbClr val="002060"/>
                  </a:solidFill>
                  <a:latin typeface="Calibri (MS) Bold Italics"/>
                  <a:ea typeface="Calibri (MS) Bold Italics"/>
                  <a:cs typeface="Calibri (MS) Bold Italics"/>
                  <a:sym typeface="Calibri (MS) Bold Italics"/>
                </a:rPr>
                <a:t>What makes us different</a:t>
              </a:r>
            </a:p>
            <a:p>
              <a:pPr algn="just">
                <a:lnSpc>
                  <a:spcPts val="2111"/>
                </a:lnSpc>
              </a:pPr>
            </a:p>
            <a:p>
              <a:pPr algn="just">
                <a:lnSpc>
                  <a:spcPts val="2246"/>
                </a:lnSpc>
              </a:pPr>
              <a:r>
                <a:rPr lang="en-US" sz="1871" b="true">
                  <a:solidFill>
                    <a:srgbClr val="002060"/>
                  </a:solidFill>
                  <a:latin typeface="Calibri (MS) Bold"/>
                  <a:ea typeface="Calibri (MS) Bold"/>
                  <a:cs typeface="Calibri (MS) Bold"/>
                  <a:sym typeface="Calibri (MS) Bold"/>
                </a:rPr>
                <a:t>Our system creates a normal motor-load signature for varying ore loads and detects unexpected increases in power/torque/current while maintaining constant belt speed.</a:t>
              </a:r>
            </a:p>
            <a:p>
              <a:pPr algn="just">
                <a:lnSpc>
                  <a:spcPts val="2246"/>
                </a:lnSpc>
              </a:pPr>
              <a:r>
                <a:rPr lang="en-US" sz="1871" b="true">
                  <a:solidFill>
                    <a:srgbClr val="002060"/>
                  </a:solidFill>
                  <a:latin typeface="Calibri (MS) Bold"/>
                  <a:ea typeface="Calibri (MS) Bold"/>
                  <a:cs typeface="Calibri (MS) Bold"/>
                  <a:sym typeface="Calibri (MS) Bold"/>
                </a:rPr>
                <a:t>So even if the ore load changes unpredictably, the system doesn't need to know the exact mass.</a:t>
              </a:r>
            </a:p>
            <a:p>
              <a:pPr algn="just">
                <a:lnSpc>
                  <a:spcPts val="2246"/>
                </a:lnSpc>
              </a:pPr>
            </a:p>
            <a:p>
              <a:pPr algn="just">
                <a:lnSpc>
                  <a:spcPts val="2246"/>
                </a:lnSpc>
              </a:pPr>
              <a:r>
                <a:rPr lang="en-US" sz="1871" b="true">
                  <a:solidFill>
                    <a:srgbClr val="002060"/>
                  </a:solidFill>
                  <a:latin typeface="Calibri (MS) Bold"/>
                  <a:ea typeface="Calibri (MS) Bold"/>
                  <a:cs typeface="Calibri (MS) Bold"/>
                  <a:sym typeface="Calibri (MS) Bold"/>
                </a:rPr>
                <a:t> It asks:</a:t>
              </a:r>
            </a:p>
            <a:p>
              <a:pPr algn="just">
                <a:lnSpc>
                  <a:spcPts val="2246"/>
                </a:lnSpc>
              </a:pPr>
              <a:r>
                <a:rPr lang="en-US" sz="1871" b="true">
                  <a:solidFill>
                    <a:srgbClr val="002060"/>
                  </a:solidFill>
                  <a:latin typeface="Calibri (MS) Bold"/>
                  <a:ea typeface="Calibri (MS) Bold"/>
                  <a:cs typeface="Calibri (MS) Bold"/>
                  <a:sym typeface="Calibri (MS) Bold"/>
                </a:rPr>
                <a:t>    “Given the current operating conditions, is the motor working harder than it normally should?”</a:t>
              </a:r>
            </a:p>
            <a:p>
              <a:pPr algn="just">
                <a:lnSpc>
                  <a:spcPts val="2246"/>
                </a:lnSpc>
              </a:pPr>
            </a:p>
            <a:p>
              <a:pPr algn="just">
                <a:lnSpc>
                  <a:spcPts val="2246"/>
                </a:lnSpc>
              </a:pPr>
              <a:r>
                <a:rPr lang="en-US" sz="1871" b="true">
                  <a:solidFill>
                    <a:srgbClr val="002060"/>
                  </a:solidFill>
                  <a:latin typeface="Calibri (MS) Bold"/>
                  <a:ea typeface="Calibri (MS) Bold"/>
                  <a:cs typeface="Calibri (MS) Bold"/>
                  <a:sym typeface="Calibri (MS) Bold"/>
                </a:rPr>
                <a:t>If yes → early anomaly alert → targeted inspection.</a:t>
              </a:r>
            </a:p>
            <a:p>
              <a:pPr algn="just">
                <a:lnSpc>
                  <a:spcPts val="2484"/>
                </a:lnSpc>
              </a:pPr>
              <a:r>
                <a:rPr lang="en-US" sz="2070" b="true">
                  <a:solidFill>
                    <a:srgbClr val="215968"/>
                  </a:solidFill>
                  <a:latin typeface="Calibri (MS) Bold"/>
                  <a:ea typeface="Calibri (MS) Bold"/>
                  <a:cs typeface="Calibri (MS) Bold"/>
                  <a:sym typeface="Calibri (MS) Bold"/>
                </a:rPr>
                <a:t>To find  locations more precisely:</a:t>
              </a:r>
            </a:p>
            <a:p>
              <a:pPr algn="just" marL="379921" indent="-189960" lvl="1">
                <a:lnSpc>
                  <a:spcPts val="2111"/>
                </a:lnSpc>
                <a:buFont typeface="Arial"/>
                <a:buChar char="•"/>
              </a:pPr>
              <a:r>
                <a:rPr lang="en-US" b="true" sz="1759">
                  <a:solidFill>
                    <a:srgbClr val="215968"/>
                  </a:solidFill>
                  <a:latin typeface="Calibri (MS) Bold"/>
                  <a:ea typeface="Calibri (MS) Bold"/>
                  <a:cs typeface="Calibri (MS) Bold"/>
                  <a:sym typeface="Calibri (MS) Bold"/>
                </a:rPr>
                <a:t> We place vibration sensors at consecutive locations to detect the problematic location more precisely.</a:t>
              </a:r>
            </a:p>
          </p:txBody>
        </p:sp>
      </p:grpSp>
      <p:grpSp>
        <p:nvGrpSpPr>
          <p:cNvPr name="Group 31" id="31"/>
          <p:cNvGrpSpPr/>
          <p:nvPr/>
        </p:nvGrpSpPr>
        <p:grpSpPr>
          <a:xfrm rot="0">
            <a:off x="198064" y="-193153"/>
            <a:ext cx="1524352" cy="1524352"/>
            <a:chOff x="0" y="0"/>
            <a:chExt cx="2032470" cy="2032470"/>
          </a:xfrm>
        </p:grpSpPr>
        <p:sp>
          <p:nvSpPr>
            <p:cNvPr name="Freeform 32" id="32"/>
            <p:cNvSpPr/>
            <p:nvPr/>
          </p:nvSpPr>
          <p:spPr>
            <a:xfrm flipH="false" flipV="false" rot="0">
              <a:off x="0" y="0"/>
              <a:ext cx="2032508" cy="2032508"/>
            </a:xfrm>
            <a:custGeom>
              <a:avLst/>
              <a:gdLst/>
              <a:ahLst/>
              <a:cxnLst/>
              <a:rect r="r" b="b" t="t" l="l"/>
              <a:pathLst>
                <a:path h="2032508" w="2032508">
                  <a:moveTo>
                    <a:pt x="0" y="0"/>
                  </a:moveTo>
                  <a:lnTo>
                    <a:pt x="2032508" y="0"/>
                  </a:lnTo>
                  <a:lnTo>
                    <a:pt x="2032508" y="2032508"/>
                  </a:lnTo>
                  <a:lnTo>
                    <a:pt x="0" y="2032508"/>
                  </a:lnTo>
                  <a:lnTo>
                    <a:pt x="0" y="0"/>
                  </a:lnTo>
                  <a:close/>
                </a:path>
              </a:pathLst>
            </a:custGeom>
            <a:blipFill>
              <a:blip r:embed="rId7"/>
              <a:stretch>
                <a:fillRect l="0" t="0" r="1" b="1"/>
              </a:stretch>
            </a:blipFill>
          </p:spPr>
        </p:sp>
      </p:grpSp>
      <p:grpSp>
        <p:nvGrpSpPr>
          <p:cNvPr name="Group 33" id="33"/>
          <p:cNvGrpSpPr/>
          <p:nvPr/>
        </p:nvGrpSpPr>
        <p:grpSpPr>
          <a:xfrm rot="0">
            <a:off x="12395560" y="7244674"/>
            <a:ext cx="5649343" cy="2678725"/>
            <a:chOff x="0" y="0"/>
            <a:chExt cx="7532457" cy="3571633"/>
          </a:xfrm>
        </p:grpSpPr>
        <p:grpSp>
          <p:nvGrpSpPr>
            <p:cNvPr name="Group 34" id="34"/>
            <p:cNvGrpSpPr/>
            <p:nvPr/>
          </p:nvGrpSpPr>
          <p:grpSpPr>
            <a:xfrm rot="0">
              <a:off x="0" y="0"/>
              <a:ext cx="7497718" cy="1613127"/>
              <a:chOff x="0" y="0"/>
              <a:chExt cx="9808929" cy="2110381"/>
            </a:xfrm>
          </p:grpSpPr>
          <p:sp>
            <p:nvSpPr>
              <p:cNvPr name="Freeform 35" id="35"/>
              <p:cNvSpPr/>
              <p:nvPr/>
            </p:nvSpPr>
            <p:spPr>
              <a:xfrm flipH="false" flipV="false" rot="0">
                <a:off x="0" y="0"/>
                <a:ext cx="9808929" cy="2110394"/>
              </a:xfrm>
              <a:custGeom>
                <a:avLst/>
                <a:gdLst/>
                <a:ahLst/>
                <a:cxnLst/>
                <a:rect r="r" b="b" t="t" l="l"/>
                <a:pathLst>
                  <a:path h="2110394" w="9808929">
                    <a:moveTo>
                      <a:pt x="0" y="0"/>
                    </a:moveTo>
                    <a:lnTo>
                      <a:pt x="9808929" y="0"/>
                    </a:lnTo>
                    <a:lnTo>
                      <a:pt x="9808929" y="2110394"/>
                    </a:lnTo>
                    <a:lnTo>
                      <a:pt x="0" y="2110394"/>
                    </a:lnTo>
                    <a:close/>
                  </a:path>
                </a:pathLst>
              </a:custGeom>
              <a:solidFill>
                <a:srgbClr val="A4C4FF"/>
              </a:solidFill>
              <a:ln cap="sq">
                <a:noFill/>
                <a:prstDash val="solid"/>
                <a:miter/>
              </a:ln>
            </p:spPr>
          </p:sp>
          <p:sp>
            <p:nvSpPr>
              <p:cNvPr name="TextBox 36" id="36"/>
              <p:cNvSpPr txBox="true"/>
              <p:nvPr/>
            </p:nvSpPr>
            <p:spPr>
              <a:xfrm>
                <a:off x="0" y="-47625"/>
                <a:ext cx="9808929" cy="2158006"/>
              </a:xfrm>
              <a:prstGeom prst="rect">
                <a:avLst/>
              </a:prstGeom>
            </p:spPr>
            <p:txBody>
              <a:bodyPr anchor="t" rtlCol="false" tIns="45171" lIns="45171" bIns="45171" rIns="45171"/>
              <a:lstStyle/>
              <a:p>
                <a:pPr algn="ctr">
                  <a:lnSpc>
                    <a:spcPts val="2759"/>
                  </a:lnSpc>
                </a:pPr>
                <a:r>
                  <a:rPr lang="en-US" sz="2299">
                    <a:solidFill>
                      <a:srgbClr val="000000"/>
                    </a:solidFill>
                    <a:latin typeface="Calibri (MS)"/>
                    <a:ea typeface="Calibri (MS)"/>
                    <a:cs typeface="Calibri (MS)"/>
                    <a:sym typeface="Calibri (MS)"/>
                  </a:rPr>
                  <a:t>To ensure safety of the conveyor joint temparature is also measured besides </a:t>
                </a:r>
              </a:p>
              <a:p>
                <a:pPr algn="ctr">
                  <a:lnSpc>
                    <a:spcPts val="2759"/>
                  </a:lnSpc>
                </a:pPr>
                <a:r>
                  <a:rPr lang="en-US" sz="2299">
                    <a:solidFill>
                      <a:srgbClr val="000000"/>
                    </a:solidFill>
                    <a:latin typeface="Calibri (MS)"/>
                    <a:ea typeface="Calibri (MS)"/>
                    <a:cs typeface="Calibri (MS)"/>
                    <a:sym typeface="Calibri (MS)"/>
                  </a:rPr>
                  <a:t>power.</a:t>
                </a:r>
              </a:p>
            </p:txBody>
          </p:sp>
        </p:grpSp>
        <p:grpSp>
          <p:nvGrpSpPr>
            <p:cNvPr name="Group 37" id="37"/>
            <p:cNvGrpSpPr/>
            <p:nvPr/>
          </p:nvGrpSpPr>
          <p:grpSpPr>
            <a:xfrm rot="0">
              <a:off x="0" y="1931495"/>
              <a:ext cx="7532457" cy="1640138"/>
              <a:chOff x="0" y="0"/>
              <a:chExt cx="9755598" cy="2124211"/>
            </a:xfrm>
          </p:grpSpPr>
          <p:sp>
            <p:nvSpPr>
              <p:cNvPr name="Freeform 38" id="38"/>
              <p:cNvSpPr/>
              <p:nvPr/>
            </p:nvSpPr>
            <p:spPr>
              <a:xfrm flipH="false" flipV="false" rot="0">
                <a:off x="0" y="0"/>
                <a:ext cx="9755598" cy="2124168"/>
              </a:xfrm>
              <a:custGeom>
                <a:avLst/>
                <a:gdLst/>
                <a:ahLst/>
                <a:cxnLst/>
                <a:rect r="r" b="b" t="t" l="l"/>
                <a:pathLst>
                  <a:path h="2124168" w="9755598">
                    <a:moveTo>
                      <a:pt x="0" y="0"/>
                    </a:moveTo>
                    <a:lnTo>
                      <a:pt x="9755598" y="0"/>
                    </a:lnTo>
                    <a:lnTo>
                      <a:pt x="9755598" y="2124168"/>
                    </a:lnTo>
                    <a:lnTo>
                      <a:pt x="0" y="2124168"/>
                    </a:lnTo>
                    <a:close/>
                  </a:path>
                </a:pathLst>
              </a:custGeom>
              <a:solidFill>
                <a:srgbClr val="A4C4FF"/>
              </a:solidFill>
              <a:ln cap="sq">
                <a:noFill/>
                <a:prstDash val="solid"/>
                <a:miter/>
              </a:ln>
            </p:spPr>
          </p:sp>
          <p:sp>
            <p:nvSpPr>
              <p:cNvPr name="TextBox 39" id="39"/>
              <p:cNvSpPr txBox="true"/>
              <p:nvPr/>
            </p:nvSpPr>
            <p:spPr>
              <a:xfrm>
                <a:off x="0" y="-47625"/>
                <a:ext cx="9755598" cy="2171836"/>
              </a:xfrm>
              <a:prstGeom prst="rect">
                <a:avLst/>
              </a:prstGeom>
            </p:spPr>
            <p:txBody>
              <a:bodyPr anchor="t" rtlCol="false" tIns="45171" lIns="45171" bIns="45171" rIns="45171"/>
              <a:lstStyle/>
              <a:p>
                <a:pPr algn="ctr">
                  <a:lnSpc>
                    <a:spcPts val="2759"/>
                  </a:lnSpc>
                </a:pPr>
                <a:r>
                  <a:rPr lang="en-US" sz="2299">
                    <a:solidFill>
                      <a:srgbClr val="000000"/>
                    </a:solidFill>
                    <a:latin typeface="Calibri (MS)"/>
                    <a:ea typeface="Calibri (MS)"/>
                    <a:cs typeface="Calibri (MS)"/>
                    <a:sym typeface="Calibri (MS)"/>
                  </a:rPr>
                  <a:t>The sensor will measure temperature if the delivered power exceeds a threshold value.</a:t>
                </a:r>
              </a:p>
              <a:p>
                <a:pPr algn="ctr">
                  <a:lnSpc>
                    <a:spcPts val="2759"/>
                  </a:lnSpc>
                </a:pPr>
                <a:r>
                  <a:rPr lang="en-US" sz="2299">
                    <a:solidFill>
                      <a:srgbClr val="000000"/>
                    </a:solidFill>
                    <a:latin typeface="Calibri (MS)"/>
                    <a:ea typeface="Calibri (MS)"/>
                    <a:cs typeface="Calibri (MS)"/>
                    <a:sym typeface="Calibri (MS)"/>
                  </a:rPr>
                  <a:t>   An alarm will be raise </a:t>
                </a:r>
              </a:p>
            </p:txBody>
          </p:sp>
        </p:grpSp>
      </p:grpSp>
      <p:grpSp>
        <p:nvGrpSpPr>
          <p:cNvPr name="Group 40" id="40"/>
          <p:cNvGrpSpPr/>
          <p:nvPr/>
        </p:nvGrpSpPr>
        <p:grpSpPr>
          <a:xfrm rot="5400000">
            <a:off x="1949409" y="8358495"/>
            <a:ext cx="297750" cy="595501"/>
            <a:chOff x="0" y="0"/>
            <a:chExt cx="457200" cy="914400"/>
          </a:xfrm>
        </p:grpSpPr>
        <p:sp>
          <p:nvSpPr>
            <p:cNvPr name="Freeform 41" id="41"/>
            <p:cNvSpPr/>
            <p:nvPr/>
          </p:nvSpPr>
          <p:spPr>
            <a:xfrm flipH="false" flipV="false" rot="0">
              <a:off x="0" y="0"/>
              <a:ext cx="457200" cy="914400"/>
            </a:xfrm>
            <a:custGeom>
              <a:avLst/>
              <a:gdLst/>
              <a:ahLst/>
              <a:cxnLst/>
              <a:rect r="r" b="b" t="t" l="l"/>
              <a:pathLst>
                <a:path h="914400" w="457200">
                  <a:moveTo>
                    <a:pt x="0" y="0"/>
                  </a:moveTo>
                  <a:lnTo>
                    <a:pt x="457200" y="0"/>
                  </a:lnTo>
                  <a:lnTo>
                    <a:pt x="457200" y="914400"/>
                  </a:lnTo>
                  <a:lnTo>
                    <a:pt x="0" y="914400"/>
                  </a:lnTo>
                  <a:close/>
                </a:path>
              </a:pathLst>
            </a:custGeom>
            <a:blipFill>
              <a:blip r:embed="rId3">
                <a:alphaModFix amt="0"/>
              </a:blip>
              <a:stretch>
                <a:fillRect l="-200607" t="0" r="-212607" b="0"/>
              </a:stretch>
            </a:blipFill>
          </p:spPr>
        </p:sp>
        <p:sp>
          <p:nvSpPr>
            <p:cNvPr name="TextBox 42" id="42"/>
            <p:cNvSpPr txBox="true"/>
            <p:nvPr/>
          </p:nvSpPr>
          <p:spPr>
            <a:xfrm>
              <a:off x="0" y="-19050"/>
              <a:ext cx="457200" cy="933450"/>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43" id="43"/>
          <p:cNvGrpSpPr/>
          <p:nvPr/>
        </p:nvGrpSpPr>
        <p:grpSpPr>
          <a:xfrm rot="5400000">
            <a:off x="1931544" y="5760149"/>
            <a:ext cx="333481" cy="595501"/>
            <a:chOff x="0" y="0"/>
            <a:chExt cx="512064" cy="914400"/>
          </a:xfrm>
        </p:grpSpPr>
        <p:sp>
          <p:nvSpPr>
            <p:cNvPr name="Freeform 44" id="44"/>
            <p:cNvSpPr/>
            <p:nvPr/>
          </p:nvSpPr>
          <p:spPr>
            <a:xfrm flipH="false" flipV="false" rot="0">
              <a:off x="0" y="0"/>
              <a:ext cx="512064" cy="914400"/>
            </a:xfrm>
            <a:custGeom>
              <a:avLst/>
              <a:gdLst/>
              <a:ahLst/>
              <a:cxnLst/>
              <a:rect r="r" b="b" t="t" l="l"/>
              <a:pathLst>
                <a:path h="914400" w="512064">
                  <a:moveTo>
                    <a:pt x="0" y="0"/>
                  </a:moveTo>
                  <a:lnTo>
                    <a:pt x="512064" y="0"/>
                  </a:lnTo>
                  <a:lnTo>
                    <a:pt x="512064" y="914400"/>
                  </a:lnTo>
                  <a:lnTo>
                    <a:pt x="0" y="914400"/>
                  </a:lnTo>
                  <a:close/>
                </a:path>
              </a:pathLst>
            </a:custGeom>
            <a:blipFill>
              <a:blip r:embed="rId3">
                <a:alphaModFix amt="0"/>
              </a:blip>
              <a:stretch>
                <a:fillRect l="-179113" t="0" r="-179113" b="0"/>
              </a:stretch>
            </a:blipFill>
          </p:spPr>
        </p:sp>
        <p:sp>
          <p:nvSpPr>
            <p:cNvPr name="TextBox 45" id="45"/>
            <p:cNvSpPr txBox="true"/>
            <p:nvPr/>
          </p:nvSpPr>
          <p:spPr>
            <a:xfrm>
              <a:off x="0" y="-19050"/>
              <a:ext cx="512064" cy="933450"/>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pic>
        <p:nvPicPr>
          <p:cNvPr name="Picture 46" id="46"/>
          <p:cNvPicPr>
            <a:picLocks noChangeAspect="true"/>
          </p:cNvPicPr>
          <p:nvPr/>
        </p:nvPicPr>
        <p:blipFill>
          <a:blip r:embed="rId8"/>
          <a:stretch>
            <a:fillRect/>
          </a:stretch>
        </p:blipFill>
        <p:spPr>
          <a:xfrm rot="0">
            <a:off x="1634755" y="5101570"/>
            <a:ext cx="1051934" cy="725281"/>
          </a:xfrm>
          <a:prstGeom prst="rect">
            <a:avLst/>
          </a:prstGeom>
        </p:spPr>
      </p:pic>
      <p:pic>
        <p:nvPicPr>
          <p:cNvPr name="Picture 47" id="47"/>
          <p:cNvPicPr>
            <a:picLocks noChangeAspect="true"/>
          </p:cNvPicPr>
          <p:nvPr/>
        </p:nvPicPr>
        <p:blipFill>
          <a:blip r:embed="rId9"/>
          <a:stretch>
            <a:fillRect/>
          </a:stretch>
        </p:blipFill>
        <p:spPr>
          <a:xfrm rot="0">
            <a:off x="784983" y="4188445"/>
            <a:ext cx="2531746" cy="742572"/>
          </a:xfrm>
          <a:prstGeom prst="rect">
            <a:avLst/>
          </a:prstGeom>
        </p:spPr>
      </p:pic>
      <p:sp>
        <p:nvSpPr>
          <p:cNvPr name="TextBox 48" id="48"/>
          <p:cNvSpPr txBox="true"/>
          <p:nvPr/>
        </p:nvSpPr>
        <p:spPr>
          <a:xfrm rot="0">
            <a:off x="6193839" y="971550"/>
            <a:ext cx="5553075" cy="447675"/>
          </a:xfrm>
          <a:prstGeom prst="rect">
            <a:avLst/>
          </a:prstGeom>
        </p:spPr>
        <p:txBody>
          <a:bodyPr anchor="t" rtlCol="false" tIns="0" lIns="0" bIns="0" rIns="0">
            <a:spAutoFit/>
          </a:bodyPr>
          <a:lstStyle/>
          <a:p>
            <a:pPr algn="ctr">
              <a:lnSpc>
                <a:spcPts val="3120"/>
              </a:lnSpc>
              <a:spcBef>
                <a:spcPct val="0"/>
              </a:spcBef>
            </a:pPr>
            <a:r>
              <a:rPr lang="en-US" sz="2600" i="true">
                <a:solidFill>
                  <a:srgbClr val="7030A0"/>
                </a:solidFill>
                <a:latin typeface="Calibri (MS) Italics"/>
                <a:ea typeface="Calibri (MS) Italics"/>
                <a:cs typeface="Calibri (MS) Italics"/>
                <a:sym typeface="Calibri (MS) Italics"/>
              </a:rPr>
              <a:t>Detailed Solution</a:t>
            </a:r>
          </a:p>
        </p:txBody>
      </p:sp>
      <p:grpSp>
        <p:nvGrpSpPr>
          <p:cNvPr name="Group 49" id="49"/>
          <p:cNvGrpSpPr/>
          <p:nvPr/>
        </p:nvGrpSpPr>
        <p:grpSpPr>
          <a:xfrm rot="0">
            <a:off x="164543" y="8849971"/>
            <a:ext cx="4137878" cy="1122704"/>
            <a:chOff x="0" y="0"/>
            <a:chExt cx="5321675" cy="1443896"/>
          </a:xfrm>
        </p:grpSpPr>
        <p:sp>
          <p:nvSpPr>
            <p:cNvPr name="Freeform 50" id="50"/>
            <p:cNvSpPr/>
            <p:nvPr/>
          </p:nvSpPr>
          <p:spPr>
            <a:xfrm flipH="false" flipV="false" rot="0">
              <a:off x="0" y="0"/>
              <a:ext cx="5321675" cy="1443959"/>
            </a:xfrm>
            <a:custGeom>
              <a:avLst/>
              <a:gdLst/>
              <a:ahLst/>
              <a:cxnLst/>
              <a:rect r="r" b="b" t="t" l="l"/>
              <a:pathLst>
                <a:path h="1443959" w="5321675">
                  <a:moveTo>
                    <a:pt x="0" y="0"/>
                  </a:moveTo>
                  <a:lnTo>
                    <a:pt x="5321675" y="0"/>
                  </a:lnTo>
                  <a:lnTo>
                    <a:pt x="5321675" y="1443959"/>
                  </a:lnTo>
                  <a:lnTo>
                    <a:pt x="0" y="1443959"/>
                  </a:lnTo>
                  <a:close/>
                </a:path>
              </a:pathLst>
            </a:custGeom>
            <a:solidFill>
              <a:srgbClr val="E6B9B8"/>
            </a:solidFill>
            <a:ln cap="sq">
              <a:noFill/>
              <a:prstDash val="solid"/>
              <a:miter/>
            </a:ln>
          </p:spPr>
        </p:sp>
        <p:sp>
          <p:nvSpPr>
            <p:cNvPr name="TextBox 51" id="51"/>
            <p:cNvSpPr txBox="true"/>
            <p:nvPr/>
          </p:nvSpPr>
          <p:spPr>
            <a:xfrm>
              <a:off x="0" y="-47625"/>
              <a:ext cx="5321675" cy="1491521"/>
            </a:xfrm>
            <a:prstGeom prst="rect">
              <a:avLst/>
            </a:prstGeom>
          </p:spPr>
          <p:txBody>
            <a:bodyPr anchor="t" rtlCol="false" tIns="50800" lIns="50800" bIns="50800" rIns="50800"/>
            <a:lstStyle/>
            <a:p>
              <a:pPr algn="l">
                <a:lnSpc>
                  <a:spcPts val="2520"/>
                </a:lnSpc>
              </a:pPr>
              <a:r>
                <a:rPr lang="en-US" sz="2100">
                  <a:solidFill>
                    <a:srgbClr val="000000"/>
                  </a:solidFill>
                  <a:latin typeface="Calibri (MS)"/>
                  <a:ea typeface="Calibri (MS)"/>
                  <a:cs typeface="Calibri (MS)"/>
                  <a:sym typeface="Calibri (MS)"/>
                </a:rPr>
                <a:t>Torque allows to replace the mass of ore qualitatively in the equation so that the belt speed remains constant</a:t>
              </a:r>
              <a:r>
                <a:rPr lang="en-US" sz="2100">
                  <a:solidFill>
                    <a:srgbClr val="000000"/>
                  </a:solidFill>
                  <a:latin typeface="Calibri (MS)"/>
                  <a:ea typeface="Calibri (MS)"/>
                  <a:cs typeface="Calibri (MS)"/>
                  <a:sym typeface="Calibri (MS)"/>
                </a:rPr>
                <a:t> </a:t>
              </a:r>
            </a:p>
          </p:txBody>
        </p:sp>
      </p:grpSp>
      <p:grpSp>
        <p:nvGrpSpPr>
          <p:cNvPr name="Group 52" id="52"/>
          <p:cNvGrpSpPr/>
          <p:nvPr/>
        </p:nvGrpSpPr>
        <p:grpSpPr>
          <a:xfrm rot="0">
            <a:off x="4438519" y="1681846"/>
            <a:ext cx="3918667" cy="8418626"/>
            <a:chOff x="0" y="0"/>
            <a:chExt cx="5224889" cy="11224835"/>
          </a:xfrm>
        </p:grpSpPr>
        <p:grpSp>
          <p:nvGrpSpPr>
            <p:cNvPr name="Group 53" id="53"/>
            <p:cNvGrpSpPr/>
            <p:nvPr/>
          </p:nvGrpSpPr>
          <p:grpSpPr>
            <a:xfrm rot="5400000">
              <a:off x="2464724" y="8535117"/>
              <a:ext cx="457200" cy="794001"/>
              <a:chOff x="0" y="0"/>
              <a:chExt cx="526528" cy="914400"/>
            </a:xfrm>
          </p:grpSpPr>
          <p:sp>
            <p:nvSpPr>
              <p:cNvPr name="Freeform 54" id="54"/>
              <p:cNvSpPr/>
              <p:nvPr/>
            </p:nvSpPr>
            <p:spPr>
              <a:xfrm flipH="false" flipV="false" rot="0">
                <a:off x="0" y="0"/>
                <a:ext cx="526528" cy="914400"/>
              </a:xfrm>
              <a:custGeom>
                <a:avLst/>
                <a:gdLst/>
                <a:ahLst/>
                <a:cxnLst/>
                <a:rect r="r" b="b" t="t" l="l"/>
                <a:pathLst>
                  <a:path h="914400" w="526528">
                    <a:moveTo>
                      <a:pt x="0" y="0"/>
                    </a:moveTo>
                    <a:lnTo>
                      <a:pt x="526528" y="0"/>
                    </a:lnTo>
                    <a:lnTo>
                      <a:pt x="526528" y="914400"/>
                    </a:lnTo>
                    <a:lnTo>
                      <a:pt x="0" y="914400"/>
                    </a:lnTo>
                    <a:close/>
                  </a:path>
                </a:pathLst>
              </a:custGeom>
              <a:blipFill>
                <a:blip r:embed="rId3">
                  <a:alphaModFix amt="0"/>
                </a:blip>
                <a:stretch>
                  <a:fillRect l="-174193" t="0" r="-171446" b="0"/>
                </a:stretch>
              </a:blipFill>
            </p:spPr>
          </p:sp>
          <p:sp>
            <p:nvSpPr>
              <p:cNvPr name="TextBox 55" id="55"/>
              <p:cNvSpPr txBox="true"/>
              <p:nvPr/>
            </p:nvSpPr>
            <p:spPr>
              <a:xfrm>
                <a:off x="0" y="-19050"/>
                <a:ext cx="526528" cy="933450"/>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56" id="56"/>
            <p:cNvGrpSpPr/>
            <p:nvPr/>
          </p:nvGrpSpPr>
          <p:grpSpPr>
            <a:xfrm rot="0">
              <a:off x="0" y="0"/>
              <a:ext cx="5172874" cy="2341955"/>
              <a:chOff x="0" y="0"/>
              <a:chExt cx="4896708" cy="2216924"/>
            </a:xfrm>
          </p:grpSpPr>
          <p:sp>
            <p:nvSpPr>
              <p:cNvPr name="Freeform 57" id="57"/>
              <p:cNvSpPr/>
              <p:nvPr/>
            </p:nvSpPr>
            <p:spPr>
              <a:xfrm flipH="false" flipV="false" rot="0">
                <a:off x="0" y="0"/>
                <a:ext cx="4896708" cy="2216937"/>
              </a:xfrm>
              <a:custGeom>
                <a:avLst/>
                <a:gdLst/>
                <a:ahLst/>
                <a:cxnLst/>
                <a:rect r="r" b="b" t="t" l="l"/>
                <a:pathLst>
                  <a:path h="2216937" w="4896708">
                    <a:moveTo>
                      <a:pt x="0" y="0"/>
                    </a:moveTo>
                    <a:lnTo>
                      <a:pt x="4896708" y="0"/>
                    </a:lnTo>
                    <a:lnTo>
                      <a:pt x="4896708" y="2216937"/>
                    </a:lnTo>
                    <a:lnTo>
                      <a:pt x="0" y="2216937"/>
                    </a:lnTo>
                    <a:close/>
                  </a:path>
                </a:pathLst>
              </a:custGeom>
              <a:solidFill>
                <a:srgbClr val="E6B9B8"/>
              </a:solidFill>
              <a:ln cap="sq">
                <a:noFill/>
                <a:prstDash val="solid"/>
                <a:miter/>
              </a:ln>
            </p:spPr>
          </p:sp>
          <p:sp>
            <p:nvSpPr>
              <p:cNvPr name="TextBox 58" id="58"/>
              <p:cNvSpPr txBox="true"/>
              <p:nvPr/>
            </p:nvSpPr>
            <p:spPr>
              <a:xfrm>
                <a:off x="0" y="-47625"/>
                <a:ext cx="4896708" cy="2264549"/>
              </a:xfrm>
              <a:prstGeom prst="rect">
                <a:avLst/>
              </a:prstGeom>
            </p:spPr>
            <p:txBody>
              <a:bodyPr anchor="t" rtlCol="false" tIns="54208" lIns="54208" bIns="54208" rIns="54208"/>
              <a:lstStyle/>
              <a:p>
                <a:pPr algn="ctr">
                  <a:lnSpc>
                    <a:spcPts val="2520"/>
                  </a:lnSpc>
                </a:pPr>
                <a:r>
                  <a:rPr lang="en-US" sz="2100">
                    <a:solidFill>
                      <a:srgbClr val="000000"/>
                    </a:solidFill>
                    <a:latin typeface="Calibri (MS)"/>
                    <a:ea typeface="Calibri (MS)"/>
                    <a:cs typeface="Calibri (MS)"/>
                    <a:sym typeface="Calibri (MS)"/>
                  </a:rPr>
                  <a:t>Cameras are used to detect damage to belt.A camera with a top view from above and one from below. And two cameras on either side.</a:t>
                </a:r>
              </a:p>
            </p:txBody>
          </p:sp>
        </p:grpSp>
        <p:grpSp>
          <p:nvGrpSpPr>
            <p:cNvPr name="Group 59" id="59"/>
            <p:cNvGrpSpPr/>
            <p:nvPr/>
          </p:nvGrpSpPr>
          <p:grpSpPr>
            <a:xfrm rot="0">
              <a:off x="0" y="2891792"/>
              <a:ext cx="5172874" cy="2770335"/>
              <a:chOff x="0" y="0"/>
              <a:chExt cx="4847624" cy="2596148"/>
            </a:xfrm>
          </p:grpSpPr>
          <p:sp>
            <p:nvSpPr>
              <p:cNvPr name="Freeform 60" id="60"/>
              <p:cNvSpPr/>
              <p:nvPr/>
            </p:nvSpPr>
            <p:spPr>
              <a:xfrm flipH="false" flipV="false" rot="0">
                <a:off x="0" y="0"/>
                <a:ext cx="4847624" cy="2596096"/>
              </a:xfrm>
              <a:custGeom>
                <a:avLst/>
                <a:gdLst/>
                <a:ahLst/>
                <a:cxnLst/>
                <a:rect r="r" b="b" t="t" l="l"/>
                <a:pathLst>
                  <a:path h="2596096" w="4847624">
                    <a:moveTo>
                      <a:pt x="0" y="0"/>
                    </a:moveTo>
                    <a:lnTo>
                      <a:pt x="4847624" y="0"/>
                    </a:lnTo>
                    <a:lnTo>
                      <a:pt x="4847624" y="2596096"/>
                    </a:lnTo>
                    <a:lnTo>
                      <a:pt x="0" y="2596096"/>
                    </a:lnTo>
                    <a:close/>
                  </a:path>
                </a:pathLst>
              </a:custGeom>
              <a:solidFill>
                <a:srgbClr val="E6B9B8"/>
              </a:solidFill>
              <a:ln cap="sq">
                <a:noFill/>
                <a:prstDash val="solid"/>
                <a:miter/>
              </a:ln>
            </p:spPr>
          </p:sp>
          <p:sp>
            <p:nvSpPr>
              <p:cNvPr name="TextBox 61" id="61"/>
              <p:cNvSpPr txBox="true"/>
              <p:nvPr/>
            </p:nvSpPr>
            <p:spPr>
              <a:xfrm>
                <a:off x="0" y="-47625"/>
                <a:ext cx="4847624" cy="2643773"/>
              </a:xfrm>
              <a:prstGeom prst="rect">
                <a:avLst/>
              </a:prstGeom>
            </p:spPr>
            <p:txBody>
              <a:bodyPr anchor="t" rtlCol="false" tIns="54208" lIns="54208" bIns="54208" rIns="54208"/>
              <a:lstStyle/>
              <a:p>
                <a:pPr algn="ctr">
                  <a:lnSpc>
                    <a:spcPts val="2520"/>
                  </a:lnSpc>
                </a:pPr>
                <a:r>
                  <a:rPr lang="en-US" sz="2100">
                    <a:solidFill>
                      <a:srgbClr val="000000"/>
                    </a:solidFill>
                    <a:latin typeface="Calibri (MS)"/>
                    <a:ea typeface="Calibri (MS)"/>
                    <a:cs typeface="Calibri (MS)"/>
                    <a:sym typeface="Calibri (MS)"/>
                  </a:rPr>
                  <a:t>The footage is then processed and any damage to conveyor belt is detected. If any, damage is evaluated and sent to dashboard.Thinning of belt is also measured.</a:t>
                </a:r>
              </a:p>
            </p:txBody>
          </p:sp>
        </p:grpSp>
        <p:grpSp>
          <p:nvGrpSpPr>
            <p:cNvPr name="Group 62" id="62"/>
            <p:cNvGrpSpPr/>
            <p:nvPr/>
          </p:nvGrpSpPr>
          <p:grpSpPr>
            <a:xfrm rot="5400000">
              <a:off x="2259243" y="2242132"/>
              <a:ext cx="549838" cy="749483"/>
              <a:chOff x="0" y="0"/>
              <a:chExt cx="515266" cy="702358"/>
            </a:xfrm>
          </p:grpSpPr>
          <p:sp>
            <p:nvSpPr>
              <p:cNvPr name="Freeform 63" id="63"/>
              <p:cNvSpPr/>
              <p:nvPr/>
            </p:nvSpPr>
            <p:spPr>
              <a:xfrm flipH="false" flipV="false" rot="0">
                <a:off x="0" y="0"/>
                <a:ext cx="515266" cy="702358"/>
              </a:xfrm>
              <a:custGeom>
                <a:avLst/>
                <a:gdLst/>
                <a:ahLst/>
                <a:cxnLst/>
                <a:rect r="r" b="b" t="t" l="l"/>
                <a:pathLst>
                  <a:path h="702358" w="515266">
                    <a:moveTo>
                      <a:pt x="0" y="0"/>
                    </a:moveTo>
                    <a:lnTo>
                      <a:pt x="515266" y="0"/>
                    </a:lnTo>
                    <a:lnTo>
                      <a:pt x="515266" y="702358"/>
                    </a:lnTo>
                    <a:lnTo>
                      <a:pt x="0" y="702358"/>
                    </a:lnTo>
                    <a:close/>
                  </a:path>
                </a:pathLst>
              </a:custGeom>
              <a:blipFill>
                <a:blip r:embed="rId3">
                  <a:alphaModFix amt="0"/>
                </a:blip>
                <a:stretch>
                  <a:fillRect l="-178000" t="0" r="-177379" b="-30189"/>
                </a:stretch>
              </a:blipFill>
            </p:spPr>
          </p:sp>
          <p:sp>
            <p:nvSpPr>
              <p:cNvPr name="TextBox 64" id="64"/>
              <p:cNvSpPr txBox="true"/>
              <p:nvPr/>
            </p:nvSpPr>
            <p:spPr>
              <a:xfrm>
                <a:off x="0" y="-19050"/>
                <a:ext cx="515266" cy="721408"/>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65" id="65"/>
            <p:cNvGrpSpPr/>
            <p:nvPr/>
          </p:nvGrpSpPr>
          <p:grpSpPr>
            <a:xfrm rot="5400000">
              <a:off x="2435716" y="5567254"/>
              <a:ext cx="559736" cy="749483"/>
              <a:chOff x="0" y="0"/>
              <a:chExt cx="524542" cy="702358"/>
            </a:xfrm>
          </p:grpSpPr>
          <p:sp>
            <p:nvSpPr>
              <p:cNvPr name="Freeform 66" id="66"/>
              <p:cNvSpPr/>
              <p:nvPr/>
            </p:nvSpPr>
            <p:spPr>
              <a:xfrm flipH="false" flipV="false" rot="0">
                <a:off x="0" y="0"/>
                <a:ext cx="524542" cy="702358"/>
              </a:xfrm>
              <a:custGeom>
                <a:avLst/>
                <a:gdLst/>
                <a:ahLst/>
                <a:cxnLst/>
                <a:rect r="r" b="b" t="t" l="l"/>
                <a:pathLst>
                  <a:path h="702358" w="524542">
                    <a:moveTo>
                      <a:pt x="0" y="0"/>
                    </a:moveTo>
                    <a:lnTo>
                      <a:pt x="524542" y="0"/>
                    </a:lnTo>
                    <a:lnTo>
                      <a:pt x="524542" y="702358"/>
                    </a:lnTo>
                    <a:lnTo>
                      <a:pt x="0" y="702358"/>
                    </a:lnTo>
                    <a:close/>
                  </a:path>
                </a:pathLst>
              </a:custGeom>
              <a:blipFill>
                <a:blip r:embed="rId3">
                  <a:alphaModFix amt="0"/>
                </a:blip>
                <a:stretch>
                  <a:fillRect l="-174852" t="0" r="-172474" b="-30189"/>
                </a:stretch>
              </a:blipFill>
            </p:spPr>
          </p:sp>
          <p:sp>
            <p:nvSpPr>
              <p:cNvPr name="TextBox 67" id="67"/>
              <p:cNvSpPr txBox="true"/>
              <p:nvPr/>
            </p:nvSpPr>
            <p:spPr>
              <a:xfrm>
                <a:off x="0" y="-19050"/>
                <a:ext cx="524542" cy="721408"/>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68" id="68"/>
            <p:cNvGrpSpPr/>
            <p:nvPr/>
          </p:nvGrpSpPr>
          <p:grpSpPr>
            <a:xfrm rot="0">
              <a:off x="117241" y="6221863"/>
              <a:ext cx="5107648" cy="2341955"/>
              <a:chOff x="0" y="0"/>
              <a:chExt cx="4786500" cy="2194702"/>
            </a:xfrm>
          </p:grpSpPr>
          <p:sp>
            <p:nvSpPr>
              <p:cNvPr name="Freeform 69" id="69"/>
              <p:cNvSpPr/>
              <p:nvPr/>
            </p:nvSpPr>
            <p:spPr>
              <a:xfrm flipH="false" flipV="false" rot="0">
                <a:off x="0" y="0"/>
                <a:ext cx="4786500" cy="2194766"/>
              </a:xfrm>
              <a:custGeom>
                <a:avLst/>
                <a:gdLst/>
                <a:ahLst/>
                <a:cxnLst/>
                <a:rect r="r" b="b" t="t" l="l"/>
                <a:pathLst>
                  <a:path h="2194766" w="4786500">
                    <a:moveTo>
                      <a:pt x="0" y="0"/>
                    </a:moveTo>
                    <a:lnTo>
                      <a:pt x="4786500" y="0"/>
                    </a:lnTo>
                    <a:lnTo>
                      <a:pt x="4786500" y="2194766"/>
                    </a:lnTo>
                    <a:lnTo>
                      <a:pt x="0" y="2194766"/>
                    </a:lnTo>
                    <a:close/>
                  </a:path>
                </a:pathLst>
              </a:custGeom>
              <a:solidFill>
                <a:srgbClr val="E6B9B8"/>
              </a:solidFill>
              <a:ln cap="sq">
                <a:noFill/>
                <a:prstDash val="solid"/>
                <a:miter/>
              </a:ln>
            </p:spPr>
          </p:sp>
          <p:sp>
            <p:nvSpPr>
              <p:cNvPr name="TextBox 70" id="70"/>
              <p:cNvSpPr txBox="true"/>
              <p:nvPr/>
            </p:nvSpPr>
            <p:spPr>
              <a:xfrm>
                <a:off x="0" y="-47625"/>
                <a:ext cx="4786500" cy="2242327"/>
              </a:xfrm>
              <a:prstGeom prst="rect">
                <a:avLst/>
              </a:prstGeom>
            </p:spPr>
            <p:txBody>
              <a:bodyPr anchor="t" rtlCol="false" tIns="54208" lIns="54208" bIns="54208" rIns="54208"/>
              <a:lstStyle/>
              <a:p>
                <a:pPr algn="ctr">
                  <a:lnSpc>
                    <a:spcPts val="2520"/>
                  </a:lnSpc>
                </a:pPr>
                <a:r>
                  <a:rPr lang="en-US" sz="2100">
                    <a:solidFill>
                      <a:srgbClr val="000000"/>
                    </a:solidFill>
                    <a:latin typeface="Calibri (MS)"/>
                    <a:ea typeface="Calibri (MS)"/>
                    <a:cs typeface="Calibri (MS)"/>
                    <a:sym typeface="Calibri (MS)"/>
                  </a:rPr>
                  <a:t>The camera below the belt can detect any damage to the belt with a hindrance from iron ore material.Cameras from side will measure thickness of belt.</a:t>
                </a:r>
              </a:p>
            </p:txBody>
          </p:sp>
        </p:grpSp>
        <p:grpSp>
          <p:nvGrpSpPr>
            <p:cNvPr name="Group 71" id="71"/>
            <p:cNvGrpSpPr/>
            <p:nvPr/>
          </p:nvGrpSpPr>
          <p:grpSpPr>
            <a:xfrm rot="0">
              <a:off x="76161" y="9294519"/>
              <a:ext cx="5148728" cy="1930316"/>
              <a:chOff x="0" y="0"/>
              <a:chExt cx="4593720" cy="1722237"/>
            </a:xfrm>
          </p:grpSpPr>
          <p:sp>
            <p:nvSpPr>
              <p:cNvPr name="Freeform 72" id="72"/>
              <p:cNvSpPr/>
              <p:nvPr/>
            </p:nvSpPr>
            <p:spPr>
              <a:xfrm flipH="false" flipV="false" rot="0">
                <a:off x="0" y="0"/>
                <a:ext cx="4593720" cy="1722301"/>
              </a:xfrm>
              <a:custGeom>
                <a:avLst/>
                <a:gdLst/>
                <a:ahLst/>
                <a:cxnLst/>
                <a:rect r="r" b="b" t="t" l="l"/>
                <a:pathLst>
                  <a:path h="1722301" w="4593720">
                    <a:moveTo>
                      <a:pt x="0" y="0"/>
                    </a:moveTo>
                    <a:lnTo>
                      <a:pt x="4593720" y="0"/>
                    </a:lnTo>
                    <a:lnTo>
                      <a:pt x="4593720" y="1722301"/>
                    </a:lnTo>
                    <a:lnTo>
                      <a:pt x="0" y="1722301"/>
                    </a:lnTo>
                    <a:close/>
                  </a:path>
                </a:pathLst>
              </a:custGeom>
              <a:solidFill>
                <a:srgbClr val="E6B9B8"/>
              </a:solidFill>
              <a:ln cap="sq">
                <a:noFill/>
                <a:prstDash val="solid"/>
                <a:miter/>
              </a:ln>
            </p:spPr>
          </p:sp>
          <p:sp>
            <p:nvSpPr>
              <p:cNvPr name="TextBox 73" id="73"/>
              <p:cNvSpPr txBox="true"/>
              <p:nvPr/>
            </p:nvSpPr>
            <p:spPr>
              <a:xfrm>
                <a:off x="0" y="-47625"/>
                <a:ext cx="4593720" cy="1769862"/>
              </a:xfrm>
              <a:prstGeom prst="rect">
                <a:avLst/>
              </a:prstGeom>
            </p:spPr>
            <p:txBody>
              <a:bodyPr anchor="t" rtlCol="false" tIns="54208" lIns="54208" bIns="54208" rIns="54208"/>
              <a:lstStyle/>
              <a:p>
                <a:pPr algn="ctr">
                  <a:lnSpc>
                    <a:spcPts val="2520"/>
                  </a:lnSpc>
                </a:pPr>
                <a:r>
                  <a:rPr lang="en-US" sz="2100">
                    <a:solidFill>
                      <a:srgbClr val="000000"/>
                    </a:solidFill>
                    <a:latin typeface="Calibri (MS)"/>
                    <a:ea typeface="Calibri (MS)"/>
                    <a:cs typeface="Calibri (MS)"/>
                    <a:sym typeface="Calibri (MS)"/>
                  </a:rPr>
                  <a:t>Can be used with LED/industrial lighting to maintain consistent image quality even in low-light mining environments. </a:t>
                </a:r>
              </a:p>
            </p:txBody>
          </p:sp>
        </p:grpSp>
      </p:grpSp>
      <p:grpSp>
        <p:nvGrpSpPr>
          <p:cNvPr name="Group 74" id="74"/>
          <p:cNvGrpSpPr/>
          <p:nvPr/>
        </p:nvGrpSpPr>
        <p:grpSpPr>
          <a:xfrm rot="0">
            <a:off x="8493284" y="2419876"/>
            <a:ext cx="3683201" cy="7107958"/>
            <a:chOff x="0" y="0"/>
            <a:chExt cx="4910935" cy="9477278"/>
          </a:xfrm>
        </p:grpSpPr>
        <p:grpSp>
          <p:nvGrpSpPr>
            <p:cNvPr name="Group 75" id="75"/>
            <p:cNvGrpSpPr/>
            <p:nvPr/>
          </p:nvGrpSpPr>
          <p:grpSpPr>
            <a:xfrm rot="0">
              <a:off x="41204" y="0"/>
              <a:ext cx="4847272" cy="1923143"/>
              <a:chOff x="0" y="0"/>
              <a:chExt cx="4576319" cy="1815643"/>
            </a:xfrm>
          </p:grpSpPr>
          <p:sp>
            <p:nvSpPr>
              <p:cNvPr name="Freeform 76" id="76"/>
              <p:cNvSpPr/>
              <p:nvPr/>
            </p:nvSpPr>
            <p:spPr>
              <a:xfrm flipH="false" flipV="false" rot="0">
                <a:off x="0" y="0"/>
                <a:ext cx="4576318" cy="1815656"/>
              </a:xfrm>
              <a:custGeom>
                <a:avLst/>
                <a:gdLst/>
                <a:ahLst/>
                <a:cxnLst/>
                <a:rect r="r" b="b" t="t" l="l"/>
                <a:pathLst>
                  <a:path h="1815656" w="4576318">
                    <a:moveTo>
                      <a:pt x="0" y="0"/>
                    </a:moveTo>
                    <a:lnTo>
                      <a:pt x="4576318" y="0"/>
                    </a:lnTo>
                    <a:lnTo>
                      <a:pt x="4576318" y="1815656"/>
                    </a:lnTo>
                    <a:lnTo>
                      <a:pt x="0" y="1815656"/>
                    </a:lnTo>
                    <a:close/>
                  </a:path>
                </a:pathLst>
              </a:custGeom>
              <a:solidFill>
                <a:srgbClr val="E6B9B8"/>
              </a:solidFill>
              <a:ln cap="sq">
                <a:noFill/>
                <a:prstDash val="solid"/>
                <a:miter/>
              </a:ln>
            </p:spPr>
          </p:sp>
          <p:sp>
            <p:nvSpPr>
              <p:cNvPr name="TextBox 77" id="77"/>
              <p:cNvSpPr txBox="true"/>
              <p:nvPr/>
            </p:nvSpPr>
            <p:spPr>
              <a:xfrm>
                <a:off x="0" y="-47625"/>
                <a:ext cx="4576319" cy="1863268"/>
              </a:xfrm>
              <a:prstGeom prst="rect">
                <a:avLst/>
              </a:prstGeom>
            </p:spPr>
            <p:txBody>
              <a:bodyPr anchor="t" rtlCol="false" tIns="54353" lIns="54353" bIns="54353" rIns="54353"/>
              <a:lstStyle/>
              <a:p>
                <a:pPr algn="ctr">
                  <a:lnSpc>
                    <a:spcPts val="2520"/>
                  </a:lnSpc>
                </a:pPr>
                <a:r>
                  <a:rPr lang="en-US" sz="2100">
                    <a:solidFill>
                      <a:srgbClr val="000000"/>
                    </a:solidFill>
                    <a:latin typeface="Calibri (MS)"/>
                    <a:ea typeface="Calibri (MS)"/>
                    <a:cs typeface="Calibri (MS)"/>
                    <a:sym typeface="Calibri (MS)"/>
                  </a:rPr>
                  <a:t>Industrial IO module digitizes sensor signals and streams them in real time - no manual logging, no data gaps</a:t>
                </a:r>
              </a:p>
            </p:txBody>
          </p:sp>
        </p:grpSp>
        <p:grpSp>
          <p:nvGrpSpPr>
            <p:cNvPr name="Group 78" id="78"/>
            <p:cNvGrpSpPr/>
            <p:nvPr/>
          </p:nvGrpSpPr>
          <p:grpSpPr>
            <a:xfrm rot="0">
              <a:off x="0" y="2513543"/>
              <a:ext cx="4869731" cy="2041660"/>
              <a:chOff x="0" y="0"/>
              <a:chExt cx="4551437" cy="1908214"/>
            </a:xfrm>
          </p:grpSpPr>
          <p:sp>
            <p:nvSpPr>
              <p:cNvPr name="Freeform 79" id="79"/>
              <p:cNvSpPr/>
              <p:nvPr/>
            </p:nvSpPr>
            <p:spPr>
              <a:xfrm flipH="false" flipV="false" rot="0">
                <a:off x="0" y="0"/>
                <a:ext cx="4551437" cy="1908176"/>
              </a:xfrm>
              <a:custGeom>
                <a:avLst/>
                <a:gdLst/>
                <a:ahLst/>
                <a:cxnLst/>
                <a:rect r="r" b="b" t="t" l="l"/>
                <a:pathLst>
                  <a:path h="1908176" w="4551437">
                    <a:moveTo>
                      <a:pt x="0" y="0"/>
                    </a:moveTo>
                    <a:lnTo>
                      <a:pt x="4551437" y="0"/>
                    </a:lnTo>
                    <a:lnTo>
                      <a:pt x="4551437" y="1908176"/>
                    </a:lnTo>
                    <a:lnTo>
                      <a:pt x="0" y="1908176"/>
                    </a:lnTo>
                    <a:close/>
                  </a:path>
                </a:pathLst>
              </a:custGeom>
              <a:solidFill>
                <a:srgbClr val="E6B9B8"/>
              </a:solidFill>
              <a:ln cap="sq">
                <a:noFill/>
                <a:prstDash val="solid"/>
                <a:miter/>
              </a:ln>
            </p:spPr>
          </p:sp>
          <p:sp>
            <p:nvSpPr>
              <p:cNvPr name="TextBox 80" id="80"/>
              <p:cNvSpPr txBox="true"/>
              <p:nvPr/>
            </p:nvSpPr>
            <p:spPr>
              <a:xfrm>
                <a:off x="0" y="-47625"/>
                <a:ext cx="4551437" cy="1955839"/>
              </a:xfrm>
              <a:prstGeom prst="rect">
                <a:avLst/>
              </a:prstGeom>
            </p:spPr>
            <p:txBody>
              <a:bodyPr anchor="t" rtlCol="false" tIns="54353" lIns="54353" bIns="54353" rIns="54353"/>
              <a:lstStyle/>
              <a:p>
                <a:pPr algn="ctr">
                  <a:lnSpc>
                    <a:spcPts val="2520"/>
                  </a:lnSpc>
                </a:pPr>
                <a:r>
                  <a:rPr lang="en-US" sz="2100">
                    <a:solidFill>
                      <a:srgbClr val="000000"/>
                    </a:solidFill>
                    <a:latin typeface="Calibri (MS)"/>
                    <a:ea typeface="Calibri (MS)"/>
                    <a:cs typeface="Calibri (MS)"/>
                    <a:sym typeface="Calibri (MS)"/>
                  </a:rPr>
                  <a:t>AI runs on-site, fuses vision + sensor data into one explainable risk %, instantly - no cloud wait time</a:t>
                </a:r>
              </a:p>
            </p:txBody>
          </p:sp>
        </p:grpSp>
        <p:grpSp>
          <p:nvGrpSpPr>
            <p:cNvPr name="Group 81" id="81"/>
            <p:cNvGrpSpPr/>
            <p:nvPr/>
          </p:nvGrpSpPr>
          <p:grpSpPr>
            <a:xfrm rot="5400000">
              <a:off x="2165772" y="1758665"/>
              <a:ext cx="538186" cy="808512"/>
              <a:chOff x="0" y="0"/>
              <a:chExt cx="503009" cy="755667"/>
            </a:xfrm>
          </p:grpSpPr>
          <p:sp>
            <p:nvSpPr>
              <p:cNvPr name="Freeform 82" id="82"/>
              <p:cNvSpPr/>
              <p:nvPr/>
            </p:nvSpPr>
            <p:spPr>
              <a:xfrm flipH="false" flipV="false" rot="0">
                <a:off x="0" y="0"/>
                <a:ext cx="503009" cy="755667"/>
              </a:xfrm>
              <a:custGeom>
                <a:avLst/>
                <a:gdLst/>
                <a:ahLst/>
                <a:cxnLst/>
                <a:rect r="r" b="b" t="t" l="l"/>
                <a:pathLst>
                  <a:path h="755667" w="503009">
                    <a:moveTo>
                      <a:pt x="0" y="0"/>
                    </a:moveTo>
                    <a:lnTo>
                      <a:pt x="503009" y="0"/>
                    </a:lnTo>
                    <a:lnTo>
                      <a:pt x="503009" y="755667"/>
                    </a:lnTo>
                    <a:lnTo>
                      <a:pt x="0" y="755667"/>
                    </a:lnTo>
                    <a:close/>
                  </a:path>
                </a:pathLst>
              </a:custGeom>
              <a:blipFill>
                <a:blip r:embed="rId3">
                  <a:alphaModFix amt="0"/>
                </a:blip>
                <a:stretch>
                  <a:fillRect l="-182337" t="0" r="-184138" b="-21005"/>
                </a:stretch>
              </a:blipFill>
            </p:spPr>
          </p:sp>
          <p:sp>
            <p:nvSpPr>
              <p:cNvPr name="TextBox 83" id="83"/>
              <p:cNvSpPr txBox="true"/>
              <p:nvPr/>
            </p:nvSpPr>
            <p:spPr>
              <a:xfrm>
                <a:off x="0" y="-19050"/>
                <a:ext cx="503009" cy="774717"/>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84" id="84"/>
            <p:cNvGrpSpPr/>
            <p:nvPr/>
          </p:nvGrpSpPr>
          <p:grpSpPr>
            <a:xfrm rot="5400000">
              <a:off x="2160928" y="4506412"/>
              <a:ext cx="547874" cy="808512"/>
              <a:chOff x="0" y="0"/>
              <a:chExt cx="512064" cy="755667"/>
            </a:xfrm>
          </p:grpSpPr>
          <p:sp>
            <p:nvSpPr>
              <p:cNvPr name="Freeform 85" id="85"/>
              <p:cNvSpPr/>
              <p:nvPr/>
            </p:nvSpPr>
            <p:spPr>
              <a:xfrm flipH="false" flipV="false" rot="0">
                <a:off x="0" y="0"/>
                <a:ext cx="512064" cy="755667"/>
              </a:xfrm>
              <a:custGeom>
                <a:avLst/>
                <a:gdLst/>
                <a:ahLst/>
                <a:cxnLst/>
                <a:rect r="r" b="b" t="t" l="l"/>
                <a:pathLst>
                  <a:path h="755667" w="512064">
                    <a:moveTo>
                      <a:pt x="0" y="0"/>
                    </a:moveTo>
                    <a:lnTo>
                      <a:pt x="512064" y="0"/>
                    </a:lnTo>
                    <a:lnTo>
                      <a:pt x="512064" y="755667"/>
                    </a:lnTo>
                    <a:lnTo>
                      <a:pt x="0" y="755667"/>
                    </a:lnTo>
                    <a:close/>
                  </a:path>
                </a:pathLst>
              </a:custGeom>
              <a:blipFill>
                <a:blip r:embed="rId3">
                  <a:alphaModFix amt="0"/>
                </a:blip>
                <a:stretch>
                  <a:fillRect l="-179113" t="0" r="-179113" b="-21005"/>
                </a:stretch>
              </a:blipFill>
            </p:spPr>
          </p:sp>
          <p:sp>
            <p:nvSpPr>
              <p:cNvPr name="TextBox 86" id="86"/>
              <p:cNvSpPr txBox="true"/>
              <p:nvPr/>
            </p:nvSpPr>
            <p:spPr>
              <a:xfrm>
                <a:off x="0" y="-19050"/>
                <a:ext cx="512064" cy="774717"/>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nvGrpSpPr>
            <p:cNvPr name="Group 87" id="87"/>
            <p:cNvGrpSpPr/>
            <p:nvPr/>
          </p:nvGrpSpPr>
          <p:grpSpPr>
            <a:xfrm rot="0">
              <a:off x="0" y="5151156"/>
              <a:ext cx="4869731" cy="1923143"/>
              <a:chOff x="0" y="0"/>
              <a:chExt cx="4551437" cy="1797443"/>
            </a:xfrm>
          </p:grpSpPr>
          <p:sp>
            <p:nvSpPr>
              <p:cNvPr name="Freeform 88" id="88"/>
              <p:cNvSpPr/>
              <p:nvPr/>
            </p:nvSpPr>
            <p:spPr>
              <a:xfrm flipH="false" flipV="false" rot="0">
                <a:off x="0" y="0"/>
                <a:ext cx="4551437" cy="1797507"/>
              </a:xfrm>
              <a:custGeom>
                <a:avLst/>
                <a:gdLst/>
                <a:ahLst/>
                <a:cxnLst/>
                <a:rect r="r" b="b" t="t" l="l"/>
                <a:pathLst>
                  <a:path h="1797507" w="4551437">
                    <a:moveTo>
                      <a:pt x="0" y="0"/>
                    </a:moveTo>
                    <a:lnTo>
                      <a:pt x="4551437" y="0"/>
                    </a:lnTo>
                    <a:lnTo>
                      <a:pt x="4551437" y="1797507"/>
                    </a:lnTo>
                    <a:lnTo>
                      <a:pt x="0" y="1797507"/>
                    </a:lnTo>
                    <a:close/>
                  </a:path>
                </a:pathLst>
              </a:custGeom>
              <a:solidFill>
                <a:srgbClr val="E6B9B8"/>
              </a:solidFill>
              <a:ln cap="sq">
                <a:noFill/>
                <a:prstDash val="solid"/>
                <a:miter/>
              </a:ln>
            </p:spPr>
          </p:sp>
          <p:sp>
            <p:nvSpPr>
              <p:cNvPr name="TextBox 89" id="89"/>
              <p:cNvSpPr txBox="true"/>
              <p:nvPr/>
            </p:nvSpPr>
            <p:spPr>
              <a:xfrm>
                <a:off x="0" y="-47625"/>
                <a:ext cx="4551437" cy="1845068"/>
              </a:xfrm>
              <a:prstGeom prst="rect">
                <a:avLst/>
              </a:prstGeom>
            </p:spPr>
            <p:txBody>
              <a:bodyPr anchor="t" rtlCol="false" tIns="54353" lIns="54353" bIns="54353" rIns="54353"/>
              <a:lstStyle/>
              <a:p>
                <a:pPr algn="ctr">
                  <a:lnSpc>
                    <a:spcPts val="2520"/>
                  </a:lnSpc>
                </a:pPr>
                <a:r>
                  <a:rPr lang="en-US" sz="2100">
                    <a:solidFill>
                      <a:srgbClr val="000000"/>
                    </a:solidFill>
                    <a:latin typeface="Calibri (MS)"/>
                    <a:ea typeface="Calibri (MS)"/>
                    <a:cs typeface="Calibri (MS)"/>
                    <a:sym typeface="Calibri (MS)"/>
                  </a:rPr>
                  <a:t>Risk score reaches the operator's existing HMI screen; PLC still makes the final safety call — no new system to learn</a:t>
                </a:r>
              </a:p>
            </p:txBody>
          </p:sp>
        </p:grpSp>
        <p:grpSp>
          <p:nvGrpSpPr>
            <p:cNvPr name="Group 90" id="90"/>
            <p:cNvGrpSpPr/>
            <p:nvPr/>
          </p:nvGrpSpPr>
          <p:grpSpPr>
            <a:xfrm rot="0">
              <a:off x="41204" y="7973235"/>
              <a:ext cx="4869731" cy="1504043"/>
              <a:chOff x="0" y="0"/>
              <a:chExt cx="4551437" cy="1405737"/>
            </a:xfrm>
          </p:grpSpPr>
          <p:sp>
            <p:nvSpPr>
              <p:cNvPr name="Freeform 91" id="91"/>
              <p:cNvSpPr/>
              <p:nvPr/>
            </p:nvSpPr>
            <p:spPr>
              <a:xfrm flipH="false" flipV="false" rot="0">
                <a:off x="0" y="0"/>
                <a:ext cx="4551437" cy="1405800"/>
              </a:xfrm>
              <a:custGeom>
                <a:avLst/>
                <a:gdLst/>
                <a:ahLst/>
                <a:cxnLst/>
                <a:rect r="r" b="b" t="t" l="l"/>
                <a:pathLst>
                  <a:path h="1405800" w="4551437">
                    <a:moveTo>
                      <a:pt x="0" y="0"/>
                    </a:moveTo>
                    <a:lnTo>
                      <a:pt x="4551437" y="0"/>
                    </a:lnTo>
                    <a:lnTo>
                      <a:pt x="4551437" y="1405800"/>
                    </a:lnTo>
                    <a:lnTo>
                      <a:pt x="0" y="1405800"/>
                    </a:lnTo>
                    <a:close/>
                  </a:path>
                </a:pathLst>
              </a:custGeom>
              <a:solidFill>
                <a:srgbClr val="E6B9B8"/>
              </a:solidFill>
              <a:ln cap="sq">
                <a:noFill/>
                <a:prstDash val="solid"/>
                <a:miter/>
              </a:ln>
            </p:spPr>
          </p:sp>
          <p:sp>
            <p:nvSpPr>
              <p:cNvPr name="TextBox 92" id="92"/>
              <p:cNvSpPr txBox="true"/>
              <p:nvPr/>
            </p:nvSpPr>
            <p:spPr>
              <a:xfrm>
                <a:off x="0" y="-47625"/>
                <a:ext cx="4551437" cy="1453362"/>
              </a:xfrm>
              <a:prstGeom prst="rect">
                <a:avLst/>
              </a:prstGeom>
            </p:spPr>
            <p:txBody>
              <a:bodyPr anchor="t" rtlCol="false" tIns="54353" lIns="54353" bIns="54353" rIns="54353"/>
              <a:lstStyle/>
              <a:p>
                <a:pPr algn="ctr">
                  <a:lnSpc>
                    <a:spcPts val="2520"/>
                  </a:lnSpc>
                </a:pPr>
                <a:r>
                  <a:rPr lang="en-US" sz="2100">
                    <a:solidFill>
                      <a:srgbClr val="000000"/>
                    </a:solidFill>
                    <a:latin typeface="Calibri (MS)"/>
                    <a:ea typeface="Calibri (MS)"/>
                    <a:cs typeface="Calibri (MS)"/>
                    <a:sym typeface="Calibri (MS)"/>
                  </a:rPr>
                  <a:t>Siren fires directly on high risk, fully independent of network — alert always gets through.</a:t>
                </a:r>
              </a:p>
            </p:txBody>
          </p:sp>
        </p:grpSp>
        <p:grpSp>
          <p:nvGrpSpPr>
            <p:cNvPr name="Group 93" id="93"/>
            <p:cNvGrpSpPr/>
            <p:nvPr/>
          </p:nvGrpSpPr>
          <p:grpSpPr>
            <a:xfrm rot="5400000">
              <a:off x="1646638" y="6073067"/>
              <a:ext cx="1617659" cy="2888677"/>
              <a:chOff x="0" y="0"/>
              <a:chExt cx="512064" cy="914400"/>
            </a:xfrm>
          </p:grpSpPr>
          <p:sp>
            <p:nvSpPr>
              <p:cNvPr name="Freeform 94" id="94"/>
              <p:cNvSpPr/>
              <p:nvPr/>
            </p:nvSpPr>
            <p:spPr>
              <a:xfrm flipH="false" flipV="false" rot="0">
                <a:off x="0" y="0"/>
                <a:ext cx="512064" cy="914400"/>
              </a:xfrm>
              <a:custGeom>
                <a:avLst/>
                <a:gdLst/>
                <a:ahLst/>
                <a:cxnLst/>
                <a:rect r="r" b="b" t="t" l="l"/>
                <a:pathLst>
                  <a:path h="914400" w="512064">
                    <a:moveTo>
                      <a:pt x="0" y="0"/>
                    </a:moveTo>
                    <a:lnTo>
                      <a:pt x="512064" y="0"/>
                    </a:lnTo>
                    <a:lnTo>
                      <a:pt x="512064" y="914400"/>
                    </a:lnTo>
                    <a:lnTo>
                      <a:pt x="0" y="914400"/>
                    </a:lnTo>
                    <a:close/>
                  </a:path>
                </a:pathLst>
              </a:custGeom>
              <a:blipFill>
                <a:blip r:embed="rId3">
                  <a:alphaModFix amt="0"/>
                </a:blip>
                <a:stretch>
                  <a:fillRect l="-179113" t="0" r="-179113" b="0"/>
                </a:stretch>
              </a:blipFill>
            </p:spPr>
          </p:sp>
          <p:sp>
            <p:nvSpPr>
              <p:cNvPr name="TextBox 95" id="95"/>
              <p:cNvSpPr txBox="true"/>
              <p:nvPr/>
            </p:nvSpPr>
            <p:spPr>
              <a:xfrm>
                <a:off x="0" y="-19050"/>
                <a:ext cx="512064" cy="933450"/>
              </a:xfrm>
              <a:prstGeom prst="rect">
                <a:avLst/>
              </a:prstGeom>
            </p:spPr>
            <p:txBody>
              <a:bodyPr anchor="ctr" rtlCol="false" tIns="0" lIns="0" bIns="0" rIns="0"/>
              <a:lstStyle/>
              <a:p>
                <a:pPr algn="ctr">
                  <a:lnSpc>
                    <a:spcPts val="3240"/>
                  </a:lnSpc>
                </a:pPr>
                <a:r>
                  <a:rPr lang="en-US" sz="2700">
                    <a:solidFill>
                      <a:srgbClr val="02C39A"/>
                    </a:solidFill>
                    <a:latin typeface="Arial"/>
                    <a:ea typeface="Arial"/>
                    <a:cs typeface="Arial"/>
                    <a:sym typeface="Arial"/>
                  </a:rPr>
                  <a:t>→</a:t>
                </a:r>
              </a:p>
            </p:txBody>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20803" y="74091"/>
            <a:ext cx="8275808" cy="1378786"/>
            <a:chOff x="0" y="0"/>
            <a:chExt cx="12752794" cy="2124672"/>
          </a:xfrm>
        </p:grpSpPr>
        <p:sp>
          <p:nvSpPr>
            <p:cNvPr name="Freeform 3" id="3"/>
            <p:cNvSpPr/>
            <p:nvPr/>
          </p:nvSpPr>
          <p:spPr>
            <a:xfrm flipH="false" flipV="false" rot="0">
              <a:off x="0" y="0"/>
              <a:ext cx="12752792" cy="2124674"/>
            </a:xfrm>
            <a:custGeom>
              <a:avLst/>
              <a:gdLst/>
              <a:ahLst/>
              <a:cxnLst/>
              <a:rect r="r" b="b" t="t" l="l"/>
              <a:pathLst>
                <a:path h="2124674" w="12752792">
                  <a:moveTo>
                    <a:pt x="0" y="0"/>
                  </a:moveTo>
                  <a:lnTo>
                    <a:pt x="12752792" y="0"/>
                  </a:lnTo>
                  <a:lnTo>
                    <a:pt x="12752792" y="2124674"/>
                  </a:lnTo>
                  <a:lnTo>
                    <a:pt x="0" y="2124674"/>
                  </a:lnTo>
                  <a:close/>
                </a:path>
              </a:pathLst>
            </a:custGeom>
            <a:blipFill>
              <a:blip r:embed="rId3">
                <a:alphaModFix amt="0"/>
              </a:blip>
              <a:stretch>
                <a:fillRect l="0" t="-66953" r="0" b="-66953"/>
              </a:stretch>
            </a:blipFill>
          </p:spPr>
        </p:sp>
        <p:sp>
          <p:nvSpPr>
            <p:cNvPr name="TextBox 4" id="4"/>
            <p:cNvSpPr txBox="true"/>
            <p:nvPr/>
          </p:nvSpPr>
          <p:spPr>
            <a:xfrm>
              <a:off x="0" y="-28575"/>
              <a:ext cx="12752794" cy="2153247"/>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TECHNICAL APPROACH</a:t>
              </a:r>
            </a:p>
          </p:txBody>
        </p:sp>
      </p:grpSp>
      <p:grpSp>
        <p:nvGrpSpPr>
          <p:cNvPr name="Group 5" id="5"/>
          <p:cNvGrpSpPr/>
          <p:nvPr/>
        </p:nvGrpSpPr>
        <p:grpSpPr>
          <a:xfrm rot="0">
            <a:off x="14670129" y="2248"/>
            <a:ext cx="3374774" cy="1593504"/>
            <a:chOff x="0" y="0"/>
            <a:chExt cx="4499699" cy="2124672"/>
          </a:xfrm>
        </p:grpSpPr>
        <p:sp>
          <p:nvSpPr>
            <p:cNvPr name="Freeform 6" id="6"/>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7" id="7"/>
          <p:cNvGrpSpPr/>
          <p:nvPr/>
        </p:nvGrpSpPr>
        <p:grpSpPr>
          <a:xfrm rot="0">
            <a:off x="341081" y="99984"/>
            <a:ext cx="1524352" cy="1524352"/>
            <a:chOff x="0" y="0"/>
            <a:chExt cx="2032470" cy="2032470"/>
          </a:xfrm>
        </p:grpSpPr>
        <p:sp>
          <p:nvSpPr>
            <p:cNvPr name="Freeform 8" id="8"/>
            <p:cNvSpPr/>
            <p:nvPr/>
          </p:nvSpPr>
          <p:spPr>
            <a:xfrm flipH="false" flipV="false" rot="0">
              <a:off x="0" y="0"/>
              <a:ext cx="2032508" cy="2032508"/>
            </a:xfrm>
            <a:custGeom>
              <a:avLst/>
              <a:gdLst/>
              <a:ahLst/>
              <a:cxnLst/>
              <a:rect r="r" b="b" t="t" l="l"/>
              <a:pathLst>
                <a:path h="2032508" w="2032508">
                  <a:moveTo>
                    <a:pt x="0" y="0"/>
                  </a:moveTo>
                  <a:lnTo>
                    <a:pt x="2032508" y="0"/>
                  </a:lnTo>
                  <a:lnTo>
                    <a:pt x="2032508" y="2032508"/>
                  </a:lnTo>
                  <a:lnTo>
                    <a:pt x="0" y="2032508"/>
                  </a:lnTo>
                  <a:lnTo>
                    <a:pt x="0" y="0"/>
                  </a:lnTo>
                  <a:close/>
                </a:path>
              </a:pathLst>
            </a:custGeom>
            <a:blipFill>
              <a:blip r:embed="rId5"/>
              <a:stretch>
                <a:fillRect l="0" t="0" r="1" b="1"/>
              </a:stretch>
            </a:blipFill>
          </p:spPr>
        </p:sp>
      </p:grpSp>
      <p:sp>
        <p:nvSpPr>
          <p:cNvPr name="Freeform 9" id="9"/>
          <p:cNvSpPr/>
          <p:nvPr/>
        </p:nvSpPr>
        <p:spPr>
          <a:xfrm flipH="false" flipV="false" rot="0">
            <a:off x="538511" y="6260658"/>
            <a:ext cx="3039819" cy="3498284"/>
          </a:xfrm>
          <a:custGeom>
            <a:avLst/>
            <a:gdLst/>
            <a:ahLst/>
            <a:cxnLst/>
            <a:rect r="r" b="b" t="t" l="l"/>
            <a:pathLst>
              <a:path h="3498284" w="3039819">
                <a:moveTo>
                  <a:pt x="0" y="0"/>
                </a:moveTo>
                <a:lnTo>
                  <a:pt x="3039819" y="0"/>
                </a:lnTo>
                <a:lnTo>
                  <a:pt x="3039819" y="3498284"/>
                </a:lnTo>
                <a:lnTo>
                  <a:pt x="0" y="3498284"/>
                </a:lnTo>
                <a:lnTo>
                  <a:pt x="0" y="0"/>
                </a:lnTo>
                <a:close/>
              </a:path>
            </a:pathLst>
          </a:custGeom>
          <a:blipFill>
            <a:blip r:embed="rId6"/>
            <a:stretch>
              <a:fillRect l="0" t="0" r="0" b="0"/>
            </a:stretch>
          </a:blipFill>
        </p:spPr>
      </p:sp>
      <p:sp>
        <p:nvSpPr>
          <p:cNvPr name="Freeform 10" id="10"/>
          <p:cNvSpPr/>
          <p:nvPr/>
        </p:nvSpPr>
        <p:spPr>
          <a:xfrm flipH="false" flipV="false" rot="0">
            <a:off x="538511" y="1820235"/>
            <a:ext cx="9779781" cy="4240399"/>
          </a:xfrm>
          <a:custGeom>
            <a:avLst/>
            <a:gdLst/>
            <a:ahLst/>
            <a:cxnLst/>
            <a:rect r="r" b="b" t="t" l="l"/>
            <a:pathLst>
              <a:path h="4240399" w="9779781">
                <a:moveTo>
                  <a:pt x="0" y="0"/>
                </a:moveTo>
                <a:lnTo>
                  <a:pt x="9779781" y="0"/>
                </a:lnTo>
                <a:lnTo>
                  <a:pt x="9779781" y="4240398"/>
                </a:lnTo>
                <a:lnTo>
                  <a:pt x="0" y="4240398"/>
                </a:lnTo>
                <a:lnTo>
                  <a:pt x="0" y="0"/>
                </a:lnTo>
                <a:close/>
              </a:path>
            </a:pathLst>
          </a:custGeom>
          <a:blipFill>
            <a:blip r:embed="rId7"/>
            <a:stretch>
              <a:fillRect l="0" t="-2459" r="0" b="-2459"/>
            </a:stretch>
          </a:blipFill>
        </p:spPr>
      </p:sp>
      <p:sp>
        <p:nvSpPr>
          <p:cNvPr name="Freeform 11" id="11"/>
          <p:cNvSpPr/>
          <p:nvPr/>
        </p:nvSpPr>
        <p:spPr>
          <a:xfrm flipH="false" flipV="false" rot="0">
            <a:off x="3818864" y="6893827"/>
            <a:ext cx="6726652" cy="1793336"/>
          </a:xfrm>
          <a:custGeom>
            <a:avLst/>
            <a:gdLst/>
            <a:ahLst/>
            <a:cxnLst/>
            <a:rect r="r" b="b" t="t" l="l"/>
            <a:pathLst>
              <a:path h="1793336" w="6726652">
                <a:moveTo>
                  <a:pt x="0" y="0"/>
                </a:moveTo>
                <a:lnTo>
                  <a:pt x="6726652" y="0"/>
                </a:lnTo>
                <a:lnTo>
                  <a:pt x="6726652" y="1793336"/>
                </a:lnTo>
                <a:lnTo>
                  <a:pt x="0" y="1793336"/>
                </a:lnTo>
                <a:lnTo>
                  <a:pt x="0" y="0"/>
                </a:lnTo>
                <a:close/>
              </a:path>
            </a:pathLst>
          </a:custGeom>
          <a:blipFill>
            <a:blip r:embed="rId8"/>
            <a:stretch>
              <a:fillRect l="0" t="0" r="0" b="0"/>
            </a:stretch>
          </a:blipFill>
        </p:spPr>
      </p:sp>
      <p:grpSp>
        <p:nvGrpSpPr>
          <p:cNvPr name="Group 12" id="12"/>
          <p:cNvGrpSpPr/>
          <p:nvPr/>
        </p:nvGrpSpPr>
        <p:grpSpPr>
          <a:xfrm rot="0">
            <a:off x="10625458" y="5897332"/>
            <a:ext cx="6456449" cy="3569927"/>
            <a:chOff x="0" y="0"/>
            <a:chExt cx="8608598" cy="4759902"/>
          </a:xfrm>
        </p:grpSpPr>
        <p:grpSp>
          <p:nvGrpSpPr>
            <p:cNvPr name="Group 13" id="13"/>
            <p:cNvGrpSpPr/>
            <p:nvPr/>
          </p:nvGrpSpPr>
          <p:grpSpPr>
            <a:xfrm rot="0">
              <a:off x="0" y="0"/>
              <a:ext cx="8608598" cy="4759902"/>
              <a:chOff x="0" y="0"/>
              <a:chExt cx="1723974" cy="953227"/>
            </a:xfrm>
          </p:grpSpPr>
          <p:sp>
            <p:nvSpPr>
              <p:cNvPr name="Freeform 14" id="14"/>
              <p:cNvSpPr/>
              <p:nvPr/>
            </p:nvSpPr>
            <p:spPr>
              <a:xfrm flipH="false" flipV="false" rot="0">
                <a:off x="0" y="0"/>
                <a:ext cx="1723974" cy="953227"/>
              </a:xfrm>
              <a:custGeom>
                <a:avLst/>
                <a:gdLst/>
                <a:ahLst/>
                <a:cxnLst/>
                <a:rect r="r" b="b" t="t" l="l"/>
                <a:pathLst>
                  <a:path h="953227" w="1723974">
                    <a:moveTo>
                      <a:pt x="20107" y="0"/>
                    </a:moveTo>
                    <a:lnTo>
                      <a:pt x="1703868" y="0"/>
                    </a:lnTo>
                    <a:cubicBezTo>
                      <a:pt x="1709200" y="0"/>
                      <a:pt x="1714315" y="2118"/>
                      <a:pt x="1718085" y="5889"/>
                    </a:cubicBezTo>
                    <a:cubicBezTo>
                      <a:pt x="1721856" y="9660"/>
                      <a:pt x="1723974" y="14774"/>
                      <a:pt x="1723974" y="20107"/>
                    </a:cubicBezTo>
                    <a:lnTo>
                      <a:pt x="1723974" y="933120"/>
                    </a:lnTo>
                    <a:cubicBezTo>
                      <a:pt x="1723974" y="938453"/>
                      <a:pt x="1721856" y="943567"/>
                      <a:pt x="1718085" y="947338"/>
                    </a:cubicBezTo>
                    <a:cubicBezTo>
                      <a:pt x="1714315" y="951109"/>
                      <a:pt x="1709200" y="953227"/>
                      <a:pt x="1703868" y="953227"/>
                    </a:cubicBezTo>
                    <a:lnTo>
                      <a:pt x="20107" y="953227"/>
                    </a:lnTo>
                    <a:cubicBezTo>
                      <a:pt x="14774" y="953227"/>
                      <a:pt x="9660" y="951109"/>
                      <a:pt x="5889" y="947338"/>
                    </a:cubicBezTo>
                    <a:cubicBezTo>
                      <a:pt x="2118" y="943567"/>
                      <a:pt x="0" y="938453"/>
                      <a:pt x="0" y="933120"/>
                    </a:cubicBezTo>
                    <a:lnTo>
                      <a:pt x="0" y="20107"/>
                    </a:lnTo>
                    <a:cubicBezTo>
                      <a:pt x="0" y="14774"/>
                      <a:pt x="2118" y="9660"/>
                      <a:pt x="5889" y="5889"/>
                    </a:cubicBezTo>
                    <a:cubicBezTo>
                      <a:pt x="9660" y="2118"/>
                      <a:pt x="14774" y="0"/>
                      <a:pt x="20107" y="0"/>
                    </a:cubicBezTo>
                    <a:close/>
                  </a:path>
                </a:pathLst>
              </a:custGeom>
              <a:solidFill>
                <a:srgbClr val="FFA6A5"/>
              </a:solidFill>
            </p:spPr>
          </p:sp>
          <p:sp>
            <p:nvSpPr>
              <p:cNvPr name="TextBox 15" id="15"/>
              <p:cNvSpPr txBox="true"/>
              <p:nvPr/>
            </p:nvSpPr>
            <p:spPr>
              <a:xfrm>
                <a:off x="0" y="-19050"/>
                <a:ext cx="1723974" cy="972277"/>
              </a:xfrm>
              <a:prstGeom prst="rect">
                <a:avLst/>
              </a:prstGeom>
            </p:spPr>
            <p:txBody>
              <a:bodyPr anchor="ctr" rtlCol="false" tIns="50800" lIns="50800" bIns="50800" rIns="50800"/>
              <a:lstStyle/>
              <a:p>
                <a:pPr algn="ctr">
                  <a:lnSpc>
                    <a:spcPts val="2069"/>
                  </a:lnSpc>
                </a:pPr>
              </a:p>
            </p:txBody>
          </p:sp>
        </p:grpSp>
        <p:sp>
          <p:nvSpPr>
            <p:cNvPr name="TextBox 16" id="16"/>
            <p:cNvSpPr txBox="true"/>
            <p:nvPr/>
          </p:nvSpPr>
          <p:spPr>
            <a:xfrm rot="0">
              <a:off x="202221" y="140277"/>
              <a:ext cx="8131090" cy="4619625"/>
            </a:xfrm>
            <a:prstGeom prst="rect">
              <a:avLst/>
            </a:prstGeom>
          </p:spPr>
          <p:txBody>
            <a:bodyPr anchor="t" rtlCol="false" tIns="0" lIns="0" bIns="0" rIns="0">
              <a:spAutoFit/>
            </a:bodyPr>
            <a:lstStyle/>
            <a:p>
              <a:pPr algn="just">
                <a:lnSpc>
                  <a:spcPts val="2302"/>
                </a:lnSpc>
              </a:pPr>
              <a:r>
                <a:rPr lang="en-US" sz="1918" b="true">
                  <a:solidFill>
                    <a:srgbClr val="002060"/>
                  </a:solidFill>
                  <a:latin typeface="Calibri (MS) Bold"/>
                  <a:ea typeface="Calibri (MS) Bold"/>
                  <a:cs typeface="Calibri (MS) Bold"/>
                  <a:sym typeface="Calibri (MS) Bold"/>
                </a:rPr>
                <a:t>        </a:t>
              </a:r>
              <a:r>
                <a:rPr lang="en-US" b="true" sz="1918">
                  <a:solidFill>
                    <a:srgbClr val="002060"/>
                  </a:solidFill>
                  <a:latin typeface="Calibri (MS) Bold"/>
                  <a:ea typeface="Calibri (MS) Bold"/>
                  <a:cs typeface="Calibri (MS) Bold"/>
                  <a:sym typeface="Calibri (MS) Bold"/>
                </a:rPr>
                <a:t>1.Industrial RGB camera: Basler ace 2 Basic </a:t>
              </a:r>
            </a:p>
            <a:p>
              <a:pPr algn="just">
                <a:lnSpc>
                  <a:spcPts val="2302"/>
                </a:lnSpc>
              </a:pPr>
              <a:r>
                <a:rPr lang="en-US" b="true" sz="1918">
                  <a:solidFill>
                    <a:srgbClr val="002060"/>
                  </a:solidFill>
                  <a:latin typeface="Calibri (MS) Bold"/>
                  <a:ea typeface="Calibri (MS) Bold"/>
                  <a:cs typeface="Calibri (MS) Bold"/>
                  <a:sym typeface="Calibri (MS) Bold"/>
                </a:rPr>
                <a:t>    (a2A2448-23gcPRO) , pixels (2448 × 2048 /  5MP)</a:t>
              </a:r>
            </a:p>
            <a:p>
              <a:pPr algn="just">
                <a:lnSpc>
                  <a:spcPts val="2302"/>
                </a:lnSpc>
              </a:pPr>
              <a:r>
                <a:rPr lang="en-US" b="true" sz="1918">
                  <a:solidFill>
                    <a:srgbClr val="002060"/>
                  </a:solidFill>
                  <a:latin typeface="Calibri (MS) Bold"/>
                  <a:ea typeface="Calibri (MS) Bold"/>
                  <a:cs typeface="Calibri (MS) Bold"/>
                  <a:sym typeface="Calibri (MS) Bold"/>
                </a:rPr>
                <a:t>        2.edge AI - YOLO + open CV </a:t>
              </a:r>
            </a:p>
            <a:p>
              <a:pPr algn="just">
                <a:lnSpc>
                  <a:spcPts val="2302"/>
                </a:lnSpc>
              </a:pPr>
              <a:r>
                <a:rPr lang="en-US" b="true" sz="1918">
                  <a:solidFill>
                    <a:srgbClr val="002060"/>
                  </a:solidFill>
                  <a:latin typeface="Calibri (MS) Bold"/>
                  <a:ea typeface="Calibri (MS) Bold"/>
                  <a:cs typeface="Calibri (MS) Bold"/>
                  <a:sym typeface="Calibri (MS) Bold"/>
                </a:rPr>
                <a:t>        3. Constant speed control PLC+VFD </a:t>
              </a:r>
            </a:p>
            <a:p>
              <a:pPr algn="just">
                <a:lnSpc>
                  <a:spcPts val="2302"/>
                </a:lnSpc>
              </a:pPr>
              <a:r>
                <a:rPr lang="en-US" b="true" sz="1918">
                  <a:solidFill>
                    <a:srgbClr val="002060"/>
                  </a:solidFill>
                  <a:latin typeface="Calibri (MS) Bold"/>
                  <a:ea typeface="Calibri (MS) Bold"/>
                  <a:cs typeface="Calibri (MS) Bold"/>
                  <a:sym typeface="Calibri (MS) Bold"/>
                </a:rPr>
                <a:t>        4.Real time monitoring </a:t>
              </a:r>
            </a:p>
            <a:p>
              <a:pPr algn="just">
                <a:lnSpc>
                  <a:spcPts val="2302"/>
                </a:lnSpc>
              </a:pPr>
              <a:r>
                <a:rPr lang="en-US" b="true" sz="1918">
                  <a:solidFill>
                    <a:srgbClr val="002060"/>
                  </a:solidFill>
                  <a:latin typeface="Calibri (MS) Bold"/>
                  <a:ea typeface="Calibri (MS) Bold"/>
                  <a:cs typeface="Calibri (MS) Bold"/>
                  <a:sym typeface="Calibri (MS) Bold"/>
                </a:rPr>
                <a:t>        5.Torque Based Analysis: Expected vs Actual Torque</a:t>
              </a:r>
            </a:p>
            <a:p>
              <a:pPr algn="just">
                <a:lnSpc>
                  <a:spcPts val="2302"/>
                </a:lnSpc>
              </a:pPr>
              <a:r>
                <a:rPr lang="en-US" b="true" sz="1918">
                  <a:solidFill>
                    <a:srgbClr val="002060"/>
                  </a:solidFill>
                  <a:latin typeface="Calibri (MS) Bold"/>
                  <a:ea typeface="Calibri (MS) Bold"/>
                  <a:cs typeface="Calibri (MS) Bold"/>
                  <a:sym typeface="Calibri (MS) Bold"/>
                </a:rPr>
                <a:t>        6.Fault Detection </a:t>
              </a:r>
            </a:p>
            <a:p>
              <a:pPr algn="just">
                <a:lnSpc>
                  <a:spcPts val="2302"/>
                </a:lnSpc>
              </a:pPr>
              <a:r>
                <a:rPr lang="en-US" b="true" sz="1918">
                  <a:solidFill>
                    <a:srgbClr val="002060"/>
                  </a:solidFill>
                  <a:latin typeface="Calibri (MS) Bold"/>
                  <a:ea typeface="Calibri (MS) Bold"/>
                  <a:cs typeface="Calibri (MS) Bold"/>
                  <a:sym typeface="Calibri (MS) Bold"/>
                </a:rPr>
                <a:t>        7.Mass independent AI: The system does not require</a:t>
              </a:r>
            </a:p>
            <a:p>
              <a:pPr algn="just">
                <a:lnSpc>
                  <a:spcPts val="2302"/>
                </a:lnSpc>
              </a:pPr>
              <a:r>
                <a:rPr lang="en-US" b="true" sz="1918">
                  <a:solidFill>
                    <a:srgbClr val="002060"/>
                  </a:solidFill>
                  <a:latin typeface="Calibri (MS) Bold"/>
                  <a:ea typeface="Calibri (MS) Bold"/>
                  <a:cs typeface="Calibri (MS) Bold"/>
                  <a:sym typeface="Calibri (MS) Bold"/>
                </a:rPr>
                <a:t>     direct mass measurement .</a:t>
              </a:r>
            </a:p>
            <a:p>
              <a:pPr algn="just">
                <a:lnSpc>
                  <a:spcPts val="2302"/>
                </a:lnSpc>
              </a:pPr>
              <a:r>
                <a:rPr lang="en-US" b="true" sz="1918">
                  <a:solidFill>
                    <a:srgbClr val="002060"/>
                  </a:solidFill>
                  <a:latin typeface="Calibri (MS) Bold"/>
                  <a:ea typeface="Calibri (MS) Bold"/>
                  <a:cs typeface="Calibri (MS) Bold"/>
                  <a:sym typeface="Calibri (MS) Bold"/>
                </a:rPr>
                <a:t>    8.Predictive Maintenance: Generates early warning and                  trigger targeted RGB + thermal inspection for </a:t>
              </a:r>
            </a:p>
            <a:p>
              <a:pPr algn="just">
                <a:lnSpc>
                  <a:spcPts val="2302"/>
                </a:lnSpc>
                <a:spcBef>
                  <a:spcPct val="0"/>
                </a:spcBef>
              </a:pPr>
              <a:r>
                <a:rPr lang="en-US" b="true" sz="1918">
                  <a:solidFill>
                    <a:srgbClr val="002060"/>
                  </a:solidFill>
                  <a:latin typeface="Calibri (MS) Bold"/>
                  <a:ea typeface="Calibri (MS) Bold"/>
                  <a:cs typeface="Calibri (MS) Bold"/>
                  <a:sym typeface="Calibri (MS) Bold"/>
                </a:rPr>
                <a:t>fault confirmation</a:t>
              </a:r>
            </a:p>
          </p:txBody>
        </p:sp>
      </p:grpSp>
      <p:grpSp>
        <p:nvGrpSpPr>
          <p:cNvPr name="Group 17" id="17"/>
          <p:cNvGrpSpPr/>
          <p:nvPr/>
        </p:nvGrpSpPr>
        <p:grpSpPr>
          <a:xfrm rot="0">
            <a:off x="10625458" y="1820235"/>
            <a:ext cx="6430252" cy="4192598"/>
            <a:chOff x="0" y="0"/>
            <a:chExt cx="8573670" cy="5590130"/>
          </a:xfrm>
        </p:grpSpPr>
        <p:grpSp>
          <p:nvGrpSpPr>
            <p:cNvPr name="Group 18" id="18"/>
            <p:cNvGrpSpPr/>
            <p:nvPr/>
          </p:nvGrpSpPr>
          <p:grpSpPr>
            <a:xfrm rot="0">
              <a:off x="0" y="0"/>
              <a:ext cx="8573670" cy="5339725"/>
              <a:chOff x="0" y="0"/>
              <a:chExt cx="1693564" cy="1054761"/>
            </a:xfrm>
          </p:grpSpPr>
          <p:sp>
            <p:nvSpPr>
              <p:cNvPr name="Freeform 19" id="19"/>
              <p:cNvSpPr/>
              <p:nvPr/>
            </p:nvSpPr>
            <p:spPr>
              <a:xfrm flipH="false" flipV="false" rot="0">
                <a:off x="0" y="0"/>
                <a:ext cx="1693564" cy="1054761"/>
              </a:xfrm>
              <a:custGeom>
                <a:avLst/>
                <a:gdLst/>
                <a:ahLst/>
                <a:cxnLst/>
                <a:rect r="r" b="b" t="t" l="l"/>
                <a:pathLst>
                  <a:path h="1054761" w="1693564">
                    <a:moveTo>
                      <a:pt x="20468" y="0"/>
                    </a:moveTo>
                    <a:lnTo>
                      <a:pt x="1673097" y="0"/>
                    </a:lnTo>
                    <a:cubicBezTo>
                      <a:pt x="1684401" y="0"/>
                      <a:pt x="1693564" y="9164"/>
                      <a:pt x="1693564" y="20468"/>
                    </a:cubicBezTo>
                    <a:lnTo>
                      <a:pt x="1693564" y="1034293"/>
                    </a:lnTo>
                    <a:cubicBezTo>
                      <a:pt x="1693564" y="1045597"/>
                      <a:pt x="1684401" y="1054761"/>
                      <a:pt x="1673097" y="1054761"/>
                    </a:cubicBezTo>
                    <a:lnTo>
                      <a:pt x="20468" y="1054761"/>
                    </a:lnTo>
                    <a:cubicBezTo>
                      <a:pt x="9164" y="1054761"/>
                      <a:pt x="0" y="1045597"/>
                      <a:pt x="0" y="1034293"/>
                    </a:cubicBezTo>
                    <a:lnTo>
                      <a:pt x="0" y="20468"/>
                    </a:lnTo>
                    <a:cubicBezTo>
                      <a:pt x="0" y="9164"/>
                      <a:pt x="9164" y="0"/>
                      <a:pt x="20468" y="0"/>
                    </a:cubicBezTo>
                    <a:close/>
                  </a:path>
                </a:pathLst>
              </a:custGeom>
              <a:solidFill>
                <a:srgbClr val="FFA6A5"/>
              </a:solidFill>
            </p:spPr>
          </p:sp>
          <p:sp>
            <p:nvSpPr>
              <p:cNvPr name="TextBox 20" id="20"/>
              <p:cNvSpPr txBox="true"/>
              <p:nvPr/>
            </p:nvSpPr>
            <p:spPr>
              <a:xfrm>
                <a:off x="0" y="-19050"/>
                <a:ext cx="1693564" cy="1073811"/>
              </a:xfrm>
              <a:prstGeom prst="rect">
                <a:avLst/>
              </a:prstGeom>
            </p:spPr>
            <p:txBody>
              <a:bodyPr anchor="ctr" rtlCol="false" tIns="50800" lIns="50800" bIns="50800" rIns="50800"/>
              <a:lstStyle/>
              <a:p>
                <a:pPr algn="ctr">
                  <a:lnSpc>
                    <a:spcPts val="2070"/>
                  </a:lnSpc>
                </a:pPr>
              </a:p>
            </p:txBody>
          </p:sp>
        </p:grpSp>
        <p:sp>
          <p:nvSpPr>
            <p:cNvPr name="TextBox 21" id="21"/>
            <p:cNvSpPr txBox="true"/>
            <p:nvPr/>
          </p:nvSpPr>
          <p:spPr>
            <a:xfrm rot="0">
              <a:off x="417133" y="195335"/>
              <a:ext cx="7564589" cy="5394795"/>
            </a:xfrm>
            <a:prstGeom prst="rect">
              <a:avLst/>
            </a:prstGeom>
          </p:spPr>
          <p:txBody>
            <a:bodyPr anchor="t" rtlCol="false" tIns="0" lIns="0" bIns="0" rIns="0">
              <a:spAutoFit/>
            </a:bodyPr>
            <a:lstStyle/>
            <a:p>
              <a:pPr algn="l" marL="345836" indent="-172918" lvl="1">
                <a:lnSpc>
                  <a:spcPts val="2293"/>
                </a:lnSpc>
                <a:buAutoNum type="arabicPeriod" startAt="1"/>
              </a:pPr>
              <a:r>
                <a:rPr lang="en-US" b="true" sz="1910">
                  <a:solidFill>
                    <a:srgbClr val="215968"/>
                  </a:solidFill>
                  <a:latin typeface="Calibri (MS) Bold"/>
                  <a:ea typeface="Calibri (MS) Bold"/>
                  <a:cs typeface="Calibri (MS) Bold"/>
                  <a:sym typeface="Calibri (MS) Bold"/>
                </a:rPr>
                <a:t> Sensors on the belt feel things — vibration, heat, misalignment.</a:t>
              </a:r>
            </a:p>
            <a:p>
              <a:pPr algn="l" marL="345836" indent="-172918" lvl="1">
                <a:lnSpc>
                  <a:spcPts val="2293"/>
                </a:lnSpc>
                <a:buAutoNum type="arabicPeriod" startAt="1"/>
              </a:pPr>
              <a:r>
                <a:rPr lang="en-US" b="true" sz="1910">
                  <a:solidFill>
                    <a:srgbClr val="215968"/>
                  </a:solidFill>
                  <a:latin typeface="Calibri (MS) Bold"/>
                  <a:ea typeface="Calibri (MS) Bold"/>
                  <a:cs typeface="Calibri (MS) Bold"/>
                  <a:sym typeface="Calibri (MS) Bold"/>
                </a:rPr>
                <a:t>IoT digitises the data, and tramsmits it </a:t>
              </a:r>
            </a:p>
            <a:p>
              <a:pPr algn="l" marL="345836" indent="-172918" lvl="1">
                <a:lnSpc>
                  <a:spcPts val="2293"/>
                </a:lnSpc>
                <a:buAutoNum type="arabicPeriod" startAt="1"/>
              </a:pPr>
              <a:r>
                <a:rPr lang="en-US" b="true" sz="1910">
                  <a:solidFill>
                    <a:srgbClr val="215968"/>
                  </a:solidFill>
                  <a:latin typeface="Calibri (MS) Bold"/>
                  <a:ea typeface="Calibri (MS) Bold"/>
                  <a:cs typeface="Calibri (MS) Bold"/>
                  <a:sym typeface="Calibri (MS) Bold"/>
                </a:rPr>
                <a:t>Those numbers go to a local mini-computer at the mine site.</a:t>
              </a:r>
            </a:p>
            <a:p>
              <a:pPr algn="l" marL="345836" indent="-172918" lvl="1">
                <a:lnSpc>
                  <a:spcPts val="2293"/>
                </a:lnSpc>
                <a:buAutoNum type="arabicPeriod" startAt="1"/>
              </a:pPr>
              <a:r>
                <a:rPr lang="en-US" b="true" sz="1910">
                  <a:solidFill>
                    <a:srgbClr val="215968"/>
                  </a:solidFill>
                  <a:latin typeface="Calibri (MS) Bold"/>
                  <a:ea typeface="Calibri (MS) Bold"/>
                  <a:cs typeface="Calibri (MS) Bold"/>
                  <a:sym typeface="Calibri (MS) Bold"/>
                </a:rPr>
                <a:t>That mini-computer runs the AI right there and figures out: "is this joint in danger?"</a:t>
              </a:r>
            </a:p>
            <a:p>
              <a:pPr algn="l" marL="345836" indent="-172918" lvl="1">
                <a:lnSpc>
                  <a:spcPts val="2293"/>
                </a:lnSpc>
                <a:buAutoNum type="arabicPeriod" startAt="1"/>
              </a:pPr>
              <a:r>
                <a:rPr lang="en-US" b="true" sz="1910">
                  <a:solidFill>
                    <a:srgbClr val="215968"/>
                  </a:solidFill>
                  <a:latin typeface="Calibri (MS) Bold"/>
                  <a:ea typeface="Calibri (MS) Bold"/>
                  <a:cs typeface="Calibri (MS) Bold"/>
                  <a:sym typeface="Calibri (MS) Bold"/>
                </a:rPr>
                <a:t>If yes, it sends that warning to the PLC (the machine that controls the belt) and the SCADA screen (the operator's usual screen) .</a:t>
              </a:r>
            </a:p>
            <a:p>
              <a:pPr algn="l" marL="345836" indent="-172918" lvl="1">
                <a:lnSpc>
                  <a:spcPts val="2293"/>
                </a:lnSpc>
                <a:buAutoNum type="arabicPeriod" startAt="1"/>
              </a:pPr>
              <a:r>
                <a:rPr lang="en-US" b="true" sz="1910">
                  <a:solidFill>
                    <a:srgbClr val="215968"/>
                  </a:solidFill>
                  <a:latin typeface="Calibri (MS) Bold"/>
                  <a:ea typeface="Calibri (MS) Bold"/>
                  <a:cs typeface="Calibri (MS) Bold"/>
                  <a:sym typeface="Calibri (MS) Bold"/>
                </a:rPr>
                <a:t>If it's really serious, a siren/light goes off on-site too, as backup.</a:t>
              </a:r>
            </a:p>
            <a:p>
              <a:pPr algn="l" marL="345836" indent="-172918" lvl="1">
                <a:lnSpc>
                  <a:spcPts val="2293"/>
                </a:lnSpc>
                <a:buAutoNum type="arabicPeriod" startAt="1"/>
              </a:pPr>
              <a:r>
                <a:rPr lang="en-US" b="true" sz="1910">
                  <a:solidFill>
                    <a:srgbClr val="215968"/>
                  </a:solidFill>
                  <a:latin typeface="Calibri (MS) Bold"/>
                  <a:ea typeface="Calibri (MS) Bold"/>
                  <a:cs typeface="Calibri (MS) Bold"/>
                  <a:sym typeface="Calibri (MS) Bold"/>
                </a:rPr>
                <a:t>Everything gets saved locally.</a:t>
              </a:r>
            </a:p>
            <a:p>
              <a:pPr algn="l">
                <a:lnSpc>
                  <a:spcPts val="2293"/>
                </a:lnSpc>
              </a:pPr>
            </a:p>
          </p:txBody>
        </p:sp>
      </p:grpSp>
      <p:sp>
        <p:nvSpPr>
          <p:cNvPr name="TextBox 22" id="22"/>
          <p:cNvSpPr txBox="true"/>
          <p:nvPr/>
        </p:nvSpPr>
        <p:spPr>
          <a:xfrm rot="0">
            <a:off x="17580171" y="9701792"/>
            <a:ext cx="929464" cy="466725"/>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5932" y="-58245"/>
            <a:ext cx="16459200" cy="1714500"/>
            <a:chOff x="0" y="0"/>
            <a:chExt cx="21945600" cy="2286000"/>
          </a:xfrm>
        </p:grpSpPr>
        <p:sp>
          <p:nvSpPr>
            <p:cNvPr name="Freeform 3" id="3"/>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blipFill>
              <a:blip r:embed="rId3">
                <a:alphaModFix amt="0"/>
              </a:blip>
              <a:stretch>
                <a:fillRect l="0" t="-137056" r="0" b="-137056"/>
              </a:stretch>
            </a:blipFill>
          </p:spPr>
        </p:sp>
        <p:sp>
          <p:nvSpPr>
            <p:cNvPr name="TextBox 4" id="4"/>
            <p:cNvSpPr txBox="true"/>
            <p:nvPr/>
          </p:nvSpPr>
          <p:spPr>
            <a:xfrm>
              <a:off x="0" y="-28575"/>
              <a:ext cx="21945600" cy="2314575"/>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FEASIBILITY AND VIABILITY</a:t>
              </a:r>
            </a:p>
          </p:txBody>
        </p:sp>
      </p:grpSp>
      <p:grpSp>
        <p:nvGrpSpPr>
          <p:cNvPr name="Group 5" id="5"/>
          <p:cNvGrpSpPr/>
          <p:nvPr/>
        </p:nvGrpSpPr>
        <p:grpSpPr>
          <a:xfrm rot="0">
            <a:off x="14670129" y="2248"/>
            <a:ext cx="3374774" cy="1593504"/>
            <a:chOff x="0" y="0"/>
            <a:chExt cx="4499699" cy="2124672"/>
          </a:xfrm>
        </p:grpSpPr>
        <p:sp>
          <p:nvSpPr>
            <p:cNvPr name="Freeform 6" id="6"/>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sp>
        <p:nvSpPr>
          <p:cNvPr name="TextBox 7" id="7"/>
          <p:cNvSpPr txBox="true"/>
          <p:nvPr/>
        </p:nvSpPr>
        <p:spPr>
          <a:xfrm rot="0">
            <a:off x="6335959" y="2005801"/>
            <a:ext cx="5217966" cy="456628"/>
          </a:xfrm>
          <a:prstGeom prst="rect">
            <a:avLst/>
          </a:prstGeom>
        </p:spPr>
        <p:txBody>
          <a:bodyPr anchor="t" rtlCol="false" tIns="0" lIns="0" bIns="0" rIns="0">
            <a:spAutoFit/>
          </a:bodyPr>
          <a:lstStyle/>
          <a:p>
            <a:pPr algn="ctr">
              <a:lnSpc>
                <a:spcPts val="4140"/>
              </a:lnSpc>
            </a:pPr>
            <a:r>
              <a:rPr lang="en-US" sz="3450" b="true">
                <a:solidFill>
                  <a:srgbClr val="141414"/>
                </a:solidFill>
                <a:latin typeface="Arial Bold"/>
                <a:ea typeface="Arial Bold"/>
                <a:cs typeface="Arial Bold"/>
                <a:sym typeface="Arial Bold"/>
              </a:rPr>
              <a:t>TECHNICAL</a:t>
            </a:r>
          </a:p>
        </p:txBody>
      </p:sp>
      <p:sp>
        <p:nvSpPr>
          <p:cNvPr name="TextBox 8" id="8"/>
          <p:cNvSpPr txBox="true"/>
          <p:nvPr/>
        </p:nvSpPr>
        <p:spPr>
          <a:xfrm rot="0">
            <a:off x="422491" y="2005801"/>
            <a:ext cx="5217966" cy="456628"/>
          </a:xfrm>
          <a:prstGeom prst="rect">
            <a:avLst/>
          </a:prstGeom>
        </p:spPr>
        <p:txBody>
          <a:bodyPr anchor="t" rtlCol="false" tIns="0" lIns="0" bIns="0" rIns="0">
            <a:spAutoFit/>
          </a:bodyPr>
          <a:lstStyle/>
          <a:p>
            <a:pPr algn="ctr">
              <a:lnSpc>
                <a:spcPts val="4140"/>
              </a:lnSpc>
            </a:pPr>
            <a:r>
              <a:rPr lang="en-US" sz="3450" b="true">
                <a:solidFill>
                  <a:srgbClr val="141414"/>
                </a:solidFill>
                <a:latin typeface="Arial Bold"/>
                <a:ea typeface="Arial Bold"/>
                <a:cs typeface="Arial Bold"/>
                <a:sym typeface="Arial Bold"/>
              </a:rPr>
              <a:t>ECONOMIC</a:t>
            </a:r>
          </a:p>
        </p:txBody>
      </p:sp>
      <p:sp>
        <p:nvSpPr>
          <p:cNvPr name="TextBox 9" id="9"/>
          <p:cNvSpPr txBox="true"/>
          <p:nvPr/>
        </p:nvSpPr>
        <p:spPr>
          <a:xfrm rot="0">
            <a:off x="12249426" y="2041900"/>
            <a:ext cx="5217966" cy="456628"/>
          </a:xfrm>
          <a:prstGeom prst="rect">
            <a:avLst/>
          </a:prstGeom>
        </p:spPr>
        <p:txBody>
          <a:bodyPr anchor="t" rtlCol="false" tIns="0" lIns="0" bIns="0" rIns="0">
            <a:spAutoFit/>
          </a:bodyPr>
          <a:lstStyle/>
          <a:p>
            <a:pPr algn="ctr">
              <a:lnSpc>
                <a:spcPts val="4140"/>
              </a:lnSpc>
            </a:pPr>
            <a:r>
              <a:rPr lang="en-US" sz="3450" b="true">
                <a:solidFill>
                  <a:srgbClr val="141414"/>
                </a:solidFill>
                <a:latin typeface="Arial Bold"/>
                <a:ea typeface="Arial Bold"/>
                <a:cs typeface="Arial Bold"/>
                <a:sym typeface="Arial Bold"/>
              </a:rPr>
              <a:t>SOCIAL</a:t>
            </a:r>
          </a:p>
        </p:txBody>
      </p:sp>
      <p:grpSp>
        <p:nvGrpSpPr>
          <p:cNvPr name="Group 10" id="10"/>
          <p:cNvGrpSpPr/>
          <p:nvPr/>
        </p:nvGrpSpPr>
        <p:grpSpPr>
          <a:xfrm rot="0">
            <a:off x="6244066" y="2018538"/>
            <a:ext cx="16202" cy="7900035"/>
            <a:chOff x="0" y="0"/>
            <a:chExt cx="21603" cy="10533380"/>
          </a:xfrm>
        </p:grpSpPr>
        <p:sp>
          <p:nvSpPr>
            <p:cNvPr name="Freeform 11" id="11"/>
            <p:cNvSpPr/>
            <p:nvPr/>
          </p:nvSpPr>
          <p:spPr>
            <a:xfrm flipH="false" flipV="false" rot="0">
              <a:off x="0" y="0"/>
              <a:ext cx="21590" cy="10533380"/>
            </a:xfrm>
            <a:custGeom>
              <a:avLst/>
              <a:gdLst/>
              <a:ahLst/>
              <a:cxnLst/>
              <a:rect r="r" b="b" t="t" l="l"/>
              <a:pathLst>
                <a:path h="10533380" w="21590">
                  <a:moveTo>
                    <a:pt x="0" y="0"/>
                  </a:moveTo>
                  <a:lnTo>
                    <a:pt x="21590" y="0"/>
                  </a:lnTo>
                  <a:lnTo>
                    <a:pt x="21590" y="10533380"/>
                  </a:lnTo>
                  <a:lnTo>
                    <a:pt x="0" y="10533380"/>
                  </a:lnTo>
                  <a:close/>
                </a:path>
              </a:pathLst>
            </a:custGeom>
            <a:solidFill>
              <a:srgbClr val="141414"/>
            </a:solidFill>
          </p:spPr>
        </p:sp>
      </p:grpSp>
      <p:grpSp>
        <p:nvGrpSpPr>
          <p:cNvPr name="Group 12" id="12"/>
          <p:cNvGrpSpPr/>
          <p:nvPr/>
        </p:nvGrpSpPr>
        <p:grpSpPr>
          <a:xfrm rot="0">
            <a:off x="11860940" y="2018538"/>
            <a:ext cx="16202" cy="7900035"/>
            <a:chOff x="0" y="0"/>
            <a:chExt cx="21603" cy="10533380"/>
          </a:xfrm>
        </p:grpSpPr>
        <p:sp>
          <p:nvSpPr>
            <p:cNvPr name="Freeform 13" id="13"/>
            <p:cNvSpPr/>
            <p:nvPr/>
          </p:nvSpPr>
          <p:spPr>
            <a:xfrm flipH="false" flipV="false" rot="0">
              <a:off x="0" y="0"/>
              <a:ext cx="21590" cy="10533380"/>
            </a:xfrm>
            <a:custGeom>
              <a:avLst/>
              <a:gdLst/>
              <a:ahLst/>
              <a:cxnLst/>
              <a:rect r="r" b="b" t="t" l="l"/>
              <a:pathLst>
                <a:path h="10533380" w="21590">
                  <a:moveTo>
                    <a:pt x="0" y="0"/>
                  </a:moveTo>
                  <a:lnTo>
                    <a:pt x="21590" y="0"/>
                  </a:lnTo>
                  <a:lnTo>
                    <a:pt x="21590" y="10533380"/>
                  </a:lnTo>
                  <a:lnTo>
                    <a:pt x="0" y="10533380"/>
                  </a:lnTo>
                  <a:close/>
                </a:path>
              </a:pathLst>
            </a:custGeom>
            <a:solidFill>
              <a:srgbClr val="141414"/>
            </a:solidFill>
          </p:spPr>
        </p:sp>
      </p:grpSp>
      <p:grpSp>
        <p:nvGrpSpPr>
          <p:cNvPr name="Group 14" id="14"/>
          <p:cNvGrpSpPr/>
          <p:nvPr/>
        </p:nvGrpSpPr>
        <p:grpSpPr>
          <a:xfrm rot="0">
            <a:off x="1028700" y="2662454"/>
            <a:ext cx="4881991" cy="6872071"/>
            <a:chOff x="0" y="0"/>
            <a:chExt cx="1285792" cy="1809928"/>
          </a:xfrm>
        </p:grpSpPr>
        <p:sp>
          <p:nvSpPr>
            <p:cNvPr name="Freeform 15" id="15"/>
            <p:cNvSpPr/>
            <p:nvPr/>
          </p:nvSpPr>
          <p:spPr>
            <a:xfrm flipH="false" flipV="false" rot="0">
              <a:off x="0" y="0"/>
              <a:ext cx="1285792" cy="1809928"/>
            </a:xfrm>
            <a:custGeom>
              <a:avLst/>
              <a:gdLst/>
              <a:ahLst/>
              <a:cxnLst/>
              <a:rect r="r" b="b" t="t" l="l"/>
              <a:pathLst>
                <a:path h="1809928" w="1285792">
                  <a:moveTo>
                    <a:pt x="26959" y="0"/>
                  </a:moveTo>
                  <a:lnTo>
                    <a:pt x="1258833" y="0"/>
                  </a:lnTo>
                  <a:cubicBezTo>
                    <a:pt x="1265983" y="0"/>
                    <a:pt x="1272840" y="2840"/>
                    <a:pt x="1277896" y="7896"/>
                  </a:cubicBezTo>
                  <a:cubicBezTo>
                    <a:pt x="1282952" y="12952"/>
                    <a:pt x="1285792" y="19809"/>
                    <a:pt x="1285792" y="26959"/>
                  </a:cubicBezTo>
                  <a:lnTo>
                    <a:pt x="1285792" y="1782969"/>
                  </a:lnTo>
                  <a:cubicBezTo>
                    <a:pt x="1285792" y="1790119"/>
                    <a:pt x="1282952" y="1796976"/>
                    <a:pt x="1277896" y="1802032"/>
                  </a:cubicBezTo>
                  <a:cubicBezTo>
                    <a:pt x="1272840" y="1807088"/>
                    <a:pt x="1265983" y="1809928"/>
                    <a:pt x="1258833" y="1809928"/>
                  </a:cubicBezTo>
                  <a:lnTo>
                    <a:pt x="26959" y="1809928"/>
                  </a:lnTo>
                  <a:cubicBezTo>
                    <a:pt x="19809" y="1809928"/>
                    <a:pt x="12952" y="1807088"/>
                    <a:pt x="7896" y="1802032"/>
                  </a:cubicBezTo>
                  <a:cubicBezTo>
                    <a:pt x="2840" y="1796976"/>
                    <a:pt x="0" y="1790119"/>
                    <a:pt x="0" y="1782969"/>
                  </a:cubicBezTo>
                  <a:lnTo>
                    <a:pt x="0" y="26959"/>
                  </a:lnTo>
                  <a:cubicBezTo>
                    <a:pt x="0" y="19809"/>
                    <a:pt x="2840" y="12952"/>
                    <a:pt x="7896" y="7896"/>
                  </a:cubicBezTo>
                  <a:cubicBezTo>
                    <a:pt x="12952" y="2840"/>
                    <a:pt x="19809" y="0"/>
                    <a:pt x="26959" y="0"/>
                  </a:cubicBezTo>
                  <a:close/>
                </a:path>
              </a:pathLst>
            </a:custGeom>
            <a:solidFill>
              <a:srgbClr val="FFA6A5"/>
            </a:solidFill>
          </p:spPr>
        </p:sp>
        <p:sp>
          <p:nvSpPr>
            <p:cNvPr name="TextBox 16" id="16"/>
            <p:cNvSpPr txBox="true"/>
            <p:nvPr/>
          </p:nvSpPr>
          <p:spPr>
            <a:xfrm>
              <a:off x="0" y="-19050"/>
              <a:ext cx="1285792" cy="1828978"/>
            </a:xfrm>
            <a:prstGeom prst="rect">
              <a:avLst/>
            </a:prstGeom>
          </p:spPr>
          <p:txBody>
            <a:bodyPr anchor="ctr" rtlCol="false" tIns="50800" lIns="50800" bIns="50800" rIns="50800"/>
            <a:lstStyle/>
            <a:p>
              <a:pPr algn="ctr">
                <a:lnSpc>
                  <a:spcPts val="2070"/>
                </a:lnSpc>
              </a:pPr>
            </a:p>
          </p:txBody>
        </p:sp>
      </p:grpSp>
      <p:sp>
        <p:nvSpPr>
          <p:cNvPr name="TextBox 17" id="17"/>
          <p:cNvSpPr txBox="true"/>
          <p:nvPr/>
        </p:nvSpPr>
        <p:spPr>
          <a:xfrm rot="0">
            <a:off x="1107717" y="2805329"/>
            <a:ext cx="4660099" cy="6196839"/>
          </a:xfrm>
          <a:prstGeom prst="rect">
            <a:avLst/>
          </a:prstGeom>
        </p:spPr>
        <p:txBody>
          <a:bodyPr anchor="t" rtlCol="false" tIns="0" lIns="0" bIns="0" rIns="0">
            <a:spAutoFit/>
          </a:bodyPr>
          <a:lstStyle/>
          <a:p>
            <a:pPr algn="l" marL="352437" indent="-176218" lvl="1">
              <a:lnSpc>
                <a:spcPts val="2453"/>
              </a:lnSpc>
              <a:buFont typeface="Arial"/>
              <a:buChar char="•"/>
            </a:pPr>
            <a:r>
              <a:rPr lang="en-US" sz="1947">
                <a:solidFill>
                  <a:srgbClr val="141414"/>
                </a:solidFill>
                <a:latin typeface="Arial"/>
                <a:ea typeface="Arial"/>
                <a:cs typeface="Arial"/>
                <a:sym typeface="Arial"/>
              </a:rPr>
              <a:t>Reduces downtime caused by unexpected belt and motor failures.</a:t>
            </a:r>
          </a:p>
          <a:p>
            <a:pPr algn="l" marL="352437" indent="-176218" lvl="1">
              <a:lnSpc>
                <a:spcPts val="2453"/>
              </a:lnSpc>
              <a:buFont typeface="Arial"/>
              <a:buChar char="•"/>
            </a:pPr>
            <a:r>
              <a:rPr lang="en-US" sz="1947">
                <a:solidFill>
                  <a:srgbClr val="141414"/>
                </a:solidFill>
                <a:latin typeface="Arial"/>
                <a:ea typeface="Arial"/>
                <a:cs typeface="Arial"/>
                <a:sym typeface="Arial"/>
              </a:rPr>
              <a:t>Cuts maintenance costs through early fault detection.</a:t>
            </a:r>
          </a:p>
          <a:p>
            <a:pPr algn="l" marL="352437" indent="-176218" lvl="1">
              <a:lnSpc>
                <a:spcPts val="2453"/>
              </a:lnSpc>
              <a:buFont typeface="Arial"/>
              <a:buChar char="•"/>
            </a:pPr>
            <a:r>
              <a:rPr lang="en-US" sz="1947">
                <a:solidFill>
                  <a:srgbClr val="141414"/>
                </a:solidFill>
                <a:latin typeface="Arial"/>
                <a:ea typeface="Arial"/>
                <a:cs typeface="Arial"/>
                <a:sym typeface="Arial"/>
              </a:rPr>
              <a:t>Prevents production losses by enabling timely maintenance</a:t>
            </a:r>
          </a:p>
          <a:p>
            <a:pPr algn="l" marL="352437" indent="-176218" lvl="1">
              <a:lnSpc>
                <a:spcPts val="2453"/>
              </a:lnSpc>
              <a:buFont typeface="Arial"/>
              <a:buChar char="•"/>
            </a:pPr>
            <a:r>
              <a:rPr lang="en-US" sz="1947">
                <a:solidFill>
                  <a:srgbClr val="141414"/>
                </a:solidFill>
                <a:latin typeface="Arial"/>
                <a:ea typeface="Arial"/>
                <a:cs typeface="Arial"/>
                <a:sym typeface="Arial"/>
              </a:rPr>
              <a:t>Uses existing PLC/VFD systems, reducing installation costs.</a:t>
            </a:r>
          </a:p>
          <a:p>
            <a:pPr algn="l" marL="352437" indent="-176218" lvl="1">
              <a:lnSpc>
                <a:spcPts val="2453"/>
              </a:lnSpc>
              <a:buFont typeface="Arial"/>
              <a:buChar char="•"/>
            </a:pPr>
            <a:r>
              <a:rPr lang="en-US" sz="1947">
                <a:solidFill>
                  <a:srgbClr val="141414"/>
                </a:solidFill>
                <a:latin typeface="Arial"/>
                <a:ea typeface="Arial"/>
                <a:cs typeface="Arial"/>
                <a:sym typeface="Arial"/>
              </a:rPr>
              <a:t>Improves return on investment (ROI) through continuous monitoring.</a:t>
            </a:r>
          </a:p>
          <a:p>
            <a:pPr algn="l" marL="352437" indent="-176218" lvl="1">
              <a:lnSpc>
                <a:spcPts val="2453"/>
              </a:lnSpc>
              <a:buFont typeface="Arial"/>
              <a:buChar char="•"/>
            </a:pPr>
            <a:r>
              <a:rPr lang="en-US" sz="1947">
                <a:solidFill>
                  <a:srgbClr val="141414"/>
                </a:solidFill>
                <a:latin typeface="Arial"/>
                <a:ea typeface="Arial"/>
                <a:cs typeface="Arial"/>
                <a:sym typeface="Arial"/>
              </a:rPr>
              <a:t>Extends component life, reducing frequent replacement costs.</a:t>
            </a:r>
          </a:p>
          <a:p>
            <a:pPr algn="l" marL="352437" indent="-176218" lvl="1">
              <a:lnSpc>
                <a:spcPts val="2453"/>
              </a:lnSpc>
              <a:buFont typeface="Arial"/>
              <a:buChar char="•"/>
            </a:pPr>
            <a:r>
              <a:rPr lang="en-US" sz="1947">
                <a:solidFill>
                  <a:srgbClr val="141414"/>
                </a:solidFill>
                <a:latin typeface="Arial"/>
                <a:ea typeface="Arial"/>
                <a:cs typeface="Arial"/>
                <a:sym typeface="Arial"/>
              </a:rPr>
              <a:t>The system can be integrated with existing PLC/VFD infrastructure, making it relatively low-cost and scalable across multiple conveyor sections. </a:t>
            </a:r>
          </a:p>
          <a:p>
            <a:pPr algn="l" marL="352437" indent="-176218" lvl="1">
              <a:lnSpc>
                <a:spcPts val="2453"/>
              </a:lnSpc>
              <a:buFont typeface="Arial"/>
              <a:buChar char="•"/>
            </a:pPr>
            <a:r>
              <a:rPr lang="en-US" sz="1947">
                <a:solidFill>
                  <a:srgbClr val="141414"/>
                </a:solidFill>
                <a:latin typeface="Arial"/>
                <a:ea typeface="Arial"/>
                <a:cs typeface="Arial"/>
                <a:sym typeface="Arial"/>
              </a:rPr>
              <a:t>The initial investment can be recovered through reduced downtime and preventive maintenance costs.</a:t>
            </a:r>
          </a:p>
        </p:txBody>
      </p:sp>
      <p:grpSp>
        <p:nvGrpSpPr>
          <p:cNvPr name="Group 18" id="18"/>
          <p:cNvGrpSpPr/>
          <p:nvPr/>
        </p:nvGrpSpPr>
        <p:grpSpPr>
          <a:xfrm rot="0">
            <a:off x="6596222" y="2716643"/>
            <a:ext cx="5078620" cy="6817882"/>
            <a:chOff x="0" y="0"/>
            <a:chExt cx="1337579" cy="1795656"/>
          </a:xfrm>
        </p:grpSpPr>
        <p:sp>
          <p:nvSpPr>
            <p:cNvPr name="Freeform 19" id="19"/>
            <p:cNvSpPr/>
            <p:nvPr/>
          </p:nvSpPr>
          <p:spPr>
            <a:xfrm flipH="false" flipV="false" rot="0">
              <a:off x="0" y="0"/>
              <a:ext cx="1337579" cy="1795656"/>
            </a:xfrm>
            <a:custGeom>
              <a:avLst/>
              <a:gdLst/>
              <a:ahLst/>
              <a:cxnLst/>
              <a:rect r="r" b="b" t="t" l="l"/>
              <a:pathLst>
                <a:path h="1795656" w="1337579">
                  <a:moveTo>
                    <a:pt x="25915" y="0"/>
                  </a:moveTo>
                  <a:lnTo>
                    <a:pt x="1311664" y="0"/>
                  </a:lnTo>
                  <a:cubicBezTo>
                    <a:pt x="1325976" y="0"/>
                    <a:pt x="1337579" y="11603"/>
                    <a:pt x="1337579" y="25915"/>
                  </a:cubicBezTo>
                  <a:lnTo>
                    <a:pt x="1337579" y="1769741"/>
                  </a:lnTo>
                  <a:cubicBezTo>
                    <a:pt x="1337579" y="1784054"/>
                    <a:pt x="1325976" y="1795656"/>
                    <a:pt x="1311664" y="1795656"/>
                  </a:cubicBezTo>
                  <a:lnTo>
                    <a:pt x="25915" y="1795656"/>
                  </a:lnTo>
                  <a:cubicBezTo>
                    <a:pt x="11603" y="1795656"/>
                    <a:pt x="0" y="1784054"/>
                    <a:pt x="0" y="1769741"/>
                  </a:cubicBezTo>
                  <a:lnTo>
                    <a:pt x="0" y="25915"/>
                  </a:lnTo>
                  <a:cubicBezTo>
                    <a:pt x="0" y="11603"/>
                    <a:pt x="11603" y="0"/>
                    <a:pt x="25915" y="0"/>
                  </a:cubicBezTo>
                  <a:close/>
                </a:path>
              </a:pathLst>
            </a:custGeom>
            <a:solidFill>
              <a:srgbClr val="FFA6A5"/>
            </a:solidFill>
          </p:spPr>
        </p:sp>
        <p:sp>
          <p:nvSpPr>
            <p:cNvPr name="TextBox 20" id="20"/>
            <p:cNvSpPr txBox="true"/>
            <p:nvPr/>
          </p:nvSpPr>
          <p:spPr>
            <a:xfrm>
              <a:off x="0" y="-19050"/>
              <a:ext cx="1337579" cy="1814706"/>
            </a:xfrm>
            <a:prstGeom prst="rect">
              <a:avLst/>
            </a:prstGeom>
          </p:spPr>
          <p:txBody>
            <a:bodyPr anchor="ctr" rtlCol="false" tIns="50800" lIns="50800" bIns="50800" rIns="50800"/>
            <a:lstStyle/>
            <a:p>
              <a:pPr algn="ctr">
                <a:lnSpc>
                  <a:spcPts val="2070"/>
                </a:lnSpc>
              </a:pPr>
            </a:p>
          </p:txBody>
        </p:sp>
      </p:grpSp>
      <p:sp>
        <p:nvSpPr>
          <p:cNvPr name="TextBox 21" id="21"/>
          <p:cNvSpPr txBox="true"/>
          <p:nvPr/>
        </p:nvSpPr>
        <p:spPr>
          <a:xfrm rot="0">
            <a:off x="6812508" y="2863767"/>
            <a:ext cx="4496192" cy="6495058"/>
          </a:xfrm>
          <a:prstGeom prst="rect">
            <a:avLst/>
          </a:prstGeom>
        </p:spPr>
        <p:txBody>
          <a:bodyPr anchor="t" rtlCol="false" tIns="0" lIns="0" bIns="0" rIns="0">
            <a:spAutoFit/>
          </a:bodyPr>
          <a:lstStyle/>
          <a:p>
            <a:pPr algn="l">
              <a:lnSpc>
                <a:spcPts val="2168"/>
              </a:lnSpc>
            </a:pPr>
            <a:r>
              <a:rPr lang="en-US" sz="1721">
                <a:solidFill>
                  <a:srgbClr val="141414"/>
                </a:solidFill>
                <a:latin typeface="Arial"/>
                <a:ea typeface="Arial"/>
                <a:cs typeface="Arial"/>
                <a:sym typeface="Arial"/>
              </a:rPr>
              <a:t> •Constant-speed operation — VFD + speed feedback maintains the conveyor at a fixed belt speed despite continuously varying ore load.</a:t>
            </a:r>
          </a:p>
          <a:p>
            <a:pPr algn="l">
              <a:lnSpc>
                <a:spcPts val="2313"/>
              </a:lnSpc>
            </a:pPr>
          </a:p>
          <a:p>
            <a:pPr algn="l">
              <a:lnSpc>
                <a:spcPts val="2313"/>
              </a:lnSpc>
            </a:pPr>
            <a:r>
              <a:rPr lang="en-US" sz="1836">
                <a:solidFill>
                  <a:srgbClr val="141414"/>
                </a:solidFill>
                <a:latin typeface="Arial"/>
                <a:ea typeface="Arial"/>
                <a:cs typeface="Arial"/>
                <a:sym typeface="Arial"/>
              </a:rPr>
              <a:t>• Real-time load indication — Motor current rises with increasing torque demand; no direct mass measurement is required.</a:t>
            </a:r>
          </a:p>
          <a:p>
            <a:pPr algn="l">
              <a:lnSpc>
                <a:spcPts val="2168"/>
              </a:lnSpc>
            </a:pPr>
          </a:p>
          <a:p>
            <a:pPr algn="l">
              <a:lnSpc>
                <a:spcPts val="2313"/>
              </a:lnSpc>
            </a:pPr>
            <a:r>
              <a:rPr lang="en-US" sz="1836">
                <a:solidFill>
                  <a:srgbClr val="141414"/>
                </a:solidFill>
                <a:latin typeface="Arial"/>
                <a:ea typeface="Arial"/>
                <a:cs typeface="Arial"/>
                <a:sym typeface="Arial"/>
              </a:rPr>
              <a:t>• Fault detection — Persistent deviation between predicted and measured power/torque indicates abnormal friction, roller/bearing failure, belt misalignment or possible splice damage. </a:t>
            </a:r>
          </a:p>
          <a:p>
            <a:pPr algn="l">
              <a:lnSpc>
                <a:spcPts val="2313"/>
              </a:lnSpc>
            </a:pPr>
            <a:r>
              <a:rPr lang="en-US" sz="1836">
                <a:solidFill>
                  <a:srgbClr val="141414"/>
                </a:solidFill>
                <a:latin typeface="Arial"/>
                <a:ea typeface="Arial"/>
                <a:cs typeface="Arial"/>
                <a:sym typeface="Arial"/>
              </a:rPr>
              <a:t> </a:t>
            </a:r>
          </a:p>
          <a:p>
            <a:pPr algn="l">
              <a:lnSpc>
                <a:spcPts val="2313"/>
              </a:lnSpc>
            </a:pPr>
            <a:r>
              <a:rPr lang="en-US" sz="1836">
                <a:solidFill>
                  <a:srgbClr val="141414"/>
                </a:solidFill>
                <a:latin typeface="Arial"/>
                <a:ea typeface="Arial"/>
                <a:cs typeface="Arial"/>
                <a:sym typeface="Arial"/>
              </a:rPr>
              <a:t>•Torque-Based Load Monitoring</a:t>
            </a:r>
          </a:p>
          <a:p>
            <a:pPr algn="l">
              <a:lnSpc>
                <a:spcPts val="2313"/>
              </a:lnSpc>
            </a:pPr>
            <a:r>
              <a:rPr lang="en-US" sz="1836">
                <a:solidFill>
                  <a:srgbClr val="141414"/>
                </a:solidFill>
                <a:latin typeface="Arial"/>
                <a:ea typeface="Arial"/>
                <a:cs typeface="Arial"/>
                <a:sym typeface="Arial"/>
              </a:rPr>
              <a:t>Instead of directly measuring ore mass, estimate the required motor torque.</a:t>
            </a:r>
          </a:p>
          <a:p>
            <a:pPr algn="l">
              <a:lnSpc>
                <a:spcPts val="2313"/>
              </a:lnSpc>
            </a:pPr>
            <a:r>
              <a:rPr lang="en-US" sz="1836">
                <a:solidFill>
                  <a:srgbClr val="141414"/>
                </a:solidFill>
                <a:latin typeface="Arial"/>
                <a:ea typeface="Arial"/>
                <a:cs typeface="Arial"/>
                <a:sym typeface="Arial"/>
              </a:rPr>
              <a:t>Mechanical power: Pₘₑcₕ = T × ω</a:t>
            </a:r>
          </a:p>
          <a:p>
            <a:pPr algn="l">
              <a:lnSpc>
                <a:spcPts val="2313"/>
              </a:lnSpc>
            </a:pPr>
            <a:r>
              <a:rPr lang="en-US" sz="1836">
                <a:solidFill>
                  <a:srgbClr val="141414"/>
                </a:solidFill>
                <a:latin typeface="Arial"/>
                <a:ea typeface="Arial"/>
                <a:cs typeface="Arial"/>
                <a:sym typeface="Arial"/>
              </a:rPr>
              <a:t>At approximately constant speed, abnormal increase in required torque can indicate additional resistance.</a:t>
            </a:r>
          </a:p>
          <a:p>
            <a:pPr algn="l">
              <a:lnSpc>
                <a:spcPts val="2168"/>
              </a:lnSpc>
            </a:pPr>
          </a:p>
        </p:txBody>
      </p:sp>
      <p:grpSp>
        <p:nvGrpSpPr>
          <p:cNvPr name="Group 22" id="22"/>
          <p:cNvGrpSpPr/>
          <p:nvPr/>
        </p:nvGrpSpPr>
        <p:grpSpPr>
          <a:xfrm rot="0">
            <a:off x="240992" y="258251"/>
            <a:ext cx="1524352" cy="1524352"/>
            <a:chOff x="0" y="0"/>
            <a:chExt cx="2032470" cy="2032470"/>
          </a:xfrm>
        </p:grpSpPr>
        <p:sp>
          <p:nvSpPr>
            <p:cNvPr name="Freeform 23" id="23"/>
            <p:cNvSpPr/>
            <p:nvPr/>
          </p:nvSpPr>
          <p:spPr>
            <a:xfrm flipH="false" flipV="false" rot="0">
              <a:off x="0" y="0"/>
              <a:ext cx="2032508" cy="2032508"/>
            </a:xfrm>
            <a:custGeom>
              <a:avLst/>
              <a:gdLst/>
              <a:ahLst/>
              <a:cxnLst/>
              <a:rect r="r" b="b" t="t" l="l"/>
              <a:pathLst>
                <a:path h="2032508" w="2032508">
                  <a:moveTo>
                    <a:pt x="0" y="0"/>
                  </a:moveTo>
                  <a:lnTo>
                    <a:pt x="2032508" y="0"/>
                  </a:lnTo>
                  <a:lnTo>
                    <a:pt x="2032508" y="2032508"/>
                  </a:lnTo>
                  <a:lnTo>
                    <a:pt x="0" y="2032508"/>
                  </a:lnTo>
                  <a:lnTo>
                    <a:pt x="0" y="0"/>
                  </a:lnTo>
                  <a:close/>
                </a:path>
              </a:pathLst>
            </a:custGeom>
            <a:blipFill>
              <a:blip r:embed="rId5"/>
              <a:stretch>
                <a:fillRect l="0" t="0" r="1" b="1"/>
              </a:stretch>
            </a:blipFill>
          </p:spPr>
        </p:sp>
      </p:grpSp>
      <p:sp>
        <p:nvSpPr>
          <p:cNvPr name="TextBox 24" id="24"/>
          <p:cNvSpPr txBox="true"/>
          <p:nvPr/>
        </p:nvSpPr>
        <p:spPr>
          <a:xfrm rot="0">
            <a:off x="17544674" y="9630142"/>
            <a:ext cx="1000458" cy="519713"/>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4</a:t>
            </a:r>
          </a:p>
        </p:txBody>
      </p:sp>
      <p:grpSp>
        <p:nvGrpSpPr>
          <p:cNvPr name="Group 25" id="25"/>
          <p:cNvGrpSpPr/>
          <p:nvPr/>
        </p:nvGrpSpPr>
        <p:grpSpPr>
          <a:xfrm rot="0">
            <a:off x="12296242" y="2777437"/>
            <a:ext cx="5451996" cy="5100693"/>
            <a:chOff x="0" y="0"/>
            <a:chExt cx="1435917" cy="1343392"/>
          </a:xfrm>
        </p:grpSpPr>
        <p:sp>
          <p:nvSpPr>
            <p:cNvPr name="Freeform 26" id="26"/>
            <p:cNvSpPr/>
            <p:nvPr/>
          </p:nvSpPr>
          <p:spPr>
            <a:xfrm flipH="false" flipV="false" rot="0">
              <a:off x="0" y="0"/>
              <a:ext cx="1435917" cy="1343392"/>
            </a:xfrm>
            <a:custGeom>
              <a:avLst/>
              <a:gdLst/>
              <a:ahLst/>
              <a:cxnLst/>
              <a:rect r="r" b="b" t="t" l="l"/>
              <a:pathLst>
                <a:path h="1343392" w="1435917">
                  <a:moveTo>
                    <a:pt x="24140" y="0"/>
                  </a:moveTo>
                  <a:lnTo>
                    <a:pt x="1411776" y="0"/>
                  </a:lnTo>
                  <a:cubicBezTo>
                    <a:pt x="1418179" y="0"/>
                    <a:pt x="1424319" y="2543"/>
                    <a:pt x="1428846" y="7071"/>
                  </a:cubicBezTo>
                  <a:cubicBezTo>
                    <a:pt x="1433373" y="11598"/>
                    <a:pt x="1435917" y="17738"/>
                    <a:pt x="1435917" y="24140"/>
                  </a:cubicBezTo>
                  <a:lnTo>
                    <a:pt x="1435917" y="1319252"/>
                  </a:lnTo>
                  <a:cubicBezTo>
                    <a:pt x="1435917" y="1325655"/>
                    <a:pt x="1433373" y="1331795"/>
                    <a:pt x="1428846" y="1336322"/>
                  </a:cubicBezTo>
                  <a:cubicBezTo>
                    <a:pt x="1424319" y="1340849"/>
                    <a:pt x="1418179" y="1343392"/>
                    <a:pt x="1411776" y="1343392"/>
                  </a:cubicBezTo>
                  <a:lnTo>
                    <a:pt x="24140" y="1343392"/>
                  </a:lnTo>
                  <a:cubicBezTo>
                    <a:pt x="17738" y="1343392"/>
                    <a:pt x="11598" y="1340849"/>
                    <a:pt x="7071" y="1336322"/>
                  </a:cubicBezTo>
                  <a:cubicBezTo>
                    <a:pt x="2543" y="1331795"/>
                    <a:pt x="0" y="1325655"/>
                    <a:pt x="0" y="1319252"/>
                  </a:cubicBezTo>
                  <a:lnTo>
                    <a:pt x="0" y="24140"/>
                  </a:lnTo>
                  <a:cubicBezTo>
                    <a:pt x="0" y="17738"/>
                    <a:pt x="2543" y="11598"/>
                    <a:pt x="7071" y="7071"/>
                  </a:cubicBezTo>
                  <a:cubicBezTo>
                    <a:pt x="11598" y="2543"/>
                    <a:pt x="17738" y="0"/>
                    <a:pt x="24140" y="0"/>
                  </a:cubicBezTo>
                  <a:close/>
                </a:path>
              </a:pathLst>
            </a:custGeom>
            <a:solidFill>
              <a:srgbClr val="FFA6A5"/>
            </a:solidFill>
          </p:spPr>
        </p:sp>
        <p:sp>
          <p:nvSpPr>
            <p:cNvPr name="TextBox 27" id="27"/>
            <p:cNvSpPr txBox="true"/>
            <p:nvPr/>
          </p:nvSpPr>
          <p:spPr>
            <a:xfrm>
              <a:off x="0" y="-19050"/>
              <a:ext cx="1435917" cy="1362442"/>
            </a:xfrm>
            <a:prstGeom prst="rect">
              <a:avLst/>
            </a:prstGeom>
          </p:spPr>
          <p:txBody>
            <a:bodyPr anchor="ctr" rtlCol="false" tIns="50800" lIns="50800" bIns="50800" rIns="50800"/>
            <a:lstStyle/>
            <a:p>
              <a:pPr algn="ctr">
                <a:lnSpc>
                  <a:spcPts val="2070"/>
                </a:lnSpc>
              </a:pPr>
            </a:p>
          </p:txBody>
        </p:sp>
      </p:grpSp>
      <p:sp>
        <p:nvSpPr>
          <p:cNvPr name="TextBox 28" id="28"/>
          <p:cNvSpPr txBox="true"/>
          <p:nvPr/>
        </p:nvSpPr>
        <p:spPr>
          <a:xfrm rot="0">
            <a:off x="12477217" y="2433854"/>
            <a:ext cx="4829708" cy="7146596"/>
          </a:xfrm>
          <a:prstGeom prst="rect">
            <a:avLst/>
          </a:prstGeom>
        </p:spPr>
        <p:txBody>
          <a:bodyPr anchor="t" rtlCol="false" tIns="0" lIns="0" bIns="0" rIns="0">
            <a:spAutoFit/>
          </a:bodyPr>
          <a:lstStyle/>
          <a:p>
            <a:pPr algn="l">
              <a:lnSpc>
                <a:spcPts val="2282"/>
              </a:lnSpc>
            </a:pPr>
          </a:p>
          <a:p>
            <a:pPr algn="l">
              <a:lnSpc>
                <a:spcPts val="2282"/>
              </a:lnSpc>
            </a:pPr>
          </a:p>
          <a:p>
            <a:pPr algn="l">
              <a:lnSpc>
                <a:spcPts val="2282"/>
              </a:lnSpc>
            </a:pPr>
          </a:p>
          <a:p>
            <a:pPr algn="l" marL="416687" indent="-208344" lvl="1">
              <a:lnSpc>
                <a:spcPts val="2431"/>
              </a:lnSpc>
              <a:buFont typeface="Arial"/>
              <a:buChar char="•"/>
            </a:pPr>
            <a:r>
              <a:rPr lang="en-US" sz="1930">
                <a:solidFill>
                  <a:srgbClr val="141414"/>
                </a:solidFill>
                <a:latin typeface="Arial"/>
                <a:ea typeface="Arial"/>
                <a:cs typeface="Arial"/>
                <a:sym typeface="Arial"/>
              </a:rPr>
              <a:t>Supports faster emergency response through real-time alerts.</a:t>
            </a:r>
          </a:p>
          <a:p>
            <a:pPr algn="l" marL="416687" indent="-208344" lvl="1">
              <a:lnSpc>
                <a:spcPts val="2431"/>
              </a:lnSpc>
              <a:buFont typeface="Arial"/>
              <a:buChar char="•"/>
            </a:pPr>
            <a:r>
              <a:rPr lang="en-US" sz="1930">
                <a:solidFill>
                  <a:srgbClr val="141414"/>
                </a:solidFill>
                <a:latin typeface="Arial"/>
                <a:ea typeface="Arial"/>
                <a:cs typeface="Arial"/>
                <a:sym typeface="Arial"/>
              </a:rPr>
              <a:t>Creates opportunities for skilled technical jobs in AI and automation.</a:t>
            </a:r>
          </a:p>
          <a:p>
            <a:pPr algn="l" marL="416687" indent="-208344" lvl="1">
              <a:lnSpc>
                <a:spcPts val="2431"/>
              </a:lnSpc>
              <a:buFont typeface="Arial"/>
              <a:buChar char="•"/>
            </a:pPr>
            <a:r>
              <a:rPr lang="en-US" sz="1930">
                <a:solidFill>
                  <a:srgbClr val="141414"/>
                </a:solidFill>
                <a:latin typeface="Arial"/>
                <a:ea typeface="Arial"/>
                <a:cs typeface="Arial"/>
                <a:sym typeface="Arial"/>
              </a:rPr>
              <a:t> Reduces worker exposure to dangerous conveyor-belt inspection and maintenance.</a:t>
            </a:r>
          </a:p>
          <a:p>
            <a:pPr algn="l" marL="416687" indent="-208344" lvl="1">
              <a:lnSpc>
                <a:spcPts val="2431"/>
              </a:lnSpc>
              <a:buFont typeface="Arial"/>
              <a:buChar char="•"/>
            </a:pPr>
            <a:r>
              <a:rPr lang="en-US" sz="1930">
                <a:solidFill>
                  <a:srgbClr val="141414"/>
                </a:solidFill>
                <a:latin typeface="Arial"/>
                <a:ea typeface="Arial"/>
                <a:cs typeface="Arial"/>
                <a:sym typeface="Arial"/>
              </a:rPr>
              <a:t>Early-warning alerts let operators act before a rupture becomes serious.</a:t>
            </a:r>
          </a:p>
          <a:p>
            <a:pPr algn="l" marL="416687" indent="-208344" lvl="1">
              <a:lnSpc>
                <a:spcPts val="2431"/>
              </a:lnSpc>
              <a:buFont typeface="Arial"/>
              <a:buChar char="•"/>
            </a:pPr>
            <a:r>
              <a:rPr lang="en-US" sz="1930">
                <a:solidFill>
                  <a:srgbClr val="141414"/>
                </a:solidFill>
                <a:latin typeface="Arial"/>
                <a:ea typeface="Arial"/>
                <a:cs typeface="Arial"/>
                <a:sym typeface="Arial"/>
              </a:rPr>
              <a:t>Helps prevent production interruptions.</a:t>
            </a:r>
          </a:p>
          <a:p>
            <a:pPr algn="l" marL="416687" indent="-208344" lvl="1">
              <a:lnSpc>
                <a:spcPts val="2431"/>
              </a:lnSpc>
              <a:buFont typeface="Arial"/>
              <a:buChar char="•"/>
            </a:pPr>
            <a:r>
              <a:rPr lang="en-US" sz="1930">
                <a:solidFill>
                  <a:srgbClr val="141414"/>
                </a:solidFill>
                <a:latin typeface="Arial"/>
                <a:ea typeface="Arial"/>
                <a:cs typeface="Arial"/>
                <a:sym typeface="Arial"/>
              </a:rPr>
              <a:t>Locate the affected zone precisely.</a:t>
            </a:r>
          </a:p>
          <a:p>
            <a:pPr algn="l" marL="416687" indent="-208344" lvl="1">
              <a:lnSpc>
                <a:spcPts val="2431"/>
              </a:lnSpc>
              <a:buFont typeface="Arial"/>
              <a:buChar char="•"/>
            </a:pPr>
            <a:r>
              <a:rPr lang="en-US" sz="1930">
                <a:solidFill>
                  <a:srgbClr val="141414"/>
                </a:solidFill>
                <a:latin typeface="Arial"/>
                <a:ea typeface="Arial"/>
                <a:cs typeface="Arial"/>
                <a:sym typeface="Arial"/>
              </a:rPr>
              <a:t>Less unplanned downtime – improves the reliability of critical material-transport infrastructure.</a:t>
            </a:r>
          </a:p>
          <a:p>
            <a:pPr algn="l">
              <a:lnSpc>
                <a:spcPts val="2431"/>
              </a:lnSpc>
            </a:pPr>
          </a:p>
          <a:p>
            <a:pPr algn="l">
              <a:lnSpc>
                <a:spcPts val="2431"/>
              </a:lnSpc>
            </a:pPr>
          </a:p>
          <a:p>
            <a:pPr algn="l">
              <a:lnSpc>
                <a:spcPts val="2431"/>
              </a:lnSpc>
            </a:pPr>
          </a:p>
          <a:p>
            <a:pPr algn="l">
              <a:lnSpc>
                <a:spcPts val="2431"/>
              </a:lnSpc>
            </a:pPr>
          </a:p>
          <a:p>
            <a:pPr algn="l">
              <a:lnSpc>
                <a:spcPts val="2431"/>
              </a:lnSpc>
            </a:pPr>
          </a:p>
          <a:p>
            <a:pPr algn="l">
              <a:lnSpc>
                <a:spcPts val="2282"/>
              </a:lnSpc>
            </a:pPr>
          </a:p>
          <a:p>
            <a:pPr algn="l">
              <a:lnSpc>
                <a:spcPts val="228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9274" y="-195172"/>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3">
                <a:alphaModFix amt="0"/>
              </a:blip>
              <a:stretch>
                <a:fillRect l="0" t="-104573" r="0" b="-104573"/>
              </a:stretch>
            </a:blipFill>
          </p:spPr>
        </p:sp>
        <p:sp>
          <p:nvSpPr>
            <p:cNvPr name="TextBox 4" id="4"/>
            <p:cNvSpPr txBox="true"/>
            <p:nvPr/>
          </p:nvSpPr>
          <p:spPr>
            <a:xfrm>
              <a:off x="0" y="-28575"/>
              <a:ext cx="21031200" cy="2679700"/>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IMPACT AND BENEFITS</a:t>
              </a:r>
            </a:p>
          </p:txBody>
        </p:sp>
      </p:grpSp>
      <p:grpSp>
        <p:nvGrpSpPr>
          <p:cNvPr name="Group 5" id="5"/>
          <p:cNvGrpSpPr/>
          <p:nvPr/>
        </p:nvGrpSpPr>
        <p:grpSpPr>
          <a:xfrm rot="0">
            <a:off x="14670129" y="2248"/>
            <a:ext cx="3374774" cy="1593504"/>
            <a:chOff x="0" y="0"/>
            <a:chExt cx="4499699" cy="2124672"/>
          </a:xfrm>
        </p:grpSpPr>
        <p:sp>
          <p:nvSpPr>
            <p:cNvPr name="Freeform 6" id="6"/>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grpSp>
        <p:nvGrpSpPr>
          <p:cNvPr name="Group 7" id="7"/>
          <p:cNvGrpSpPr/>
          <p:nvPr/>
        </p:nvGrpSpPr>
        <p:grpSpPr>
          <a:xfrm rot="0">
            <a:off x="794140" y="1881378"/>
            <a:ext cx="3225833" cy="598932"/>
            <a:chOff x="0" y="0"/>
            <a:chExt cx="4301111" cy="798576"/>
          </a:xfrm>
        </p:grpSpPr>
        <p:sp>
          <p:nvSpPr>
            <p:cNvPr name="Freeform 8" id="8"/>
            <p:cNvSpPr/>
            <p:nvPr/>
          </p:nvSpPr>
          <p:spPr>
            <a:xfrm flipH="false" flipV="false" rot="0">
              <a:off x="0" y="0"/>
              <a:ext cx="4301111" cy="798576"/>
            </a:xfrm>
            <a:custGeom>
              <a:avLst/>
              <a:gdLst/>
              <a:ahLst/>
              <a:cxnLst/>
              <a:rect r="r" b="b" t="t" l="l"/>
              <a:pathLst>
                <a:path h="798576" w="4301111">
                  <a:moveTo>
                    <a:pt x="0" y="133096"/>
                  </a:moveTo>
                  <a:cubicBezTo>
                    <a:pt x="0" y="59563"/>
                    <a:pt x="64655" y="0"/>
                    <a:pt x="144473" y="0"/>
                  </a:cubicBezTo>
                  <a:lnTo>
                    <a:pt x="4156637" y="0"/>
                  </a:lnTo>
                  <a:cubicBezTo>
                    <a:pt x="4236456" y="0"/>
                    <a:pt x="4301111" y="59563"/>
                    <a:pt x="4301111" y="133096"/>
                  </a:cubicBezTo>
                  <a:lnTo>
                    <a:pt x="4301111" y="665480"/>
                  </a:lnTo>
                  <a:cubicBezTo>
                    <a:pt x="4301111" y="739013"/>
                    <a:pt x="4236456" y="798576"/>
                    <a:pt x="4156637" y="798576"/>
                  </a:cubicBezTo>
                  <a:lnTo>
                    <a:pt x="144473" y="798576"/>
                  </a:lnTo>
                  <a:cubicBezTo>
                    <a:pt x="64655" y="798576"/>
                    <a:pt x="0" y="739013"/>
                    <a:pt x="0" y="665480"/>
                  </a:cubicBezTo>
                  <a:close/>
                </a:path>
              </a:pathLst>
            </a:custGeom>
            <a:solidFill>
              <a:srgbClr val="0070C0"/>
            </a:solidFill>
            <a:ln w="22860" cap="sq">
              <a:solidFill>
                <a:srgbClr val="0070C0"/>
              </a:solidFill>
              <a:prstDash val="solid"/>
              <a:miter/>
            </a:ln>
          </p:spPr>
        </p:sp>
      </p:grpSp>
      <p:grpSp>
        <p:nvGrpSpPr>
          <p:cNvPr name="Group 9" id="9"/>
          <p:cNvGrpSpPr/>
          <p:nvPr/>
        </p:nvGrpSpPr>
        <p:grpSpPr>
          <a:xfrm rot="0">
            <a:off x="925655" y="1906524"/>
            <a:ext cx="2977692" cy="551603"/>
            <a:chOff x="0" y="0"/>
            <a:chExt cx="3970256" cy="735471"/>
          </a:xfrm>
        </p:grpSpPr>
        <p:sp>
          <p:nvSpPr>
            <p:cNvPr name="Freeform 10" id="10"/>
            <p:cNvSpPr/>
            <p:nvPr/>
          </p:nvSpPr>
          <p:spPr>
            <a:xfrm flipH="false" flipV="false" rot="0">
              <a:off x="0" y="0"/>
              <a:ext cx="3970256" cy="735471"/>
            </a:xfrm>
            <a:custGeom>
              <a:avLst/>
              <a:gdLst/>
              <a:ahLst/>
              <a:cxnLst/>
              <a:rect r="r" b="b" t="t" l="l"/>
              <a:pathLst>
                <a:path h="735471" w="3970256">
                  <a:moveTo>
                    <a:pt x="0" y="0"/>
                  </a:moveTo>
                  <a:lnTo>
                    <a:pt x="3970256" y="0"/>
                  </a:lnTo>
                  <a:lnTo>
                    <a:pt x="3970256" y="735471"/>
                  </a:lnTo>
                  <a:lnTo>
                    <a:pt x="0" y="735471"/>
                  </a:lnTo>
                  <a:close/>
                </a:path>
              </a:pathLst>
            </a:custGeom>
            <a:solidFill>
              <a:srgbClr val="E6B9B8"/>
            </a:solidFill>
            <a:ln cap="sq">
              <a:noFill/>
              <a:prstDash val="solid"/>
              <a:miter/>
            </a:ln>
          </p:spPr>
        </p:sp>
        <p:sp>
          <p:nvSpPr>
            <p:cNvPr name="TextBox 11" id="11"/>
            <p:cNvSpPr txBox="true"/>
            <p:nvPr/>
          </p:nvSpPr>
          <p:spPr>
            <a:xfrm>
              <a:off x="0" y="0"/>
              <a:ext cx="3970256" cy="735471"/>
            </a:xfrm>
            <a:prstGeom prst="rect">
              <a:avLst/>
            </a:prstGeom>
          </p:spPr>
          <p:txBody>
            <a:bodyPr anchor="ctr" rtlCol="false" tIns="50800" lIns="50800" bIns="50800" rIns="50800"/>
            <a:lstStyle/>
            <a:p>
              <a:pPr algn="ctr">
                <a:lnSpc>
                  <a:spcPts val="3059"/>
                </a:lnSpc>
              </a:pPr>
              <a:r>
                <a:rPr lang="en-US" sz="2549" b="true">
                  <a:solidFill>
                    <a:srgbClr val="FFFFFF"/>
                  </a:solidFill>
                  <a:latin typeface="Aptos Bold"/>
                  <a:ea typeface="Aptos Bold"/>
                  <a:cs typeface="Aptos Bold"/>
                  <a:sym typeface="Aptos Bold"/>
                </a:rPr>
                <a:t>IMPACT FLOW</a:t>
              </a:r>
            </a:p>
          </p:txBody>
        </p:sp>
      </p:grpSp>
      <p:grpSp>
        <p:nvGrpSpPr>
          <p:cNvPr name="Group 12" id="12"/>
          <p:cNvGrpSpPr/>
          <p:nvPr/>
        </p:nvGrpSpPr>
        <p:grpSpPr>
          <a:xfrm rot="0">
            <a:off x="794140" y="2970017"/>
            <a:ext cx="2734514" cy="2122890"/>
            <a:chOff x="0" y="0"/>
            <a:chExt cx="3646019" cy="2830521"/>
          </a:xfrm>
        </p:grpSpPr>
        <p:sp>
          <p:nvSpPr>
            <p:cNvPr name="Freeform 13" id="13"/>
            <p:cNvSpPr/>
            <p:nvPr/>
          </p:nvSpPr>
          <p:spPr>
            <a:xfrm flipH="false" flipV="false" rot="0">
              <a:off x="0" y="0"/>
              <a:ext cx="3646019" cy="2830520"/>
            </a:xfrm>
            <a:custGeom>
              <a:avLst/>
              <a:gdLst/>
              <a:ahLst/>
              <a:cxnLst/>
              <a:rect r="r" b="b" t="t" l="l"/>
              <a:pathLst>
                <a:path h="2830520" w="3646019">
                  <a:moveTo>
                    <a:pt x="0" y="471753"/>
                  </a:moveTo>
                  <a:cubicBezTo>
                    <a:pt x="0" y="211203"/>
                    <a:pt x="187622" y="0"/>
                    <a:pt x="419083" y="0"/>
                  </a:cubicBezTo>
                  <a:lnTo>
                    <a:pt x="3226936" y="0"/>
                  </a:lnTo>
                  <a:cubicBezTo>
                    <a:pt x="3458397" y="0"/>
                    <a:pt x="3646019" y="211203"/>
                    <a:pt x="3646019" y="471753"/>
                  </a:cubicBezTo>
                  <a:lnTo>
                    <a:pt x="3646019" y="2358767"/>
                  </a:lnTo>
                  <a:cubicBezTo>
                    <a:pt x="3646019" y="2619318"/>
                    <a:pt x="3458396" y="2830520"/>
                    <a:pt x="3226936" y="2830520"/>
                  </a:cubicBezTo>
                  <a:lnTo>
                    <a:pt x="419083" y="2830520"/>
                  </a:lnTo>
                  <a:cubicBezTo>
                    <a:pt x="187622" y="2830520"/>
                    <a:pt x="0" y="2619318"/>
                    <a:pt x="0" y="2358767"/>
                  </a:cubicBezTo>
                  <a:close/>
                </a:path>
              </a:pathLst>
            </a:custGeom>
            <a:solidFill>
              <a:srgbClr val="DDEBF7"/>
            </a:solidFill>
            <a:ln w="22860" cap="sq">
              <a:solidFill>
                <a:srgbClr val="0070C0"/>
              </a:solidFill>
              <a:prstDash val="solid"/>
              <a:miter/>
            </a:ln>
          </p:spPr>
        </p:sp>
      </p:grpSp>
      <p:grpSp>
        <p:nvGrpSpPr>
          <p:cNvPr name="Group 14" id="14"/>
          <p:cNvGrpSpPr/>
          <p:nvPr/>
        </p:nvGrpSpPr>
        <p:grpSpPr>
          <a:xfrm rot="0">
            <a:off x="1206675" y="2986032"/>
            <a:ext cx="1846169" cy="851808"/>
            <a:chOff x="0" y="0"/>
            <a:chExt cx="2461559" cy="1135744"/>
          </a:xfrm>
        </p:grpSpPr>
        <p:sp>
          <p:nvSpPr>
            <p:cNvPr name="Freeform 15" id="15"/>
            <p:cNvSpPr/>
            <p:nvPr/>
          </p:nvSpPr>
          <p:spPr>
            <a:xfrm flipH="false" flipV="false" rot="0">
              <a:off x="0" y="0"/>
              <a:ext cx="2461559" cy="1135742"/>
            </a:xfrm>
            <a:custGeom>
              <a:avLst/>
              <a:gdLst/>
              <a:ahLst/>
              <a:cxnLst/>
              <a:rect r="r" b="b" t="t" l="l"/>
              <a:pathLst>
                <a:path h="1135742" w="2461559">
                  <a:moveTo>
                    <a:pt x="0" y="0"/>
                  </a:moveTo>
                  <a:lnTo>
                    <a:pt x="2461559" y="0"/>
                  </a:lnTo>
                  <a:lnTo>
                    <a:pt x="2461559" y="1135742"/>
                  </a:lnTo>
                  <a:lnTo>
                    <a:pt x="0" y="1135742"/>
                  </a:lnTo>
                  <a:close/>
                </a:path>
              </a:pathLst>
            </a:custGeom>
            <a:blipFill>
              <a:blip r:embed="rId3">
                <a:alphaModFix amt="0"/>
              </a:blip>
              <a:stretch>
                <a:fillRect l="-2385" t="0" r="5489" b="18160"/>
              </a:stretch>
            </a:blipFill>
          </p:spPr>
        </p:sp>
        <p:sp>
          <p:nvSpPr>
            <p:cNvPr name="TextBox 16" id="16"/>
            <p:cNvSpPr txBox="true"/>
            <p:nvPr/>
          </p:nvSpPr>
          <p:spPr>
            <a:xfrm>
              <a:off x="0" y="-9525"/>
              <a:ext cx="2461559" cy="1145269"/>
            </a:xfrm>
            <a:prstGeom prst="rect">
              <a:avLst/>
            </a:prstGeom>
          </p:spPr>
          <p:txBody>
            <a:bodyPr anchor="ctr" rtlCol="false" tIns="0" lIns="0" bIns="0" rIns="0"/>
            <a:lstStyle/>
            <a:p>
              <a:pPr algn="l" marL="366473" indent="-183237" lvl="1">
                <a:lnSpc>
                  <a:spcPts val="2429"/>
                </a:lnSpc>
                <a:buAutoNum type="arabicPeriod" startAt="1"/>
              </a:pPr>
              <a:r>
                <a:rPr lang="en-US" b="true" sz="2024">
                  <a:solidFill>
                    <a:srgbClr val="0070C0"/>
                  </a:solidFill>
                  <a:latin typeface="Arial Bold"/>
                  <a:ea typeface="Arial Bold"/>
                  <a:cs typeface="Arial Bold"/>
                  <a:sym typeface="Arial Bold"/>
                </a:rPr>
                <a:t>SENSING</a:t>
              </a:r>
            </a:p>
          </p:txBody>
        </p:sp>
      </p:grpSp>
      <p:grpSp>
        <p:nvGrpSpPr>
          <p:cNvPr name="Group 17" id="17"/>
          <p:cNvGrpSpPr/>
          <p:nvPr/>
        </p:nvGrpSpPr>
        <p:grpSpPr>
          <a:xfrm rot="0">
            <a:off x="955432" y="3788447"/>
            <a:ext cx="2411931" cy="1219810"/>
            <a:chOff x="0" y="0"/>
            <a:chExt cx="3215907" cy="1626413"/>
          </a:xfrm>
        </p:grpSpPr>
        <p:sp>
          <p:nvSpPr>
            <p:cNvPr name="Freeform 18" id="18"/>
            <p:cNvSpPr/>
            <p:nvPr/>
          </p:nvSpPr>
          <p:spPr>
            <a:xfrm flipH="false" flipV="false" rot="0">
              <a:off x="0" y="0"/>
              <a:ext cx="3215907" cy="1626413"/>
            </a:xfrm>
            <a:custGeom>
              <a:avLst/>
              <a:gdLst/>
              <a:ahLst/>
              <a:cxnLst/>
              <a:rect r="r" b="b" t="t" l="l"/>
              <a:pathLst>
                <a:path h="1626413" w="3215907">
                  <a:moveTo>
                    <a:pt x="0" y="0"/>
                  </a:moveTo>
                  <a:lnTo>
                    <a:pt x="3215907" y="0"/>
                  </a:lnTo>
                  <a:lnTo>
                    <a:pt x="3215907" y="1626413"/>
                  </a:lnTo>
                  <a:lnTo>
                    <a:pt x="0" y="1626413"/>
                  </a:lnTo>
                  <a:close/>
                </a:path>
              </a:pathLst>
            </a:custGeom>
            <a:blipFill>
              <a:blip r:embed="rId3">
                <a:alphaModFix amt="0"/>
              </a:blip>
              <a:stretch>
                <a:fillRect l="0" t="-636" r="7874" b="29648"/>
              </a:stretch>
            </a:blipFill>
          </p:spPr>
        </p:sp>
        <p:sp>
          <p:nvSpPr>
            <p:cNvPr name="TextBox 19" id="19"/>
            <p:cNvSpPr txBox="true"/>
            <p:nvPr/>
          </p:nvSpPr>
          <p:spPr>
            <a:xfrm>
              <a:off x="0" y="-19050"/>
              <a:ext cx="3215907" cy="1645463"/>
            </a:xfrm>
            <a:prstGeom prst="rect">
              <a:avLst/>
            </a:prstGeom>
          </p:spPr>
          <p:txBody>
            <a:bodyPr anchor="ctr" rtlCol="false" tIns="0" lIns="0" bIns="0" rIns="0"/>
            <a:lstStyle/>
            <a:p>
              <a:pPr algn="ctr">
                <a:lnSpc>
                  <a:spcPts val="2194"/>
                </a:lnSpc>
              </a:pPr>
              <a:r>
                <a:rPr lang="en-US" sz="1828">
                  <a:solidFill>
                    <a:srgbClr val="1F374B"/>
                  </a:solidFill>
                  <a:latin typeface="Arial"/>
                  <a:ea typeface="Arial"/>
                  <a:cs typeface="Arial"/>
                  <a:sym typeface="Arial"/>
                </a:rPr>
                <a:t>Measures Electric load on motor,torque, temperature, alignment (rip/tracking), and load. </a:t>
              </a:r>
            </a:p>
          </p:txBody>
        </p:sp>
      </p:grpSp>
      <p:grpSp>
        <p:nvGrpSpPr>
          <p:cNvPr name="Group 20" id="20"/>
          <p:cNvGrpSpPr/>
          <p:nvPr/>
        </p:nvGrpSpPr>
        <p:grpSpPr>
          <a:xfrm rot="0">
            <a:off x="3530825" y="3762959"/>
            <a:ext cx="164393" cy="520248"/>
            <a:chOff x="0" y="0"/>
            <a:chExt cx="219191" cy="693664"/>
          </a:xfrm>
        </p:grpSpPr>
        <p:sp>
          <p:nvSpPr>
            <p:cNvPr name="Freeform 21" id="21"/>
            <p:cNvSpPr/>
            <p:nvPr/>
          </p:nvSpPr>
          <p:spPr>
            <a:xfrm flipH="false" flipV="false" rot="0">
              <a:off x="0" y="0"/>
              <a:ext cx="219191" cy="693664"/>
            </a:xfrm>
            <a:custGeom>
              <a:avLst/>
              <a:gdLst/>
              <a:ahLst/>
              <a:cxnLst/>
              <a:rect r="r" b="b" t="t" l="l"/>
              <a:pathLst>
                <a:path h="693664" w="219191">
                  <a:moveTo>
                    <a:pt x="0" y="173338"/>
                  </a:moveTo>
                  <a:lnTo>
                    <a:pt x="109596" y="173338"/>
                  </a:lnTo>
                  <a:lnTo>
                    <a:pt x="109596" y="0"/>
                  </a:lnTo>
                  <a:lnTo>
                    <a:pt x="219191" y="346832"/>
                  </a:lnTo>
                  <a:lnTo>
                    <a:pt x="109596" y="693664"/>
                  </a:lnTo>
                  <a:lnTo>
                    <a:pt x="109596" y="520170"/>
                  </a:lnTo>
                  <a:lnTo>
                    <a:pt x="0" y="520170"/>
                  </a:lnTo>
                  <a:close/>
                </a:path>
              </a:pathLst>
            </a:custGeom>
            <a:solidFill>
              <a:srgbClr val="595959"/>
            </a:solidFill>
            <a:ln w="14288" cap="sq">
              <a:solidFill>
                <a:srgbClr val="595959"/>
              </a:solidFill>
              <a:prstDash val="solid"/>
              <a:miter/>
            </a:ln>
          </p:spPr>
        </p:sp>
      </p:grpSp>
      <p:grpSp>
        <p:nvGrpSpPr>
          <p:cNvPr name="Group 22" id="22"/>
          <p:cNvGrpSpPr/>
          <p:nvPr/>
        </p:nvGrpSpPr>
        <p:grpSpPr>
          <a:xfrm rot="0">
            <a:off x="3697390" y="2970017"/>
            <a:ext cx="2734514" cy="2122890"/>
            <a:chOff x="0" y="0"/>
            <a:chExt cx="3646019" cy="2830521"/>
          </a:xfrm>
        </p:grpSpPr>
        <p:sp>
          <p:nvSpPr>
            <p:cNvPr name="Freeform 23" id="23"/>
            <p:cNvSpPr/>
            <p:nvPr/>
          </p:nvSpPr>
          <p:spPr>
            <a:xfrm flipH="false" flipV="false" rot="0">
              <a:off x="0" y="0"/>
              <a:ext cx="3646019" cy="2830520"/>
            </a:xfrm>
            <a:custGeom>
              <a:avLst/>
              <a:gdLst/>
              <a:ahLst/>
              <a:cxnLst/>
              <a:rect r="r" b="b" t="t" l="l"/>
              <a:pathLst>
                <a:path h="2830520" w="3646019">
                  <a:moveTo>
                    <a:pt x="0" y="471753"/>
                  </a:moveTo>
                  <a:cubicBezTo>
                    <a:pt x="0" y="211203"/>
                    <a:pt x="187622" y="0"/>
                    <a:pt x="419083" y="0"/>
                  </a:cubicBezTo>
                  <a:lnTo>
                    <a:pt x="3226936" y="0"/>
                  </a:lnTo>
                  <a:cubicBezTo>
                    <a:pt x="3458397" y="0"/>
                    <a:pt x="3646019" y="211203"/>
                    <a:pt x="3646019" y="471753"/>
                  </a:cubicBezTo>
                  <a:lnTo>
                    <a:pt x="3646019" y="2358767"/>
                  </a:lnTo>
                  <a:cubicBezTo>
                    <a:pt x="3646019" y="2619318"/>
                    <a:pt x="3458396" y="2830520"/>
                    <a:pt x="3226936" y="2830520"/>
                  </a:cubicBezTo>
                  <a:lnTo>
                    <a:pt x="419083" y="2830520"/>
                  </a:lnTo>
                  <a:cubicBezTo>
                    <a:pt x="187622" y="2830520"/>
                    <a:pt x="0" y="2619318"/>
                    <a:pt x="0" y="2358767"/>
                  </a:cubicBezTo>
                  <a:close/>
                </a:path>
              </a:pathLst>
            </a:custGeom>
            <a:solidFill>
              <a:srgbClr val="DDEBF7"/>
            </a:solidFill>
            <a:ln w="22860" cap="sq">
              <a:solidFill>
                <a:srgbClr val="4472C4"/>
              </a:solidFill>
              <a:prstDash val="solid"/>
              <a:miter/>
            </a:ln>
          </p:spPr>
        </p:sp>
      </p:grpSp>
      <p:grpSp>
        <p:nvGrpSpPr>
          <p:cNvPr name="Group 24" id="24"/>
          <p:cNvGrpSpPr/>
          <p:nvPr/>
        </p:nvGrpSpPr>
        <p:grpSpPr>
          <a:xfrm rot="0">
            <a:off x="3858682" y="3071762"/>
            <a:ext cx="2903250" cy="851808"/>
            <a:chOff x="0" y="0"/>
            <a:chExt cx="3871000" cy="1135744"/>
          </a:xfrm>
        </p:grpSpPr>
        <p:sp>
          <p:nvSpPr>
            <p:cNvPr name="Freeform 25" id="25"/>
            <p:cNvSpPr/>
            <p:nvPr/>
          </p:nvSpPr>
          <p:spPr>
            <a:xfrm flipH="false" flipV="false" rot="0">
              <a:off x="0" y="0"/>
              <a:ext cx="3871000" cy="1135742"/>
            </a:xfrm>
            <a:custGeom>
              <a:avLst/>
              <a:gdLst/>
              <a:ahLst/>
              <a:cxnLst/>
              <a:rect r="r" b="b" t="t" l="l"/>
              <a:pathLst>
                <a:path h="1135742" w="3871000">
                  <a:moveTo>
                    <a:pt x="0" y="0"/>
                  </a:moveTo>
                  <a:lnTo>
                    <a:pt x="3871000" y="0"/>
                  </a:lnTo>
                  <a:lnTo>
                    <a:pt x="3871000" y="1135742"/>
                  </a:lnTo>
                  <a:lnTo>
                    <a:pt x="0" y="1135742"/>
                  </a:lnTo>
                  <a:close/>
                </a:path>
              </a:pathLst>
            </a:custGeom>
            <a:blipFill>
              <a:blip r:embed="rId3">
                <a:alphaModFix amt="0"/>
              </a:blip>
              <a:stretch>
                <a:fillRect l="0" t="-13516" r="18032" b="4644"/>
              </a:stretch>
            </a:blipFill>
          </p:spPr>
        </p:sp>
        <p:sp>
          <p:nvSpPr>
            <p:cNvPr name="TextBox 26" id="26"/>
            <p:cNvSpPr txBox="true"/>
            <p:nvPr/>
          </p:nvSpPr>
          <p:spPr>
            <a:xfrm>
              <a:off x="0" y="-9525"/>
              <a:ext cx="3871000" cy="1145269"/>
            </a:xfrm>
            <a:prstGeom prst="rect">
              <a:avLst/>
            </a:prstGeom>
          </p:spPr>
          <p:txBody>
            <a:bodyPr anchor="ctr" rtlCol="false" tIns="0" lIns="0" bIns="0" rIns="0"/>
            <a:lstStyle/>
            <a:p>
              <a:pPr algn="l">
                <a:lnSpc>
                  <a:spcPts val="2429"/>
                </a:lnSpc>
              </a:pPr>
              <a:r>
                <a:rPr lang="en-US" sz="2024" b="true">
                  <a:solidFill>
                    <a:srgbClr val="4472C4"/>
                  </a:solidFill>
                  <a:latin typeface="Arial Bold"/>
                  <a:ea typeface="Arial Bold"/>
                  <a:cs typeface="Arial Bold"/>
                  <a:sym typeface="Arial Bold"/>
                </a:rPr>
                <a:t>2.IoT Data Acquisition</a:t>
              </a:r>
            </a:p>
          </p:txBody>
        </p:sp>
      </p:grpSp>
      <p:grpSp>
        <p:nvGrpSpPr>
          <p:cNvPr name="Group 27" id="27"/>
          <p:cNvGrpSpPr/>
          <p:nvPr/>
        </p:nvGrpSpPr>
        <p:grpSpPr>
          <a:xfrm rot="0">
            <a:off x="3858682" y="3788447"/>
            <a:ext cx="2411931" cy="1039099"/>
            <a:chOff x="0" y="0"/>
            <a:chExt cx="3215907" cy="1385465"/>
          </a:xfrm>
        </p:grpSpPr>
        <p:sp>
          <p:nvSpPr>
            <p:cNvPr name="Freeform 28" id="28"/>
            <p:cNvSpPr/>
            <p:nvPr/>
          </p:nvSpPr>
          <p:spPr>
            <a:xfrm flipH="false" flipV="false" rot="0">
              <a:off x="0" y="0"/>
              <a:ext cx="3215907" cy="1385465"/>
            </a:xfrm>
            <a:custGeom>
              <a:avLst/>
              <a:gdLst/>
              <a:ahLst/>
              <a:cxnLst/>
              <a:rect r="r" b="b" t="t" l="l"/>
              <a:pathLst>
                <a:path h="1385465" w="3215907">
                  <a:moveTo>
                    <a:pt x="0" y="0"/>
                  </a:moveTo>
                  <a:lnTo>
                    <a:pt x="3215907" y="0"/>
                  </a:lnTo>
                  <a:lnTo>
                    <a:pt x="3215907" y="1385465"/>
                  </a:lnTo>
                  <a:lnTo>
                    <a:pt x="0" y="1385465"/>
                  </a:lnTo>
                  <a:close/>
                </a:path>
              </a:pathLst>
            </a:custGeom>
            <a:blipFill>
              <a:blip r:embed="rId3">
                <a:alphaModFix amt="0"/>
              </a:blip>
              <a:stretch>
                <a:fillRect l="0" t="-746" r="7874" b="17413"/>
              </a:stretch>
            </a:blipFill>
          </p:spPr>
        </p:sp>
        <p:sp>
          <p:nvSpPr>
            <p:cNvPr name="TextBox 29" id="29"/>
            <p:cNvSpPr txBox="true"/>
            <p:nvPr/>
          </p:nvSpPr>
          <p:spPr>
            <a:xfrm>
              <a:off x="0" y="-19050"/>
              <a:ext cx="3215907" cy="1404515"/>
            </a:xfrm>
            <a:prstGeom prst="rect">
              <a:avLst/>
            </a:prstGeom>
          </p:spPr>
          <p:txBody>
            <a:bodyPr anchor="ctr" rtlCol="false" tIns="0" lIns="0" bIns="0" rIns="0"/>
            <a:lstStyle/>
            <a:p>
              <a:pPr algn="ctr">
                <a:lnSpc>
                  <a:spcPts val="2194"/>
                </a:lnSpc>
              </a:pPr>
              <a:r>
                <a:rPr lang="en-US" sz="1828">
                  <a:solidFill>
                    <a:srgbClr val="1F374B"/>
                  </a:solidFill>
                  <a:latin typeface="Arial"/>
                  <a:ea typeface="Arial"/>
                  <a:cs typeface="Arial"/>
                  <a:sym typeface="Arial"/>
                </a:rPr>
                <a:t>Real-time signal digitization and transmission.</a:t>
              </a:r>
            </a:p>
          </p:txBody>
        </p:sp>
      </p:grpSp>
      <p:grpSp>
        <p:nvGrpSpPr>
          <p:cNvPr name="Group 30" id="30"/>
          <p:cNvGrpSpPr/>
          <p:nvPr/>
        </p:nvGrpSpPr>
        <p:grpSpPr>
          <a:xfrm rot="0">
            <a:off x="6434075" y="3762959"/>
            <a:ext cx="164393" cy="520248"/>
            <a:chOff x="0" y="0"/>
            <a:chExt cx="219191" cy="693664"/>
          </a:xfrm>
        </p:grpSpPr>
        <p:sp>
          <p:nvSpPr>
            <p:cNvPr name="Freeform 31" id="31"/>
            <p:cNvSpPr/>
            <p:nvPr/>
          </p:nvSpPr>
          <p:spPr>
            <a:xfrm flipH="false" flipV="false" rot="0">
              <a:off x="0" y="0"/>
              <a:ext cx="219191" cy="693664"/>
            </a:xfrm>
            <a:custGeom>
              <a:avLst/>
              <a:gdLst/>
              <a:ahLst/>
              <a:cxnLst/>
              <a:rect r="r" b="b" t="t" l="l"/>
              <a:pathLst>
                <a:path h="693664" w="219191">
                  <a:moveTo>
                    <a:pt x="0" y="173338"/>
                  </a:moveTo>
                  <a:lnTo>
                    <a:pt x="109596" y="173338"/>
                  </a:lnTo>
                  <a:lnTo>
                    <a:pt x="109596" y="0"/>
                  </a:lnTo>
                  <a:lnTo>
                    <a:pt x="219191" y="346832"/>
                  </a:lnTo>
                  <a:lnTo>
                    <a:pt x="109596" y="693664"/>
                  </a:lnTo>
                  <a:lnTo>
                    <a:pt x="109596" y="520170"/>
                  </a:lnTo>
                  <a:lnTo>
                    <a:pt x="0" y="520170"/>
                  </a:lnTo>
                  <a:close/>
                </a:path>
              </a:pathLst>
            </a:custGeom>
            <a:solidFill>
              <a:srgbClr val="595959"/>
            </a:solidFill>
            <a:ln w="14288" cap="sq">
              <a:solidFill>
                <a:srgbClr val="595959"/>
              </a:solidFill>
              <a:prstDash val="solid"/>
              <a:miter/>
            </a:ln>
          </p:spPr>
        </p:sp>
      </p:grpSp>
      <p:grpSp>
        <p:nvGrpSpPr>
          <p:cNvPr name="Group 32" id="32"/>
          <p:cNvGrpSpPr/>
          <p:nvPr/>
        </p:nvGrpSpPr>
        <p:grpSpPr>
          <a:xfrm rot="0">
            <a:off x="6600640" y="2970017"/>
            <a:ext cx="2734514" cy="2122890"/>
            <a:chOff x="0" y="0"/>
            <a:chExt cx="3646019" cy="2830521"/>
          </a:xfrm>
        </p:grpSpPr>
        <p:sp>
          <p:nvSpPr>
            <p:cNvPr name="Freeform 33" id="33"/>
            <p:cNvSpPr/>
            <p:nvPr/>
          </p:nvSpPr>
          <p:spPr>
            <a:xfrm flipH="false" flipV="false" rot="0">
              <a:off x="0" y="0"/>
              <a:ext cx="3646019" cy="2830520"/>
            </a:xfrm>
            <a:custGeom>
              <a:avLst/>
              <a:gdLst/>
              <a:ahLst/>
              <a:cxnLst/>
              <a:rect r="r" b="b" t="t" l="l"/>
              <a:pathLst>
                <a:path h="2830520" w="3646019">
                  <a:moveTo>
                    <a:pt x="0" y="471753"/>
                  </a:moveTo>
                  <a:cubicBezTo>
                    <a:pt x="0" y="211203"/>
                    <a:pt x="187622" y="0"/>
                    <a:pt x="419083" y="0"/>
                  </a:cubicBezTo>
                  <a:lnTo>
                    <a:pt x="3226936" y="0"/>
                  </a:lnTo>
                  <a:cubicBezTo>
                    <a:pt x="3458397" y="0"/>
                    <a:pt x="3646019" y="211203"/>
                    <a:pt x="3646019" y="471753"/>
                  </a:cubicBezTo>
                  <a:lnTo>
                    <a:pt x="3646019" y="2358767"/>
                  </a:lnTo>
                  <a:cubicBezTo>
                    <a:pt x="3646019" y="2619318"/>
                    <a:pt x="3458396" y="2830520"/>
                    <a:pt x="3226936" y="2830520"/>
                  </a:cubicBezTo>
                  <a:lnTo>
                    <a:pt x="419083" y="2830520"/>
                  </a:lnTo>
                  <a:cubicBezTo>
                    <a:pt x="187622" y="2830520"/>
                    <a:pt x="0" y="2619318"/>
                    <a:pt x="0" y="2358767"/>
                  </a:cubicBezTo>
                  <a:close/>
                </a:path>
              </a:pathLst>
            </a:custGeom>
            <a:solidFill>
              <a:srgbClr val="FCE4D6"/>
            </a:solidFill>
            <a:ln w="22860" cap="sq">
              <a:solidFill>
                <a:srgbClr val="ED7D31"/>
              </a:solidFill>
              <a:prstDash val="solid"/>
              <a:miter/>
            </a:ln>
          </p:spPr>
        </p:sp>
      </p:grpSp>
      <p:grpSp>
        <p:nvGrpSpPr>
          <p:cNvPr name="Group 34" id="34"/>
          <p:cNvGrpSpPr/>
          <p:nvPr/>
        </p:nvGrpSpPr>
        <p:grpSpPr>
          <a:xfrm rot="0">
            <a:off x="6791708" y="3114115"/>
            <a:ext cx="2411931" cy="744163"/>
            <a:chOff x="0" y="0"/>
            <a:chExt cx="3215907" cy="992218"/>
          </a:xfrm>
        </p:grpSpPr>
        <p:sp>
          <p:nvSpPr>
            <p:cNvPr name="Freeform 35" id="35"/>
            <p:cNvSpPr/>
            <p:nvPr/>
          </p:nvSpPr>
          <p:spPr>
            <a:xfrm flipH="false" flipV="false" rot="0">
              <a:off x="0" y="0"/>
              <a:ext cx="3215907" cy="992221"/>
            </a:xfrm>
            <a:custGeom>
              <a:avLst/>
              <a:gdLst/>
              <a:ahLst/>
              <a:cxnLst/>
              <a:rect r="r" b="b" t="t" l="l"/>
              <a:pathLst>
                <a:path h="992221" w="3215907">
                  <a:moveTo>
                    <a:pt x="0" y="0"/>
                  </a:moveTo>
                  <a:lnTo>
                    <a:pt x="3215907" y="0"/>
                  </a:lnTo>
                  <a:lnTo>
                    <a:pt x="3215907" y="992221"/>
                  </a:lnTo>
                  <a:lnTo>
                    <a:pt x="0" y="992221"/>
                  </a:lnTo>
                  <a:close/>
                </a:path>
              </a:pathLst>
            </a:custGeom>
            <a:blipFill>
              <a:blip r:embed="rId3">
                <a:alphaModFix amt="0"/>
              </a:blip>
              <a:stretch>
                <a:fillRect l="0" t="-29177" r="7874" b="12817"/>
              </a:stretch>
            </a:blipFill>
          </p:spPr>
        </p:sp>
        <p:sp>
          <p:nvSpPr>
            <p:cNvPr name="TextBox 36" id="36"/>
            <p:cNvSpPr txBox="true"/>
            <p:nvPr/>
          </p:nvSpPr>
          <p:spPr>
            <a:xfrm>
              <a:off x="0" y="-9525"/>
              <a:ext cx="3215907" cy="1001743"/>
            </a:xfrm>
            <a:prstGeom prst="rect">
              <a:avLst/>
            </a:prstGeom>
          </p:spPr>
          <p:txBody>
            <a:bodyPr anchor="ctr" rtlCol="false" tIns="0" lIns="0" bIns="0" rIns="0"/>
            <a:lstStyle/>
            <a:p>
              <a:pPr algn="l">
                <a:lnSpc>
                  <a:spcPts val="2429"/>
                </a:lnSpc>
              </a:pPr>
              <a:r>
                <a:rPr lang="en-US" sz="2024" b="true">
                  <a:solidFill>
                    <a:srgbClr val="ED7D31"/>
                  </a:solidFill>
                  <a:latin typeface="Arial Bold"/>
                  <a:ea typeface="Arial Bold"/>
                  <a:cs typeface="Arial Bold"/>
                  <a:sym typeface="Arial Bold"/>
                </a:rPr>
                <a:t>3.Edge AI &amp; Risk Scoring</a:t>
              </a:r>
            </a:p>
          </p:txBody>
        </p:sp>
      </p:grpSp>
      <p:grpSp>
        <p:nvGrpSpPr>
          <p:cNvPr name="Group 37" id="37"/>
          <p:cNvGrpSpPr/>
          <p:nvPr/>
        </p:nvGrpSpPr>
        <p:grpSpPr>
          <a:xfrm rot="0">
            <a:off x="6761931" y="3788447"/>
            <a:ext cx="2411931" cy="1039099"/>
            <a:chOff x="0" y="0"/>
            <a:chExt cx="3215907" cy="1385465"/>
          </a:xfrm>
        </p:grpSpPr>
        <p:sp>
          <p:nvSpPr>
            <p:cNvPr name="Freeform 38" id="38"/>
            <p:cNvSpPr/>
            <p:nvPr/>
          </p:nvSpPr>
          <p:spPr>
            <a:xfrm flipH="false" flipV="false" rot="0">
              <a:off x="0" y="0"/>
              <a:ext cx="3215907" cy="1385465"/>
            </a:xfrm>
            <a:custGeom>
              <a:avLst/>
              <a:gdLst/>
              <a:ahLst/>
              <a:cxnLst/>
              <a:rect r="r" b="b" t="t" l="l"/>
              <a:pathLst>
                <a:path h="1385465" w="3215907">
                  <a:moveTo>
                    <a:pt x="0" y="0"/>
                  </a:moveTo>
                  <a:lnTo>
                    <a:pt x="3215907" y="0"/>
                  </a:lnTo>
                  <a:lnTo>
                    <a:pt x="3215907" y="1385465"/>
                  </a:lnTo>
                  <a:lnTo>
                    <a:pt x="0" y="1385465"/>
                  </a:lnTo>
                  <a:close/>
                </a:path>
              </a:pathLst>
            </a:custGeom>
            <a:blipFill>
              <a:blip r:embed="rId3">
                <a:alphaModFix amt="0"/>
              </a:blip>
              <a:stretch>
                <a:fillRect l="0" t="-746" r="7874" b="17413"/>
              </a:stretch>
            </a:blipFill>
          </p:spPr>
        </p:sp>
        <p:sp>
          <p:nvSpPr>
            <p:cNvPr name="TextBox 39" id="39"/>
            <p:cNvSpPr txBox="true"/>
            <p:nvPr/>
          </p:nvSpPr>
          <p:spPr>
            <a:xfrm>
              <a:off x="0" y="-19050"/>
              <a:ext cx="3215907" cy="1404515"/>
            </a:xfrm>
            <a:prstGeom prst="rect">
              <a:avLst/>
            </a:prstGeom>
          </p:spPr>
          <p:txBody>
            <a:bodyPr anchor="ctr" rtlCol="false" tIns="0" lIns="0" bIns="0" rIns="0"/>
            <a:lstStyle/>
            <a:p>
              <a:pPr algn="ctr">
                <a:lnSpc>
                  <a:spcPts val="2194"/>
                </a:lnSpc>
              </a:pPr>
              <a:r>
                <a:rPr lang="en-US" sz="1828">
                  <a:solidFill>
                    <a:srgbClr val="1F374B"/>
                  </a:solidFill>
                  <a:latin typeface="Arial"/>
                  <a:ea typeface="Arial"/>
                  <a:cs typeface="Arial"/>
                  <a:sym typeface="Arial"/>
                </a:rPr>
                <a:t>On-site, explainable risk score, low latency.</a:t>
              </a:r>
            </a:p>
          </p:txBody>
        </p:sp>
      </p:grpSp>
      <p:grpSp>
        <p:nvGrpSpPr>
          <p:cNvPr name="Group 40" id="40"/>
          <p:cNvGrpSpPr/>
          <p:nvPr/>
        </p:nvGrpSpPr>
        <p:grpSpPr>
          <a:xfrm rot="0">
            <a:off x="9337325" y="3762959"/>
            <a:ext cx="164393" cy="520248"/>
            <a:chOff x="0" y="0"/>
            <a:chExt cx="219191" cy="693664"/>
          </a:xfrm>
        </p:grpSpPr>
        <p:sp>
          <p:nvSpPr>
            <p:cNvPr name="Freeform 41" id="41"/>
            <p:cNvSpPr/>
            <p:nvPr/>
          </p:nvSpPr>
          <p:spPr>
            <a:xfrm flipH="false" flipV="false" rot="0">
              <a:off x="0" y="0"/>
              <a:ext cx="219191" cy="693664"/>
            </a:xfrm>
            <a:custGeom>
              <a:avLst/>
              <a:gdLst/>
              <a:ahLst/>
              <a:cxnLst/>
              <a:rect r="r" b="b" t="t" l="l"/>
              <a:pathLst>
                <a:path h="693664" w="219191">
                  <a:moveTo>
                    <a:pt x="0" y="173338"/>
                  </a:moveTo>
                  <a:lnTo>
                    <a:pt x="109596" y="173338"/>
                  </a:lnTo>
                  <a:lnTo>
                    <a:pt x="109596" y="0"/>
                  </a:lnTo>
                  <a:lnTo>
                    <a:pt x="219191" y="346832"/>
                  </a:lnTo>
                  <a:lnTo>
                    <a:pt x="109596" y="693664"/>
                  </a:lnTo>
                  <a:lnTo>
                    <a:pt x="109596" y="520170"/>
                  </a:lnTo>
                  <a:lnTo>
                    <a:pt x="0" y="520170"/>
                  </a:lnTo>
                  <a:close/>
                </a:path>
              </a:pathLst>
            </a:custGeom>
            <a:solidFill>
              <a:srgbClr val="595959"/>
            </a:solidFill>
            <a:ln w="14288" cap="sq">
              <a:solidFill>
                <a:srgbClr val="595959"/>
              </a:solidFill>
              <a:prstDash val="solid"/>
              <a:miter/>
            </a:ln>
          </p:spPr>
        </p:sp>
      </p:grpSp>
      <p:grpSp>
        <p:nvGrpSpPr>
          <p:cNvPr name="Group 42" id="42"/>
          <p:cNvGrpSpPr/>
          <p:nvPr/>
        </p:nvGrpSpPr>
        <p:grpSpPr>
          <a:xfrm rot="0">
            <a:off x="9503889" y="2970017"/>
            <a:ext cx="2734514" cy="2122890"/>
            <a:chOff x="0" y="0"/>
            <a:chExt cx="3646019" cy="2830521"/>
          </a:xfrm>
        </p:grpSpPr>
        <p:sp>
          <p:nvSpPr>
            <p:cNvPr name="Freeform 43" id="43"/>
            <p:cNvSpPr/>
            <p:nvPr/>
          </p:nvSpPr>
          <p:spPr>
            <a:xfrm flipH="false" flipV="false" rot="0">
              <a:off x="0" y="0"/>
              <a:ext cx="3646019" cy="2830520"/>
            </a:xfrm>
            <a:custGeom>
              <a:avLst/>
              <a:gdLst/>
              <a:ahLst/>
              <a:cxnLst/>
              <a:rect r="r" b="b" t="t" l="l"/>
              <a:pathLst>
                <a:path h="2830520" w="3646019">
                  <a:moveTo>
                    <a:pt x="0" y="471753"/>
                  </a:moveTo>
                  <a:cubicBezTo>
                    <a:pt x="0" y="211203"/>
                    <a:pt x="187622" y="0"/>
                    <a:pt x="419083" y="0"/>
                  </a:cubicBezTo>
                  <a:lnTo>
                    <a:pt x="3226936" y="0"/>
                  </a:lnTo>
                  <a:cubicBezTo>
                    <a:pt x="3458397" y="0"/>
                    <a:pt x="3646019" y="211203"/>
                    <a:pt x="3646019" y="471753"/>
                  </a:cubicBezTo>
                  <a:lnTo>
                    <a:pt x="3646019" y="2358767"/>
                  </a:lnTo>
                  <a:cubicBezTo>
                    <a:pt x="3646019" y="2619318"/>
                    <a:pt x="3458396" y="2830520"/>
                    <a:pt x="3226936" y="2830520"/>
                  </a:cubicBezTo>
                  <a:lnTo>
                    <a:pt x="419083" y="2830520"/>
                  </a:lnTo>
                  <a:cubicBezTo>
                    <a:pt x="187622" y="2830520"/>
                    <a:pt x="0" y="2619318"/>
                    <a:pt x="0" y="2358767"/>
                  </a:cubicBezTo>
                  <a:close/>
                </a:path>
              </a:pathLst>
            </a:custGeom>
            <a:solidFill>
              <a:srgbClr val="E2EFDA"/>
            </a:solidFill>
            <a:ln w="22860" cap="sq">
              <a:solidFill>
                <a:srgbClr val="70AD47"/>
              </a:solidFill>
              <a:prstDash val="solid"/>
              <a:miter/>
            </a:ln>
          </p:spPr>
        </p:sp>
      </p:grpSp>
      <p:grpSp>
        <p:nvGrpSpPr>
          <p:cNvPr name="Group 44" id="44"/>
          <p:cNvGrpSpPr/>
          <p:nvPr/>
        </p:nvGrpSpPr>
        <p:grpSpPr>
          <a:xfrm rot="0">
            <a:off x="9687514" y="3114115"/>
            <a:ext cx="2419375" cy="744163"/>
            <a:chOff x="0" y="0"/>
            <a:chExt cx="3225833" cy="992218"/>
          </a:xfrm>
        </p:grpSpPr>
        <p:sp>
          <p:nvSpPr>
            <p:cNvPr name="Freeform 45" id="45"/>
            <p:cNvSpPr/>
            <p:nvPr/>
          </p:nvSpPr>
          <p:spPr>
            <a:xfrm flipH="false" flipV="false" rot="0">
              <a:off x="0" y="0"/>
              <a:ext cx="3225833" cy="992221"/>
            </a:xfrm>
            <a:custGeom>
              <a:avLst/>
              <a:gdLst/>
              <a:ahLst/>
              <a:cxnLst/>
              <a:rect r="r" b="b" t="t" l="l"/>
              <a:pathLst>
                <a:path h="992221" w="3225833">
                  <a:moveTo>
                    <a:pt x="0" y="0"/>
                  </a:moveTo>
                  <a:lnTo>
                    <a:pt x="3225833" y="0"/>
                  </a:lnTo>
                  <a:lnTo>
                    <a:pt x="3225833" y="992221"/>
                  </a:lnTo>
                  <a:lnTo>
                    <a:pt x="0" y="992221"/>
                  </a:lnTo>
                  <a:close/>
                </a:path>
              </a:pathLst>
            </a:custGeom>
            <a:blipFill>
              <a:blip r:embed="rId3">
                <a:alphaModFix amt="0"/>
              </a:blip>
              <a:stretch>
                <a:fillRect l="0" t="-29357" r="7874" b="12637"/>
              </a:stretch>
            </a:blipFill>
          </p:spPr>
        </p:sp>
        <p:sp>
          <p:nvSpPr>
            <p:cNvPr name="TextBox 46" id="46"/>
            <p:cNvSpPr txBox="true"/>
            <p:nvPr/>
          </p:nvSpPr>
          <p:spPr>
            <a:xfrm>
              <a:off x="0" y="-9525"/>
              <a:ext cx="3225833" cy="1001743"/>
            </a:xfrm>
            <a:prstGeom prst="rect">
              <a:avLst/>
            </a:prstGeom>
          </p:spPr>
          <p:txBody>
            <a:bodyPr anchor="ctr" rtlCol="false" tIns="0" lIns="0" bIns="0" rIns="0"/>
            <a:lstStyle/>
            <a:p>
              <a:pPr algn="l">
                <a:lnSpc>
                  <a:spcPts val="2429"/>
                </a:lnSpc>
              </a:pPr>
              <a:r>
                <a:rPr lang="en-US" sz="2024" b="true">
                  <a:solidFill>
                    <a:srgbClr val="70AD47"/>
                  </a:solidFill>
                  <a:latin typeface="Arial Bold"/>
                  <a:ea typeface="Arial Bold"/>
                  <a:cs typeface="Arial Bold"/>
                  <a:sym typeface="Arial Bold"/>
                </a:rPr>
                <a:t>4.PLC/SCADA Integration</a:t>
              </a:r>
            </a:p>
          </p:txBody>
        </p:sp>
      </p:grpSp>
      <p:grpSp>
        <p:nvGrpSpPr>
          <p:cNvPr name="Group 47" id="47"/>
          <p:cNvGrpSpPr/>
          <p:nvPr/>
        </p:nvGrpSpPr>
        <p:grpSpPr>
          <a:xfrm rot="0">
            <a:off x="9665181" y="3788447"/>
            <a:ext cx="2411931" cy="1039099"/>
            <a:chOff x="0" y="0"/>
            <a:chExt cx="3215907" cy="1385465"/>
          </a:xfrm>
        </p:grpSpPr>
        <p:sp>
          <p:nvSpPr>
            <p:cNvPr name="Freeform 48" id="48"/>
            <p:cNvSpPr/>
            <p:nvPr/>
          </p:nvSpPr>
          <p:spPr>
            <a:xfrm flipH="false" flipV="false" rot="0">
              <a:off x="0" y="0"/>
              <a:ext cx="3215907" cy="1385465"/>
            </a:xfrm>
            <a:custGeom>
              <a:avLst/>
              <a:gdLst/>
              <a:ahLst/>
              <a:cxnLst/>
              <a:rect r="r" b="b" t="t" l="l"/>
              <a:pathLst>
                <a:path h="1385465" w="3215907">
                  <a:moveTo>
                    <a:pt x="0" y="0"/>
                  </a:moveTo>
                  <a:lnTo>
                    <a:pt x="3215907" y="0"/>
                  </a:lnTo>
                  <a:lnTo>
                    <a:pt x="3215907" y="1385465"/>
                  </a:lnTo>
                  <a:lnTo>
                    <a:pt x="0" y="1385465"/>
                  </a:lnTo>
                  <a:close/>
                </a:path>
              </a:pathLst>
            </a:custGeom>
            <a:blipFill>
              <a:blip r:embed="rId3">
                <a:alphaModFix amt="0"/>
              </a:blip>
              <a:stretch>
                <a:fillRect l="0" t="-746" r="7874" b="17413"/>
              </a:stretch>
            </a:blipFill>
          </p:spPr>
        </p:sp>
        <p:sp>
          <p:nvSpPr>
            <p:cNvPr name="TextBox 49" id="49"/>
            <p:cNvSpPr txBox="true"/>
            <p:nvPr/>
          </p:nvSpPr>
          <p:spPr>
            <a:xfrm>
              <a:off x="0" y="-19050"/>
              <a:ext cx="3215907" cy="1404515"/>
            </a:xfrm>
            <a:prstGeom prst="rect">
              <a:avLst/>
            </a:prstGeom>
          </p:spPr>
          <p:txBody>
            <a:bodyPr anchor="ctr" rtlCol="false" tIns="0" lIns="0" bIns="0" rIns="0"/>
            <a:lstStyle/>
            <a:p>
              <a:pPr algn="ctr">
                <a:lnSpc>
                  <a:spcPts val="2194"/>
                </a:lnSpc>
              </a:pPr>
              <a:r>
                <a:rPr lang="en-US" sz="1828">
                  <a:solidFill>
                    <a:srgbClr val="1F374B"/>
                  </a:solidFill>
                  <a:latin typeface="Arial"/>
                  <a:ea typeface="Arial"/>
                  <a:cs typeface="Arial"/>
                  <a:sym typeface="Arial"/>
                </a:rPr>
                <a:t>Alerts land directly on existing operator HMI.</a:t>
              </a:r>
            </a:p>
          </p:txBody>
        </p:sp>
      </p:grpSp>
      <p:grpSp>
        <p:nvGrpSpPr>
          <p:cNvPr name="Group 50" id="50"/>
          <p:cNvGrpSpPr/>
          <p:nvPr/>
        </p:nvGrpSpPr>
        <p:grpSpPr>
          <a:xfrm rot="0">
            <a:off x="12240575" y="3762959"/>
            <a:ext cx="164393" cy="520248"/>
            <a:chOff x="0" y="0"/>
            <a:chExt cx="219191" cy="693664"/>
          </a:xfrm>
        </p:grpSpPr>
        <p:sp>
          <p:nvSpPr>
            <p:cNvPr name="Freeform 51" id="51"/>
            <p:cNvSpPr/>
            <p:nvPr/>
          </p:nvSpPr>
          <p:spPr>
            <a:xfrm flipH="false" flipV="false" rot="0">
              <a:off x="0" y="0"/>
              <a:ext cx="219191" cy="693664"/>
            </a:xfrm>
            <a:custGeom>
              <a:avLst/>
              <a:gdLst/>
              <a:ahLst/>
              <a:cxnLst/>
              <a:rect r="r" b="b" t="t" l="l"/>
              <a:pathLst>
                <a:path h="693664" w="219191">
                  <a:moveTo>
                    <a:pt x="0" y="173338"/>
                  </a:moveTo>
                  <a:lnTo>
                    <a:pt x="109596" y="173338"/>
                  </a:lnTo>
                  <a:lnTo>
                    <a:pt x="109596" y="0"/>
                  </a:lnTo>
                  <a:lnTo>
                    <a:pt x="219191" y="346832"/>
                  </a:lnTo>
                  <a:lnTo>
                    <a:pt x="109596" y="693664"/>
                  </a:lnTo>
                  <a:lnTo>
                    <a:pt x="109596" y="520170"/>
                  </a:lnTo>
                  <a:lnTo>
                    <a:pt x="0" y="520170"/>
                  </a:lnTo>
                  <a:close/>
                </a:path>
              </a:pathLst>
            </a:custGeom>
            <a:solidFill>
              <a:srgbClr val="595959"/>
            </a:solidFill>
            <a:ln w="14288" cap="sq">
              <a:solidFill>
                <a:srgbClr val="595959"/>
              </a:solidFill>
              <a:prstDash val="solid"/>
              <a:miter/>
            </a:ln>
          </p:spPr>
        </p:sp>
      </p:grpSp>
      <p:grpSp>
        <p:nvGrpSpPr>
          <p:cNvPr name="Group 52" id="52"/>
          <p:cNvGrpSpPr/>
          <p:nvPr/>
        </p:nvGrpSpPr>
        <p:grpSpPr>
          <a:xfrm rot="0">
            <a:off x="12407139" y="2970017"/>
            <a:ext cx="2734514" cy="2122890"/>
            <a:chOff x="0" y="0"/>
            <a:chExt cx="3646019" cy="2830521"/>
          </a:xfrm>
        </p:grpSpPr>
        <p:sp>
          <p:nvSpPr>
            <p:cNvPr name="Freeform 53" id="53"/>
            <p:cNvSpPr/>
            <p:nvPr/>
          </p:nvSpPr>
          <p:spPr>
            <a:xfrm flipH="false" flipV="false" rot="0">
              <a:off x="0" y="0"/>
              <a:ext cx="3646019" cy="2830520"/>
            </a:xfrm>
            <a:custGeom>
              <a:avLst/>
              <a:gdLst/>
              <a:ahLst/>
              <a:cxnLst/>
              <a:rect r="r" b="b" t="t" l="l"/>
              <a:pathLst>
                <a:path h="2830520" w="3646019">
                  <a:moveTo>
                    <a:pt x="0" y="471753"/>
                  </a:moveTo>
                  <a:cubicBezTo>
                    <a:pt x="0" y="211203"/>
                    <a:pt x="187622" y="0"/>
                    <a:pt x="419083" y="0"/>
                  </a:cubicBezTo>
                  <a:lnTo>
                    <a:pt x="3226936" y="0"/>
                  </a:lnTo>
                  <a:cubicBezTo>
                    <a:pt x="3458397" y="0"/>
                    <a:pt x="3646019" y="211203"/>
                    <a:pt x="3646019" y="471753"/>
                  </a:cubicBezTo>
                  <a:lnTo>
                    <a:pt x="3646019" y="2358767"/>
                  </a:lnTo>
                  <a:cubicBezTo>
                    <a:pt x="3646019" y="2619318"/>
                    <a:pt x="3458396" y="2830520"/>
                    <a:pt x="3226936" y="2830520"/>
                  </a:cubicBezTo>
                  <a:lnTo>
                    <a:pt x="419083" y="2830520"/>
                  </a:lnTo>
                  <a:cubicBezTo>
                    <a:pt x="187622" y="2830520"/>
                    <a:pt x="0" y="2619318"/>
                    <a:pt x="0" y="2358767"/>
                  </a:cubicBezTo>
                  <a:close/>
                </a:path>
              </a:pathLst>
            </a:custGeom>
            <a:solidFill>
              <a:srgbClr val="EAE0F5"/>
            </a:solidFill>
            <a:ln w="22860" cap="sq">
              <a:solidFill>
                <a:srgbClr val="7030A0"/>
              </a:solidFill>
              <a:prstDash val="solid"/>
              <a:miter/>
            </a:ln>
          </p:spPr>
        </p:sp>
      </p:grpSp>
      <p:grpSp>
        <p:nvGrpSpPr>
          <p:cNvPr name="Group 54" id="54"/>
          <p:cNvGrpSpPr/>
          <p:nvPr/>
        </p:nvGrpSpPr>
        <p:grpSpPr>
          <a:xfrm rot="0">
            <a:off x="12704805" y="3057261"/>
            <a:ext cx="2888465" cy="851808"/>
            <a:chOff x="0" y="0"/>
            <a:chExt cx="3851286" cy="1135744"/>
          </a:xfrm>
        </p:grpSpPr>
        <p:sp>
          <p:nvSpPr>
            <p:cNvPr name="Freeform 55" id="55"/>
            <p:cNvSpPr/>
            <p:nvPr/>
          </p:nvSpPr>
          <p:spPr>
            <a:xfrm flipH="false" flipV="false" rot="0">
              <a:off x="0" y="0"/>
              <a:ext cx="3851286" cy="1135742"/>
            </a:xfrm>
            <a:custGeom>
              <a:avLst/>
              <a:gdLst/>
              <a:ahLst/>
              <a:cxnLst/>
              <a:rect r="r" b="b" t="t" l="l"/>
              <a:pathLst>
                <a:path h="1135742" w="3851286">
                  <a:moveTo>
                    <a:pt x="0" y="0"/>
                  </a:moveTo>
                  <a:lnTo>
                    <a:pt x="3851286" y="0"/>
                  </a:lnTo>
                  <a:lnTo>
                    <a:pt x="3851286" y="1135742"/>
                  </a:lnTo>
                  <a:lnTo>
                    <a:pt x="0" y="1135742"/>
                  </a:lnTo>
                  <a:close/>
                </a:path>
              </a:pathLst>
            </a:custGeom>
            <a:blipFill>
              <a:blip r:embed="rId3">
                <a:alphaModFix amt="0"/>
              </a:blip>
              <a:stretch>
                <a:fillRect l="0" t="-13516" r="17612" b="4644"/>
              </a:stretch>
            </a:blipFill>
          </p:spPr>
        </p:sp>
        <p:sp>
          <p:nvSpPr>
            <p:cNvPr name="TextBox 56" id="56"/>
            <p:cNvSpPr txBox="true"/>
            <p:nvPr/>
          </p:nvSpPr>
          <p:spPr>
            <a:xfrm>
              <a:off x="0" y="-9525"/>
              <a:ext cx="3851286" cy="1145269"/>
            </a:xfrm>
            <a:prstGeom prst="rect">
              <a:avLst/>
            </a:prstGeom>
          </p:spPr>
          <p:txBody>
            <a:bodyPr anchor="ctr" rtlCol="false" tIns="0" lIns="0" bIns="0" rIns="0"/>
            <a:lstStyle/>
            <a:p>
              <a:pPr algn="l">
                <a:lnSpc>
                  <a:spcPts val="2429"/>
                </a:lnSpc>
              </a:pPr>
              <a:r>
                <a:rPr lang="en-US" sz="2024" b="true">
                  <a:solidFill>
                    <a:srgbClr val="7030A0"/>
                  </a:solidFill>
                  <a:latin typeface="Arial Bold"/>
                  <a:ea typeface="Arial Bold"/>
                  <a:cs typeface="Arial Bold"/>
                  <a:sym typeface="Arial Bold"/>
                </a:rPr>
                <a:t>5.Local Alerting</a:t>
              </a:r>
            </a:p>
          </p:txBody>
        </p:sp>
      </p:grpSp>
      <p:grpSp>
        <p:nvGrpSpPr>
          <p:cNvPr name="Group 57" id="57"/>
          <p:cNvGrpSpPr/>
          <p:nvPr/>
        </p:nvGrpSpPr>
        <p:grpSpPr>
          <a:xfrm rot="0">
            <a:off x="12568431" y="3788447"/>
            <a:ext cx="2411931" cy="1039099"/>
            <a:chOff x="0" y="0"/>
            <a:chExt cx="3215907" cy="1385465"/>
          </a:xfrm>
        </p:grpSpPr>
        <p:sp>
          <p:nvSpPr>
            <p:cNvPr name="Freeform 58" id="58"/>
            <p:cNvSpPr/>
            <p:nvPr/>
          </p:nvSpPr>
          <p:spPr>
            <a:xfrm flipH="false" flipV="false" rot="0">
              <a:off x="0" y="0"/>
              <a:ext cx="3215907" cy="1385465"/>
            </a:xfrm>
            <a:custGeom>
              <a:avLst/>
              <a:gdLst/>
              <a:ahLst/>
              <a:cxnLst/>
              <a:rect r="r" b="b" t="t" l="l"/>
              <a:pathLst>
                <a:path h="1385465" w="3215907">
                  <a:moveTo>
                    <a:pt x="0" y="0"/>
                  </a:moveTo>
                  <a:lnTo>
                    <a:pt x="3215907" y="0"/>
                  </a:lnTo>
                  <a:lnTo>
                    <a:pt x="3215907" y="1385465"/>
                  </a:lnTo>
                  <a:lnTo>
                    <a:pt x="0" y="1385465"/>
                  </a:lnTo>
                  <a:close/>
                </a:path>
              </a:pathLst>
            </a:custGeom>
            <a:blipFill>
              <a:blip r:embed="rId3">
                <a:alphaModFix amt="0"/>
              </a:blip>
              <a:stretch>
                <a:fillRect l="0" t="-746" r="7874" b="17413"/>
              </a:stretch>
            </a:blipFill>
          </p:spPr>
        </p:sp>
        <p:sp>
          <p:nvSpPr>
            <p:cNvPr name="TextBox 59" id="59"/>
            <p:cNvSpPr txBox="true"/>
            <p:nvPr/>
          </p:nvSpPr>
          <p:spPr>
            <a:xfrm>
              <a:off x="0" y="-19050"/>
              <a:ext cx="3215907" cy="1404515"/>
            </a:xfrm>
            <a:prstGeom prst="rect">
              <a:avLst/>
            </a:prstGeom>
          </p:spPr>
          <p:txBody>
            <a:bodyPr anchor="ctr" rtlCol="false" tIns="0" lIns="0" bIns="0" rIns="0"/>
            <a:lstStyle/>
            <a:p>
              <a:pPr algn="ctr">
                <a:lnSpc>
                  <a:spcPts val="2194"/>
                </a:lnSpc>
              </a:pPr>
              <a:r>
                <a:rPr lang="en-US" sz="1828">
                  <a:solidFill>
                    <a:srgbClr val="1F374B"/>
                  </a:solidFill>
                  <a:latin typeface="Arial"/>
                  <a:ea typeface="Arial"/>
                  <a:cs typeface="Arial"/>
                  <a:sym typeface="Arial"/>
                </a:rPr>
                <a:t>Even if the internet totally dies, someone still gets warned.</a:t>
              </a:r>
            </a:p>
          </p:txBody>
        </p:sp>
      </p:grpSp>
      <p:grpSp>
        <p:nvGrpSpPr>
          <p:cNvPr name="Group 60" id="60"/>
          <p:cNvGrpSpPr/>
          <p:nvPr/>
        </p:nvGrpSpPr>
        <p:grpSpPr>
          <a:xfrm rot="0">
            <a:off x="15143824" y="3762959"/>
            <a:ext cx="164393" cy="520248"/>
            <a:chOff x="0" y="0"/>
            <a:chExt cx="219191" cy="693664"/>
          </a:xfrm>
        </p:grpSpPr>
        <p:sp>
          <p:nvSpPr>
            <p:cNvPr name="Freeform 61" id="61"/>
            <p:cNvSpPr/>
            <p:nvPr/>
          </p:nvSpPr>
          <p:spPr>
            <a:xfrm flipH="false" flipV="false" rot="0">
              <a:off x="0" y="0"/>
              <a:ext cx="219191" cy="693664"/>
            </a:xfrm>
            <a:custGeom>
              <a:avLst/>
              <a:gdLst/>
              <a:ahLst/>
              <a:cxnLst/>
              <a:rect r="r" b="b" t="t" l="l"/>
              <a:pathLst>
                <a:path h="693664" w="219191">
                  <a:moveTo>
                    <a:pt x="0" y="173338"/>
                  </a:moveTo>
                  <a:lnTo>
                    <a:pt x="109596" y="173338"/>
                  </a:lnTo>
                  <a:lnTo>
                    <a:pt x="109596" y="0"/>
                  </a:lnTo>
                  <a:lnTo>
                    <a:pt x="219191" y="346832"/>
                  </a:lnTo>
                  <a:lnTo>
                    <a:pt x="109596" y="693664"/>
                  </a:lnTo>
                  <a:lnTo>
                    <a:pt x="109596" y="520170"/>
                  </a:lnTo>
                  <a:lnTo>
                    <a:pt x="0" y="520170"/>
                  </a:lnTo>
                  <a:close/>
                </a:path>
              </a:pathLst>
            </a:custGeom>
            <a:solidFill>
              <a:srgbClr val="595959"/>
            </a:solidFill>
            <a:ln w="14288" cap="sq">
              <a:solidFill>
                <a:srgbClr val="595959"/>
              </a:solidFill>
              <a:prstDash val="solid"/>
              <a:miter/>
            </a:ln>
          </p:spPr>
        </p:sp>
      </p:grpSp>
      <p:grpSp>
        <p:nvGrpSpPr>
          <p:cNvPr name="Group 62" id="62"/>
          <p:cNvGrpSpPr/>
          <p:nvPr/>
        </p:nvGrpSpPr>
        <p:grpSpPr>
          <a:xfrm rot="0">
            <a:off x="15310389" y="2970017"/>
            <a:ext cx="2734514" cy="2122890"/>
            <a:chOff x="0" y="0"/>
            <a:chExt cx="3646019" cy="2830521"/>
          </a:xfrm>
        </p:grpSpPr>
        <p:sp>
          <p:nvSpPr>
            <p:cNvPr name="Freeform 63" id="63"/>
            <p:cNvSpPr/>
            <p:nvPr/>
          </p:nvSpPr>
          <p:spPr>
            <a:xfrm flipH="false" flipV="false" rot="0">
              <a:off x="0" y="0"/>
              <a:ext cx="3646019" cy="2830520"/>
            </a:xfrm>
            <a:custGeom>
              <a:avLst/>
              <a:gdLst/>
              <a:ahLst/>
              <a:cxnLst/>
              <a:rect r="r" b="b" t="t" l="l"/>
              <a:pathLst>
                <a:path h="2830520" w="3646019">
                  <a:moveTo>
                    <a:pt x="0" y="471753"/>
                  </a:moveTo>
                  <a:cubicBezTo>
                    <a:pt x="0" y="211203"/>
                    <a:pt x="187622" y="0"/>
                    <a:pt x="419083" y="0"/>
                  </a:cubicBezTo>
                  <a:lnTo>
                    <a:pt x="3226936" y="0"/>
                  </a:lnTo>
                  <a:cubicBezTo>
                    <a:pt x="3458397" y="0"/>
                    <a:pt x="3646019" y="211203"/>
                    <a:pt x="3646019" y="471753"/>
                  </a:cubicBezTo>
                  <a:lnTo>
                    <a:pt x="3646019" y="2358767"/>
                  </a:lnTo>
                  <a:cubicBezTo>
                    <a:pt x="3646019" y="2619318"/>
                    <a:pt x="3458396" y="2830520"/>
                    <a:pt x="3226936" y="2830520"/>
                  </a:cubicBezTo>
                  <a:lnTo>
                    <a:pt x="419083" y="2830520"/>
                  </a:lnTo>
                  <a:cubicBezTo>
                    <a:pt x="187622" y="2830520"/>
                    <a:pt x="0" y="2619318"/>
                    <a:pt x="0" y="2358767"/>
                  </a:cubicBezTo>
                  <a:close/>
                </a:path>
              </a:pathLst>
            </a:custGeom>
            <a:solidFill>
              <a:srgbClr val="F2F2F2"/>
            </a:solidFill>
            <a:ln w="22860" cap="sq">
              <a:solidFill>
                <a:srgbClr val="1F374B"/>
              </a:solidFill>
              <a:prstDash val="solid"/>
              <a:miter/>
            </a:ln>
          </p:spPr>
        </p:sp>
      </p:grpSp>
      <p:grpSp>
        <p:nvGrpSpPr>
          <p:cNvPr name="Group 64" id="64"/>
          <p:cNvGrpSpPr/>
          <p:nvPr/>
        </p:nvGrpSpPr>
        <p:grpSpPr>
          <a:xfrm rot="0">
            <a:off x="15504663" y="3057261"/>
            <a:ext cx="2492215" cy="851808"/>
            <a:chOff x="0" y="0"/>
            <a:chExt cx="3322953" cy="1135744"/>
          </a:xfrm>
        </p:grpSpPr>
        <p:sp>
          <p:nvSpPr>
            <p:cNvPr name="Freeform 65" id="65"/>
            <p:cNvSpPr/>
            <p:nvPr/>
          </p:nvSpPr>
          <p:spPr>
            <a:xfrm flipH="false" flipV="false" rot="0">
              <a:off x="0" y="0"/>
              <a:ext cx="3322953" cy="1135742"/>
            </a:xfrm>
            <a:custGeom>
              <a:avLst/>
              <a:gdLst/>
              <a:ahLst/>
              <a:cxnLst/>
              <a:rect r="r" b="b" t="t" l="l"/>
              <a:pathLst>
                <a:path h="1135742" w="3322953">
                  <a:moveTo>
                    <a:pt x="0" y="0"/>
                  </a:moveTo>
                  <a:lnTo>
                    <a:pt x="3322953" y="0"/>
                  </a:lnTo>
                  <a:lnTo>
                    <a:pt x="3322953" y="1135742"/>
                  </a:lnTo>
                  <a:lnTo>
                    <a:pt x="0" y="1135742"/>
                  </a:lnTo>
                  <a:close/>
                </a:path>
              </a:pathLst>
            </a:custGeom>
            <a:blipFill>
              <a:blip r:embed="rId3">
                <a:alphaModFix amt="0"/>
              </a:blip>
              <a:stretch>
                <a:fillRect l="0" t="-7502" r="15062" b="10657"/>
              </a:stretch>
            </a:blipFill>
          </p:spPr>
        </p:sp>
        <p:sp>
          <p:nvSpPr>
            <p:cNvPr name="TextBox 66" id="66"/>
            <p:cNvSpPr txBox="true"/>
            <p:nvPr/>
          </p:nvSpPr>
          <p:spPr>
            <a:xfrm>
              <a:off x="0" y="-9525"/>
              <a:ext cx="3322953" cy="1145269"/>
            </a:xfrm>
            <a:prstGeom prst="rect">
              <a:avLst/>
            </a:prstGeom>
          </p:spPr>
          <p:txBody>
            <a:bodyPr anchor="ctr" rtlCol="false" tIns="0" lIns="0" bIns="0" rIns="0"/>
            <a:lstStyle/>
            <a:p>
              <a:pPr algn="l">
                <a:lnSpc>
                  <a:spcPts val="2429"/>
                </a:lnSpc>
              </a:pPr>
              <a:r>
                <a:rPr lang="en-US" sz="2024" b="true">
                  <a:solidFill>
                    <a:srgbClr val="1F374B"/>
                  </a:solidFill>
                  <a:latin typeface="Arial Bold"/>
                  <a:ea typeface="Arial Bold"/>
                  <a:cs typeface="Arial Bold"/>
                  <a:sym typeface="Arial Bold"/>
                </a:rPr>
                <a:t>6.Data Logging &amp; Cloud Sync</a:t>
              </a:r>
            </a:p>
          </p:txBody>
        </p:sp>
      </p:grpSp>
      <p:grpSp>
        <p:nvGrpSpPr>
          <p:cNvPr name="Group 67" id="67"/>
          <p:cNvGrpSpPr/>
          <p:nvPr/>
        </p:nvGrpSpPr>
        <p:grpSpPr>
          <a:xfrm rot="0">
            <a:off x="15471681" y="3788447"/>
            <a:ext cx="2411931" cy="1039099"/>
            <a:chOff x="0" y="0"/>
            <a:chExt cx="3215907" cy="1385465"/>
          </a:xfrm>
        </p:grpSpPr>
        <p:sp>
          <p:nvSpPr>
            <p:cNvPr name="Freeform 68" id="68"/>
            <p:cNvSpPr/>
            <p:nvPr/>
          </p:nvSpPr>
          <p:spPr>
            <a:xfrm flipH="false" flipV="false" rot="0">
              <a:off x="0" y="0"/>
              <a:ext cx="3215907" cy="1385465"/>
            </a:xfrm>
            <a:custGeom>
              <a:avLst/>
              <a:gdLst/>
              <a:ahLst/>
              <a:cxnLst/>
              <a:rect r="r" b="b" t="t" l="l"/>
              <a:pathLst>
                <a:path h="1385465" w="3215907">
                  <a:moveTo>
                    <a:pt x="0" y="0"/>
                  </a:moveTo>
                  <a:lnTo>
                    <a:pt x="3215907" y="0"/>
                  </a:lnTo>
                  <a:lnTo>
                    <a:pt x="3215907" y="1385465"/>
                  </a:lnTo>
                  <a:lnTo>
                    <a:pt x="0" y="1385465"/>
                  </a:lnTo>
                  <a:close/>
                </a:path>
              </a:pathLst>
            </a:custGeom>
            <a:blipFill>
              <a:blip r:embed="rId3">
                <a:alphaModFix amt="0"/>
              </a:blip>
              <a:stretch>
                <a:fillRect l="0" t="-746" r="7874" b="17413"/>
              </a:stretch>
            </a:blipFill>
          </p:spPr>
        </p:sp>
        <p:sp>
          <p:nvSpPr>
            <p:cNvPr name="TextBox 69" id="69"/>
            <p:cNvSpPr txBox="true"/>
            <p:nvPr/>
          </p:nvSpPr>
          <p:spPr>
            <a:xfrm>
              <a:off x="0" y="-19050"/>
              <a:ext cx="3215907" cy="1404515"/>
            </a:xfrm>
            <a:prstGeom prst="rect">
              <a:avLst/>
            </a:prstGeom>
          </p:spPr>
          <p:txBody>
            <a:bodyPr anchor="ctr" rtlCol="false" tIns="0" lIns="0" bIns="0" rIns="0"/>
            <a:lstStyle/>
            <a:p>
              <a:pPr algn="ctr">
                <a:lnSpc>
                  <a:spcPts val="2194"/>
                </a:lnSpc>
              </a:pPr>
              <a:r>
                <a:rPr lang="en-US" sz="1828">
                  <a:solidFill>
                    <a:srgbClr val="1F374B"/>
                  </a:solidFill>
                  <a:latin typeface="Arial"/>
                  <a:ea typeface="Arial"/>
                  <a:cs typeface="Arial"/>
                  <a:sym typeface="Arial"/>
                </a:rPr>
                <a:t>Local storage now, cloud sync when available.</a:t>
              </a:r>
            </a:p>
          </p:txBody>
        </p:sp>
      </p:grpSp>
      <p:grpSp>
        <p:nvGrpSpPr>
          <p:cNvPr name="Group 70" id="70"/>
          <p:cNvGrpSpPr/>
          <p:nvPr/>
        </p:nvGrpSpPr>
        <p:grpSpPr>
          <a:xfrm rot="0">
            <a:off x="144104" y="5321508"/>
            <a:ext cx="4035414" cy="694610"/>
            <a:chOff x="0" y="0"/>
            <a:chExt cx="4639414" cy="798576"/>
          </a:xfrm>
        </p:grpSpPr>
        <p:sp>
          <p:nvSpPr>
            <p:cNvPr name="Freeform 71" id="71"/>
            <p:cNvSpPr/>
            <p:nvPr/>
          </p:nvSpPr>
          <p:spPr>
            <a:xfrm flipH="false" flipV="false" rot="0">
              <a:off x="0" y="0"/>
              <a:ext cx="4639414" cy="798576"/>
            </a:xfrm>
            <a:custGeom>
              <a:avLst/>
              <a:gdLst/>
              <a:ahLst/>
              <a:cxnLst/>
              <a:rect r="r" b="b" t="t" l="l"/>
              <a:pathLst>
                <a:path h="798576" w="4639414">
                  <a:moveTo>
                    <a:pt x="0" y="133096"/>
                  </a:moveTo>
                  <a:cubicBezTo>
                    <a:pt x="0" y="59563"/>
                    <a:pt x="61258" y="0"/>
                    <a:pt x="136884" y="0"/>
                  </a:cubicBezTo>
                  <a:lnTo>
                    <a:pt x="4502531" y="0"/>
                  </a:lnTo>
                  <a:cubicBezTo>
                    <a:pt x="4578156" y="0"/>
                    <a:pt x="4639414" y="59563"/>
                    <a:pt x="4639414" y="133096"/>
                  </a:cubicBezTo>
                  <a:lnTo>
                    <a:pt x="4639414" y="665480"/>
                  </a:lnTo>
                  <a:cubicBezTo>
                    <a:pt x="4639414" y="739013"/>
                    <a:pt x="4578156" y="798576"/>
                    <a:pt x="4502531" y="798576"/>
                  </a:cubicBezTo>
                  <a:lnTo>
                    <a:pt x="136884" y="798576"/>
                  </a:lnTo>
                  <a:cubicBezTo>
                    <a:pt x="61258" y="798576"/>
                    <a:pt x="0" y="739013"/>
                    <a:pt x="0" y="665480"/>
                  </a:cubicBezTo>
                  <a:close/>
                </a:path>
              </a:pathLst>
            </a:custGeom>
            <a:solidFill>
              <a:srgbClr val="0070C0"/>
            </a:solidFill>
            <a:ln w="22860" cap="sq">
              <a:solidFill>
                <a:srgbClr val="FFFFFF"/>
              </a:solidFill>
              <a:prstDash val="solid"/>
              <a:miter/>
            </a:ln>
          </p:spPr>
        </p:sp>
      </p:grpSp>
      <p:grpSp>
        <p:nvGrpSpPr>
          <p:cNvPr name="Group 72" id="72"/>
          <p:cNvGrpSpPr/>
          <p:nvPr/>
        </p:nvGrpSpPr>
        <p:grpSpPr>
          <a:xfrm rot="0">
            <a:off x="288615" y="5350671"/>
            <a:ext cx="3762750" cy="604470"/>
            <a:chOff x="0" y="0"/>
            <a:chExt cx="4325940" cy="694944"/>
          </a:xfrm>
        </p:grpSpPr>
        <p:sp>
          <p:nvSpPr>
            <p:cNvPr name="Freeform 73" id="73"/>
            <p:cNvSpPr/>
            <p:nvPr/>
          </p:nvSpPr>
          <p:spPr>
            <a:xfrm flipH="false" flipV="false" rot="0">
              <a:off x="0" y="0"/>
              <a:ext cx="4325941" cy="694944"/>
            </a:xfrm>
            <a:custGeom>
              <a:avLst/>
              <a:gdLst/>
              <a:ahLst/>
              <a:cxnLst/>
              <a:rect r="r" b="b" t="t" l="l"/>
              <a:pathLst>
                <a:path h="694944" w="4325941">
                  <a:moveTo>
                    <a:pt x="0" y="0"/>
                  </a:moveTo>
                  <a:lnTo>
                    <a:pt x="4325941" y="0"/>
                  </a:lnTo>
                  <a:lnTo>
                    <a:pt x="4325941" y="694944"/>
                  </a:lnTo>
                  <a:lnTo>
                    <a:pt x="0" y="694944"/>
                  </a:lnTo>
                  <a:close/>
                </a:path>
              </a:pathLst>
            </a:custGeom>
            <a:solidFill>
              <a:srgbClr val="E6B9B8"/>
            </a:solidFill>
          </p:spPr>
        </p:sp>
        <p:sp>
          <p:nvSpPr>
            <p:cNvPr name="TextBox 74" id="74"/>
            <p:cNvSpPr txBox="true"/>
            <p:nvPr/>
          </p:nvSpPr>
          <p:spPr>
            <a:xfrm>
              <a:off x="0" y="0"/>
              <a:ext cx="4325940" cy="694944"/>
            </a:xfrm>
            <a:prstGeom prst="rect">
              <a:avLst/>
            </a:prstGeom>
          </p:spPr>
          <p:txBody>
            <a:bodyPr anchor="ctr" rtlCol="false" tIns="50800" lIns="50800" bIns="50800" rIns="50800"/>
            <a:lstStyle/>
            <a:p>
              <a:pPr algn="ctr">
                <a:lnSpc>
                  <a:spcPts val="3059"/>
                </a:lnSpc>
              </a:pPr>
              <a:r>
                <a:rPr lang="en-US" sz="2549" b="true">
                  <a:solidFill>
                    <a:srgbClr val="FFFFFF"/>
                  </a:solidFill>
                  <a:latin typeface="Aptos Bold"/>
                  <a:ea typeface="Aptos Bold"/>
                  <a:cs typeface="Aptos Bold"/>
                  <a:sym typeface="Aptos Bold"/>
                </a:rPr>
                <a:t>KEY BENEFITS</a:t>
              </a:r>
            </a:p>
          </p:txBody>
        </p:sp>
      </p:grpSp>
      <p:grpSp>
        <p:nvGrpSpPr>
          <p:cNvPr name="Group 75" id="75"/>
          <p:cNvGrpSpPr/>
          <p:nvPr/>
        </p:nvGrpSpPr>
        <p:grpSpPr>
          <a:xfrm rot="0">
            <a:off x="370176" y="6180491"/>
            <a:ext cx="4245127" cy="2285321"/>
            <a:chOff x="0" y="0"/>
            <a:chExt cx="4880517" cy="2627376"/>
          </a:xfrm>
        </p:grpSpPr>
        <p:sp>
          <p:nvSpPr>
            <p:cNvPr name="Freeform 76" id="76"/>
            <p:cNvSpPr/>
            <p:nvPr/>
          </p:nvSpPr>
          <p:spPr>
            <a:xfrm flipH="false" flipV="false" rot="0">
              <a:off x="0" y="0"/>
              <a:ext cx="4880517" cy="2627376"/>
            </a:xfrm>
            <a:custGeom>
              <a:avLst/>
              <a:gdLst/>
              <a:ahLst/>
              <a:cxnLst/>
              <a:rect r="r" b="b" t="t" l="l"/>
              <a:pathLst>
                <a:path h="2627376" w="4880517">
                  <a:moveTo>
                    <a:pt x="0" y="437896"/>
                  </a:moveTo>
                  <a:cubicBezTo>
                    <a:pt x="0" y="196088"/>
                    <a:pt x="185787" y="0"/>
                    <a:pt x="414892" y="0"/>
                  </a:cubicBezTo>
                  <a:lnTo>
                    <a:pt x="4465625" y="0"/>
                  </a:lnTo>
                  <a:cubicBezTo>
                    <a:pt x="4694730" y="0"/>
                    <a:pt x="4880517" y="196088"/>
                    <a:pt x="4880517" y="437896"/>
                  </a:cubicBezTo>
                  <a:lnTo>
                    <a:pt x="4880517" y="2189480"/>
                  </a:lnTo>
                  <a:cubicBezTo>
                    <a:pt x="4880517" y="2431288"/>
                    <a:pt x="4694730" y="2627376"/>
                    <a:pt x="4465625" y="2627376"/>
                  </a:cubicBezTo>
                  <a:lnTo>
                    <a:pt x="414892" y="2627376"/>
                  </a:lnTo>
                  <a:cubicBezTo>
                    <a:pt x="185787" y="2627376"/>
                    <a:pt x="0" y="2431288"/>
                    <a:pt x="0" y="2189480"/>
                  </a:cubicBezTo>
                  <a:close/>
                </a:path>
              </a:pathLst>
            </a:custGeom>
            <a:solidFill>
              <a:srgbClr val="E2EFDA"/>
            </a:solidFill>
            <a:ln w="22860" cap="sq">
              <a:solidFill>
                <a:srgbClr val="70AD47"/>
              </a:solidFill>
              <a:prstDash val="solid"/>
              <a:miter/>
            </a:ln>
          </p:spPr>
        </p:sp>
      </p:grpSp>
      <p:grpSp>
        <p:nvGrpSpPr>
          <p:cNvPr name="Group 77" id="77"/>
          <p:cNvGrpSpPr/>
          <p:nvPr/>
        </p:nvGrpSpPr>
        <p:grpSpPr>
          <a:xfrm rot="0">
            <a:off x="654021" y="6416756"/>
            <a:ext cx="3025595" cy="809002"/>
            <a:chOff x="0" y="0"/>
            <a:chExt cx="3478451" cy="930089"/>
          </a:xfrm>
        </p:grpSpPr>
        <p:sp>
          <p:nvSpPr>
            <p:cNvPr name="Freeform 78" id="78"/>
            <p:cNvSpPr/>
            <p:nvPr/>
          </p:nvSpPr>
          <p:spPr>
            <a:xfrm flipH="false" flipV="false" rot="0">
              <a:off x="0" y="0"/>
              <a:ext cx="3478451" cy="930094"/>
            </a:xfrm>
            <a:custGeom>
              <a:avLst/>
              <a:gdLst/>
              <a:ahLst/>
              <a:cxnLst/>
              <a:rect r="r" b="b" t="t" l="l"/>
              <a:pathLst>
                <a:path h="930094" w="3478451">
                  <a:moveTo>
                    <a:pt x="0" y="0"/>
                  </a:moveTo>
                  <a:lnTo>
                    <a:pt x="3478451" y="0"/>
                  </a:lnTo>
                  <a:lnTo>
                    <a:pt x="3478451" y="930094"/>
                  </a:lnTo>
                  <a:lnTo>
                    <a:pt x="0" y="930094"/>
                  </a:lnTo>
                  <a:close/>
                </a:path>
              </a:pathLst>
            </a:custGeom>
            <a:blipFill>
              <a:blip r:embed="rId3">
                <a:alphaModFix amt="0"/>
              </a:blip>
              <a:stretch>
                <a:fillRect l="0" t="-43490" r="-5544" b="-10333"/>
              </a:stretch>
            </a:blipFill>
          </p:spPr>
        </p:sp>
        <p:sp>
          <p:nvSpPr>
            <p:cNvPr name="TextBox 79" id="79"/>
            <p:cNvSpPr txBox="true"/>
            <p:nvPr/>
          </p:nvSpPr>
          <p:spPr>
            <a:xfrm>
              <a:off x="0" y="-9525"/>
              <a:ext cx="3478451" cy="939614"/>
            </a:xfrm>
            <a:prstGeom prst="rect">
              <a:avLst/>
            </a:prstGeom>
          </p:spPr>
          <p:txBody>
            <a:bodyPr anchor="ctr" rtlCol="false" tIns="0" lIns="0" bIns="0" rIns="0"/>
            <a:lstStyle/>
            <a:p>
              <a:pPr algn="l" marL="407192" indent="-203596" lvl="1">
                <a:lnSpc>
                  <a:spcPts val="2699"/>
                </a:lnSpc>
                <a:buFont typeface="Arial"/>
                <a:buChar char="•"/>
              </a:pPr>
              <a:r>
                <a:rPr lang="en-US" b="true" sz="2249">
                  <a:solidFill>
                    <a:srgbClr val="70AD47"/>
                  </a:solidFill>
                  <a:latin typeface="Arial Bold"/>
                  <a:ea typeface="Arial Bold"/>
                  <a:cs typeface="Arial Bold"/>
                  <a:sym typeface="Arial Bold"/>
                </a:rPr>
                <a:t>Works without reliable internet</a:t>
              </a:r>
            </a:p>
          </p:txBody>
        </p:sp>
      </p:grpSp>
      <p:grpSp>
        <p:nvGrpSpPr>
          <p:cNvPr name="Group 80" id="80"/>
          <p:cNvGrpSpPr/>
          <p:nvPr/>
        </p:nvGrpSpPr>
        <p:grpSpPr>
          <a:xfrm rot="0">
            <a:off x="561709" y="6932986"/>
            <a:ext cx="3831290" cy="1311527"/>
            <a:chOff x="0" y="0"/>
            <a:chExt cx="4404739" cy="1507830"/>
          </a:xfrm>
        </p:grpSpPr>
        <p:sp>
          <p:nvSpPr>
            <p:cNvPr name="Freeform 81" id="81"/>
            <p:cNvSpPr/>
            <p:nvPr/>
          </p:nvSpPr>
          <p:spPr>
            <a:xfrm flipH="false" flipV="false" rot="0">
              <a:off x="0" y="0"/>
              <a:ext cx="4404739" cy="1507830"/>
            </a:xfrm>
            <a:custGeom>
              <a:avLst/>
              <a:gdLst/>
              <a:ahLst/>
              <a:cxnLst/>
              <a:rect r="r" b="b" t="t" l="l"/>
              <a:pathLst>
                <a:path h="1507830" w="4404739">
                  <a:moveTo>
                    <a:pt x="0" y="0"/>
                  </a:moveTo>
                  <a:lnTo>
                    <a:pt x="4404739" y="0"/>
                  </a:lnTo>
                  <a:lnTo>
                    <a:pt x="4404739" y="1507830"/>
                  </a:lnTo>
                  <a:lnTo>
                    <a:pt x="0" y="1507830"/>
                  </a:lnTo>
                  <a:close/>
                </a:path>
              </a:pathLst>
            </a:custGeom>
            <a:blipFill>
              <a:blip r:embed="rId3">
                <a:alphaModFix amt="0"/>
              </a:blip>
              <a:stretch>
                <a:fillRect l="0" t="-26129" r="-1306" b="10801"/>
              </a:stretch>
            </a:blipFill>
          </p:spPr>
        </p:sp>
        <p:sp>
          <p:nvSpPr>
            <p:cNvPr name="TextBox 82" id="82"/>
            <p:cNvSpPr txBox="true"/>
            <p:nvPr/>
          </p:nvSpPr>
          <p:spPr>
            <a:xfrm>
              <a:off x="0" y="-19050"/>
              <a:ext cx="4404739" cy="1526880"/>
            </a:xfrm>
            <a:prstGeom prst="rect">
              <a:avLst/>
            </a:prstGeom>
          </p:spPr>
          <p:txBody>
            <a:bodyPr anchor="ctr" rtlCol="false" tIns="0" lIns="0" bIns="0" rIns="0"/>
            <a:lstStyle/>
            <a:p>
              <a:pPr algn="ctr">
                <a:lnSpc>
                  <a:spcPts val="2303"/>
                </a:lnSpc>
              </a:pPr>
              <a:r>
                <a:rPr lang="en-US" sz="1919">
                  <a:solidFill>
                    <a:srgbClr val="1F374B"/>
                  </a:solidFill>
                  <a:latin typeface="Arial"/>
                  <a:ea typeface="Arial"/>
                  <a:cs typeface="Arial"/>
                  <a:sym typeface="Arial"/>
                </a:rPr>
                <a:t>Runs fully on-site, so it stays effective even at remote, low-connectivity mine locations.</a:t>
              </a:r>
            </a:p>
          </p:txBody>
        </p:sp>
      </p:grpSp>
      <p:grpSp>
        <p:nvGrpSpPr>
          <p:cNvPr name="Group 83" id="83"/>
          <p:cNvGrpSpPr/>
          <p:nvPr/>
        </p:nvGrpSpPr>
        <p:grpSpPr>
          <a:xfrm rot="0">
            <a:off x="4846399" y="6180491"/>
            <a:ext cx="4245127" cy="2285321"/>
            <a:chOff x="0" y="0"/>
            <a:chExt cx="4880517" cy="2627376"/>
          </a:xfrm>
        </p:grpSpPr>
        <p:sp>
          <p:nvSpPr>
            <p:cNvPr name="Freeform 84" id="84"/>
            <p:cNvSpPr/>
            <p:nvPr/>
          </p:nvSpPr>
          <p:spPr>
            <a:xfrm flipH="false" flipV="false" rot="0">
              <a:off x="0" y="0"/>
              <a:ext cx="4880517" cy="2627376"/>
            </a:xfrm>
            <a:custGeom>
              <a:avLst/>
              <a:gdLst/>
              <a:ahLst/>
              <a:cxnLst/>
              <a:rect r="r" b="b" t="t" l="l"/>
              <a:pathLst>
                <a:path h="2627376" w="4880517">
                  <a:moveTo>
                    <a:pt x="0" y="437896"/>
                  </a:moveTo>
                  <a:cubicBezTo>
                    <a:pt x="0" y="196088"/>
                    <a:pt x="185787" y="0"/>
                    <a:pt x="414892" y="0"/>
                  </a:cubicBezTo>
                  <a:lnTo>
                    <a:pt x="4465625" y="0"/>
                  </a:lnTo>
                  <a:cubicBezTo>
                    <a:pt x="4694730" y="0"/>
                    <a:pt x="4880517" y="196088"/>
                    <a:pt x="4880517" y="437896"/>
                  </a:cubicBezTo>
                  <a:lnTo>
                    <a:pt x="4880517" y="2189480"/>
                  </a:lnTo>
                  <a:cubicBezTo>
                    <a:pt x="4880517" y="2431288"/>
                    <a:pt x="4694730" y="2627376"/>
                    <a:pt x="4465625" y="2627376"/>
                  </a:cubicBezTo>
                  <a:lnTo>
                    <a:pt x="414892" y="2627376"/>
                  </a:lnTo>
                  <a:cubicBezTo>
                    <a:pt x="185787" y="2627376"/>
                    <a:pt x="0" y="2431288"/>
                    <a:pt x="0" y="2189480"/>
                  </a:cubicBezTo>
                  <a:close/>
                </a:path>
              </a:pathLst>
            </a:custGeom>
            <a:solidFill>
              <a:srgbClr val="FCE4D6"/>
            </a:solidFill>
            <a:ln w="22860" cap="sq">
              <a:solidFill>
                <a:srgbClr val="ED7D31"/>
              </a:solidFill>
              <a:prstDash val="solid"/>
              <a:miter/>
            </a:ln>
          </p:spPr>
        </p:sp>
      </p:grpSp>
      <p:grpSp>
        <p:nvGrpSpPr>
          <p:cNvPr name="Group 85" id="85"/>
          <p:cNvGrpSpPr/>
          <p:nvPr/>
        </p:nvGrpSpPr>
        <p:grpSpPr>
          <a:xfrm rot="0">
            <a:off x="4851108" y="6253993"/>
            <a:ext cx="4109798" cy="831283"/>
            <a:chOff x="0" y="0"/>
            <a:chExt cx="4724932" cy="955705"/>
          </a:xfrm>
        </p:grpSpPr>
        <p:sp>
          <p:nvSpPr>
            <p:cNvPr name="Freeform 86" id="86"/>
            <p:cNvSpPr/>
            <p:nvPr/>
          </p:nvSpPr>
          <p:spPr>
            <a:xfrm flipH="false" flipV="false" rot="0">
              <a:off x="0" y="0"/>
              <a:ext cx="4724933" cy="955710"/>
            </a:xfrm>
            <a:custGeom>
              <a:avLst/>
              <a:gdLst/>
              <a:ahLst/>
              <a:cxnLst/>
              <a:rect r="r" b="b" t="t" l="l"/>
              <a:pathLst>
                <a:path h="955710" w="4724933">
                  <a:moveTo>
                    <a:pt x="0" y="0"/>
                  </a:moveTo>
                  <a:lnTo>
                    <a:pt x="4724933" y="0"/>
                  </a:lnTo>
                  <a:lnTo>
                    <a:pt x="4724933" y="955710"/>
                  </a:lnTo>
                  <a:lnTo>
                    <a:pt x="0" y="955710"/>
                  </a:lnTo>
                  <a:close/>
                </a:path>
              </a:pathLst>
            </a:custGeom>
            <a:blipFill>
              <a:blip r:embed="rId3">
                <a:alphaModFix amt="0"/>
              </a:blip>
              <a:stretch>
                <a:fillRect l="0" t="-38316" r="26459" b="-3368"/>
              </a:stretch>
            </a:blipFill>
          </p:spPr>
        </p:sp>
        <p:sp>
          <p:nvSpPr>
            <p:cNvPr name="TextBox 87" id="87"/>
            <p:cNvSpPr txBox="true"/>
            <p:nvPr/>
          </p:nvSpPr>
          <p:spPr>
            <a:xfrm>
              <a:off x="0" y="-9525"/>
              <a:ext cx="4724932" cy="965230"/>
            </a:xfrm>
            <a:prstGeom prst="rect">
              <a:avLst/>
            </a:prstGeom>
          </p:spPr>
          <p:txBody>
            <a:bodyPr anchor="ctr" rtlCol="false" tIns="0" lIns="0" bIns="0" rIns="0"/>
            <a:lstStyle/>
            <a:p>
              <a:pPr algn="l" marL="407192" indent="-203596" lvl="1">
                <a:lnSpc>
                  <a:spcPts val="2699"/>
                </a:lnSpc>
                <a:buFont typeface="Arial"/>
                <a:buChar char="•"/>
              </a:pPr>
              <a:r>
                <a:rPr lang="en-US" b="true" sz="2249">
                  <a:solidFill>
                    <a:srgbClr val="ED7D31"/>
                  </a:solidFill>
                  <a:latin typeface="Arial Bold"/>
                  <a:ea typeface="Arial Bold"/>
                  <a:cs typeface="Arial Bold"/>
                  <a:sym typeface="Arial Bold"/>
                </a:rPr>
                <a:t>Mass-Independent Monitoring</a:t>
              </a:r>
            </a:p>
          </p:txBody>
        </p:sp>
      </p:grpSp>
      <p:grpSp>
        <p:nvGrpSpPr>
          <p:cNvPr name="Group 88" id="88"/>
          <p:cNvGrpSpPr/>
          <p:nvPr/>
        </p:nvGrpSpPr>
        <p:grpSpPr>
          <a:xfrm rot="0">
            <a:off x="4986751" y="6669635"/>
            <a:ext cx="3888750" cy="1796177"/>
            <a:chOff x="0" y="0"/>
            <a:chExt cx="4470799" cy="2065020"/>
          </a:xfrm>
        </p:grpSpPr>
        <p:sp>
          <p:nvSpPr>
            <p:cNvPr name="Freeform 89" id="89"/>
            <p:cNvSpPr/>
            <p:nvPr/>
          </p:nvSpPr>
          <p:spPr>
            <a:xfrm flipH="false" flipV="false" rot="0">
              <a:off x="0" y="0"/>
              <a:ext cx="4470799" cy="2065020"/>
            </a:xfrm>
            <a:custGeom>
              <a:avLst/>
              <a:gdLst/>
              <a:ahLst/>
              <a:cxnLst/>
              <a:rect r="r" b="b" t="t" l="l"/>
              <a:pathLst>
                <a:path h="2065020" w="4470799">
                  <a:moveTo>
                    <a:pt x="0" y="0"/>
                  </a:moveTo>
                  <a:lnTo>
                    <a:pt x="4470799" y="0"/>
                  </a:lnTo>
                  <a:lnTo>
                    <a:pt x="4470799" y="2065020"/>
                  </a:lnTo>
                  <a:lnTo>
                    <a:pt x="0" y="2065020"/>
                  </a:lnTo>
                  <a:close/>
                </a:path>
              </a:pathLst>
            </a:custGeom>
            <a:blipFill>
              <a:blip r:embed="rId3">
                <a:alphaModFix amt="0"/>
              </a:blip>
              <a:stretch>
                <a:fillRect l="0" t="-19079" r="190" b="34869"/>
              </a:stretch>
            </a:blipFill>
          </p:spPr>
        </p:sp>
        <p:sp>
          <p:nvSpPr>
            <p:cNvPr name="TextBox 90" id="90"/>
            <p:cNvSpPr txBox="true"/>
            <p:nvPr/>
          </p:nvSpPr>
          <p:spPr>
            <a:xfrm>
              <a:off x="0" y="-19050"/>
              <a:ext cx="4470799" cy="2084070"/>
            </a:xfrm>
            <a:prstGeom prst="rect">
              <a:avLst/>
            </a:prstGeom>
          </p:spPr>
          <p:txBody>
            <a:bodyPr anchor="ctr" rtlCol="false" tIns="0" lIns="0" bIns="0" rIns="0"/>
            <a:lstStyle/>
            <a:p>
              <a:pPr algn="ctr">
                <a:lnSpc>
                  <a:spcPts val="2303"/>
                </a:lnSpc>
              </a:pPr>
              <a:r>
                <a:rPr lang="en-US" sz="1919">
                  <a:solidFill>
                    <a:srgbClr val="1F374B"/>
                  </a:solidFill>
                  <a:latin typeface="Arial"/>
                  <a:ea typeface="Arial"/>
                  <a:cs typeface="Arial"/>
                  <a:sym typeface="Arial"/>
                </a:rPr>
                <a:t>Detects abnormal power/torque demand without requiring continuous direct measurement of ore mass.</a:t>
              </a:r>
            </a:p>
          </p:txBody>
        </p:sp>
      </p:grpSp>
      <p:grpSp>
        <p:nvGrpSpPr>
          <p:cNvPr name="Group 91" id="91"/>
          <p:cNvGrpSpPr/>
          <p:nvPr/>
        </p:nvGrpSpPr>
        <p:grpSpPr>
          <a:xfrm rot="0">
            <a:off x="9322622" y="6180491"/>
            <a:ext cx="4245127" cy="2285321"/>
            <a:chOff x="0" y="0"/>
            <a:chExt cx="4880517" cy="2627376"/>
          </a:xfrm>
        </p:grpSpPr>
        <p:sp>
          <p:nvSpPr>
            <p:cNvPr name="Freeform 92" id="92"/>
            <p:cNvSpPr/>
            <p:nvPr/>
          </p:nvSpPr>
          <p:spPr>
            <a:xfrm flipH="false" flipV="false" rot="0">
              <a:off x="0" y="0"/>
              <a:ext cx="4880517" cy="2627376"/>
            </a:xfrm>
            <a:custGeom>
              <a:avLst/>
              <a:gdLst/>
              <a:ahLst/>
              <a:cxnLst/>
              <a:rect r="r" b="b" t="t" l="l"/>
              <a:pathLst>
                <a:path h="2627376" w="4880517">
                  <a:moveTo>
                    <a:pt x="0" y="437896"/>
                  </a:moveTo>
                  <a:cubicBezTo>
                    <a:pt x="0" y="196088"/>
                    <a:pt x="185787" y="0"/>
                    <a:pt x="414892" y="0"/>
                  </a:cubicBezTo>
                  <a:lnTo>
                    <a:pt x="4465625" y="0"/>
                  </a:lnTo>
                  <a:cubicBezTo>
                    <a:pt x="4694730" y="0"/>
                    <a:pt x="4880517" y="196088"/>
                    <a:pt x="4880517" y="437896"/>
                  </a:cubicBezTo>
                  <a:lnTo>
                    <a:pt x="4880517" y="2189480"/>
                  </a:lnTo>
                  <a:cubicBezTo>
                    <a:pt x="4880517" y="2431288"/>
                    <a:pt x="4694730" y="2627376"/>
                    <a:pt x="4465625" y="2627376"/>
                  </a:cubicBezTo>
                  <a:lnTo>
                    <a:pt x="414892" y="2627376"/>
                  </a:lnTo>
                  <a:cubicBezTo>
                    <a:pt x="185787" y="2627376"/>
                    <a:pt x="0" y="2431288"/>
                    <a:pt x="0" y="2189480"/>
                  </a:cubicBezTo>
                  <a:close/>
                </a:path>
              </a:pathLst>
            </a:custGeom>
            <a:solidFill>
              <a:srgbClr val="DDEBF7"/>
            </a:solidFill>
            <a:ln w="22860" cap="sq">
              <a:solidFill>
                <a:srgbClr val="0070C0"/>
              </a:solidFill>
              <a:prstDash val="solid"/>
              <a:miter/>
            </a:ln>
          </p:spPr>
        </p:sp>
      </p:grpSp>
      <p:grpSp>
        <p:nvGrpSpPr>
          <p:cNvPr name="Group 93" id="93"/>
          <p:cNvGrpSpPr/>
          <p:nvPr/>
        </p:nvGrpSpPr>
        <p:grpSpPr>
          <a:xfrm rot="0">
            <a:off x="9727039" y="6016118"/>
            <a:ext cx="3840710" cy="1307034"/>
            <a:chOff x="0" y="0"/>
            <a:chExt cx="4415568" cy="1502664"/>
          </a:xfrm>
        </p:grpSpPr>
        <p:sp>
          <p:nvSpPr>
            <p:cNvPr name="Freeform 94" id="94"/>
            <p:cNvSpPr/>
            <p:nvPr/>
          </p:nvSpPr>
          <p:spPr>
            <a:xfrm flipH="false" flipV="false" rot="0">
              <a:off x="0" y="0"/>
              <a:ext cx="4415568" cy="1502669"/>
            </a:xfrm>
            <a:custGeom>
              <a:avLst/>
              <a:gdLst/>
              <a:ahLst/>
              <a:cxnLst/>
              <a:rect r="r" b="b" t="t" l="l"/>
              <a:pathLst>
                <a:path h="1502669" w="4415568">
                  <a:moveTo>
                    <a:pt x="0" y="0"/>
                  </a:moveTo>
                  <a:lnTo>
                    <a:pt x="4415568" y="0"/>
                  </a:lnTo>
                  <a:lnTo>
                    <a:pt x="4415568" y="1502669"/>
                  </a:lnTo>
                  <a:lnTo>
                    <a:pt x="0" y="1502669"/>
                  </a:lnTo>
                  <a:close/>
                </a:path>
              </a:pathLst>
            </a:custGeom>
            <a:blipFill>
              <a:blip r:embed="rId3">
                <a:alphaModFix amt="0"/>
              </a:blip>
              <a:stretch>
                <a:fillRect l="0" t="-24369" r="21307" b="34256"/>
              </a:stretch>
            </a:blipFill>
          </p:spPr>
        </p:sp>
        <p:sp>
          <p:nvSpPr>
            <p:cNvPr name="TextBox 95" id="95"/>
            <p:cNvSpPr txBox="true"/>
            <p:nvPr/>
          </p:nvSpPr>
          <p:spPr>
            <a:xfrm>
              <a:off x="0" y="-9525"/>
              <a:ext cx="4415568" cy="1512189"/>
            </a:xfrm>
            <a:prstGeom prst="rect">
              <a:avLst/>
            </a:prstGeom>
          </p:spPr>
          <p:txBody>
            <a:bodyPr anchor="ctr" rtlCol="false" tIns="0" lIns="0" bIns="0" rIns="0"/>
            <a:lstStyle/>
            <a:p>
              <a:pPr algn="l" marL="407192" indent="-203596" lvl="1">
                <a:lnSpc>
                  <a:spcPts val="2699"/>
                </a:lnSpc>
                <a:buFont typeface="Arial"/>
                <a:buChar char="•"/>
              </a:pPr>
              <a:r>
                <a:rPr lang="en-US" b="true" sz="2249">
                  <a:solidFill>
                    <a:srgbClr val="0070C0"/>
                  </a:solidFill>
                  <a:latin typeface="Arial Bold"/>
                  <a:ea typeface="Arial Bold"/>
                  <a:cs typeface="Arial Bold"/>
                  <a:sym typeface="Arial Bold"/>
                </a:rPr>
                <a:t>No need to replace existing equipment</a:t>
              </a:r>
            </a:p>
          </p:txBody>
        </p:sp>
      </p:grpSp>
      <p:grpSp>
        <p:nvGrpSpPr>
          <p:cNvPr name="Group 96" id="96"/>
          <p:cNvGrpSpPr/>
          <p:nvPr/>
        </p:nvGrpSpPr>
        <p:grpSpPr>
          <a:xfrm rot="0">
            <a:off x="9375372" y="6987920"/>
            <a:ext cx="4192377" cy="1256593"/>
            <a:chOff x="0" y="0"/>
            <a:chExt cx="4819871" cy="1444673"/>
          </a:xfrm>
        </p:grpSpPr>
        <p:sp>
          <p:nvSpPr>
            <p:cNvPr name="Freeform 97" id="97"/>
            <p:cNvSpPr/>
            <p:nvPr/>
          </p:nvSpPr>
          <p:spPr>
            <a:xfrm flipH="false" flipV="false" rot="0">
              <a:off x="0" y="0"/>
              <a:ext cx="4819872" cy="1444673"/>
            </a:xfrm>
            <a:custGeom>
              <a:avLst/>
              <a:gdLst/>
              <a:ahLst/>
              <a:cxnLst/>
              <a:rect r="r" b="b" t="t" l="l"/>
              <a:pathLst>
                <a:path h="1444673" w="4819872">
                  <a:moveTo>
                    <a:pt x="0" y="0"/>
                  </a:moveTo>
                  <a:lnTo>
                    <a:pt x="4819872" y="0"/>
                  </a:lnTo>
                  <a:lnTo>
                    <a:pt x="4819872" y="1444673"/>
                  </a:lnTo>
                  <a:lnTo>
                    <a:pt x="0" y="1444673"/>
                  </a:lnTo>
                  <a:close/>
                </a:path>
              </a:pathLst>
            </a:custGeom>
            <a:blipFill>
              <a:blip r:embed="rId3">
                <a:alphaModFix amt="0"/>
              </a:blip>
              <a:stretch>
                <a:fillRect l="0" t="-27271" r="7419" b="6901"/>
              </a:stretch>
            </a:blipFill>
          </p:spPr>
        </p:sp>
        <p:sp>
          <p:nvSpPr>
            <p:cNvPr name="TextBox 98" id="98"/>
            <p:cNvSpPr txBox="true"/>
            <p:nvPr/>
          </p:nvSpPr>
          <p:spPr>
            <a:xfrm>
              <a:off x="0" y="-19050"/>
              <a:ext cx="4819871" cy="1463723"/>
            </a:xfrm>
            <a:prstGeom prst="rect">
              <a:avLst/>
            </a:prstGeom>
          </p:spPr>
          <p:txBody>
            <a:bodyPr anchor="ctr" rtlCol="false" tIns="0" lIns="0" bIns="0" rIns="0"/>
            <a:lstStyle/>
            <a:p>
              <a:pPr algn="ctr">
                <a:lnSpc>
                  <a:spcPts val="2303"/>
                </a:lnSpc>
              </a:pPr>
              <a:r>
                <a:rPr lang="en-US" sz="1919">
                  <a:solidFill>
                    <a:srgbClr val="1F374B"/>
                  </a:solidFill>
                  <a:latin typeface="Arial"/>
                  <a:ea typeface="Arial"/>
                  <a:cs typeface="Arial"/>
                  <a:sym typeface="Arial"/>
                </a:rPr>
                <a:t>Integrates directly with whatever PLC/SCADA system the mine already uses.</a:t>
              </a:r>
            </a:p>
          </p:txBody>
        </p:sp>
      </p:grpSp>
      <p:grpSp>
        <p:nvGrpSpPr>
          <p:cNvPr name="Group 99" id="99"/>
          <p:cNvGrpSpPr/>
          <p:nvPr/>
        </p:nvGrpSpPr>
        <p:grpSpPr>
          <a:xfrm rot="0">
            <a:off x="13798845" y="6180491"/>
            <a:ext cx="4245127" cy="2285321"/>
            <a:chOff x="0" y="0"/>
            <a:chExt cx="4880517" cy="2627376"/>
          </a:xfrm>
        </p:grpSpPr>
        <p:sp>
          <p:nvSpPr>
            <p:cNvPr name="Freeform 100" id="100"/>
            <p:cNvSpPr/>
            <p:nvPr/>
          </p:nvSpPr>
          <p:spPr>
            <a:xfrm flipH="false" flipV="false" rot="0">
              <a:off x="0" y="0"/>
              <a:ext cx="4880517" cy="2627376"/>
            </a:xfrm>
            <a:custGeom>
              <a:avLst/>
              <a:gdLst/>
              <a:ahLst/>
              <a:cxnLst/>
              <a:rect r="r" b="b" t="t" l="l"/>
              <a:pathLst>
                <a:path h="2627376" w="4880517">
                  <a:moveTo>
                    <a:pt x="0" y="437896"/>
                  </a:moveTo>
                  <a:cubicBezTo>
                    <a:pt x="0" y="196088"/>
                    <a:pt x="185787" y="0"/>
                    <a:pt x="414892" y="0"/>
                  </a:cubicBezTo>
                  <a:lnTo>
                    <a:pt x="4465625" y="0"/>
                  </a:lnTo>
                  <a:cubicBezTo>
                    <a:pt x="4694730" y="0"/>
                    <a:pt x="4880517" y="196088"/>
                    <a:pt x="4880517" y="437896"/>
                  </a:cubicBezTo>
                  <a:lnTo>
                    <a:pt x="4880517" y="2189480"/>
                  </a:lnTo>
                  <a:cubicBezTo>
                    <a:pt x="4880517" y="2431288"/>
                    <a:pt x="4694730" y="2627376"/>
                    <a:pt x="4465625" y="2627376"/>
                  </a:cubicBezTo>
                  <a:lnTo>
                    <a:pt x="414892" y="2627376"/>
                  </a:lnTo>
                  <a:cubicBezTo>
                    <a:pt x="185787" y="2627376"/>
                    <a:pt x="0" y="2431288"/>
                    <a:pt x="0" y="2189480"/>
                  </a:cubicBezTo>
                  <a:close/>
                </a:path>
              </a:pathLst>
            </a:custGeom>
            <a:solidFill>
              <a:srgbClr val="EAE0F5"/>
            </a:solidFill>
            <a:ln w="22860" cap="sq">
              <a:solidFill>
                <a:srgbClr val="7030A0"/>
              </a:solidFill>
              <a:prstDash val="solid"/>
              <a:miter/>
            </a:ln>
          </p:spPr>
        </p:sp>
      </p:grpSp>
      <p:grpSp>
        <p:nvGrpSpPr>
          <p:cNvPr name="Group 101" id="101"/>
          <p:cNvGrpSpPr/>
          <p:nvPr/>
        </p:nvGrpSpPr>
        <p:grpSpPr>
          <a:xfrm rot="0">
            <a:off x="13948303" y="6392217"/>
            <a:ext cx="3946210" cy="540768"/>
            <a:chOff x="0" y="0"/>
            <a:chExt cx="4536859" cy="621708"/>
          </a:xfrm>
        </p:grpSpPr>
        <p:sp>
          <p:nvSpPr>
            <p:cNvPr name="Freeform 102" id="102"/>
            <p:cNvSpPr/>
            <p:nvPr/>
          </p:nvSpPr>
          <p:spPr>
            <a:xfrm flipH="false" flipV="false" rot="0">
              <a:off x="0" y="0"/>
              <a:ext cx="4536857" cy="621713"/>
            </a:xfrm>
            <a:custGeom>
              <a:avLst/>
              <a:gdLst/>
              <a:ahLst/>
              <a:cxnLst/>
              <a:rect r="r" b="b" t="t" l="l"/>
              <a:pathLst>
                <a:path h="621713" w="4536857">
                  <a:moveTo>
                    <a:pt x="0" y="0"/>
                  </a:moveTo>
                  <a:lnTo>
                    <a:pt x="4536857" y="0"/>
                  </a:lnTo>
                  <a:lnTo>
                    <a:pt x="4536857" y="621713"/>
                  </a:lnTo>
                  <a:lnTo>
                    <a:pt x="0" y="621713"/>
                  </a:lnTo>
                  <a:close/>
                </a:path>
              </a:pathLst>
            </a:custGeom>
            <a:blipFill>
              <a:blip r:embed="rId3">
                <a:alphaModFix amt="0"/>
              </a:blip>
              <a:stretch>
                <a:fillRect l="0" t="-77242" r="10512" b="-77241"/>
              </a:stretch>
            </a:blipFill>
          </p:spPr>
        </p:sp>
        <p:sp>
          <p:nvSpPr>
            <p:cNvPr name="TextBox 103" id="103"/>
            <p:cNvSpPr txBox="true"/>
            <p:nvPr/>
          </p:nvSpPr>
          <p:spPr>
            <a:xfrm>
              <a:off x="0" y="-9525"/>
              <a:ext cx="4536859" cy="631233"/>
            </a:xfrm>
            <a:prstGeom prst="rect">
              <a:avLst/>
            </a:prstGeom>
          </p:spPr>
          <p:txBody>
            <a:bodyPr anchor="ctr" rtlCol="false" tIns="0" lIns="0" bIns="0" rIns="0"/>
            <a:lstStyle/>
            <a:p>
              <a:pPr algn="l" marL="407192" indent="-203596" lvl="1">
                <a:lnSpc>
                  <a:spcPts val="2699"/>
                </a:lnSpc>
                <a:buFont typeface="Arial"/>
                <a:buChar char="•"/>
              </a:pPr>
              <a:r>
                <a:rPr lang="en-US" b="true" sz="2249">
                  <a:solidFill>
                    <a:srgbClr val="7030A0"/>
                  </a:solidFill>
                  <a:latin typeface="Arial Bold"/>
                  <a:ea typeface="Arial Bold"/>
                  <a:cs typeface="Arial Bold"/>
                  <a:sym typeface="Arial Bold"/>
                </a:rPr>
                <a:t>Predictive Fault Detection</a:t>
              </a:r>
            </a:p>
          </p:txBody>
        </p:sp>
      </p:grpSp>
      <p:grpSp>
        <p:nvGrpSpPr>
          <p:cNvPr name="Group 104" id="104"/>
          <p:cNvGrpSpPr/>
          <p:nvPr/>
        </p:nvGrpSpPr>
        <p:grpSpPr>
          <a:xfrm rot="0">
            <a:off x="14070131" y="6825261"/>
            <a:ext cx="3677436" cy="1819870"/>
            <a:chOff x="0" y="0"/>
            <a:chExt cx="4227856" cy="2092259"/>
          </a:xfrm>
        </p:grpSpPr>
        <p:sp>
          <p:nvSpPr>
            <p:cNvPr name="Freeform 105" id="105"/>
            <p:cNvSpPr/>
            <p:nvPr/>
          </p:nvSpPr>
          <p:spPr>
            <a:xfrm flipH="false" flipV="false" rot="0">
              <a:off x="0" y="0"/>
              <a:ext cx="4227856" cy="2092259"/>
            </a:xfrm>
            <a:custGeom>
              <a:avLst/>
              <a:gdLst/>
              <a:ahLst/>
              <a:cxnLst/>
              <a:rect r="r" b="b" t="t" l="l"/>
              <a:pathLst>
                <a:path h="2092259" w="4227856">
                  <a:moveTo>
                    <a:pt x="0" y="0"/>
                  </a:moveTo>
                  <a:lnTo>
                    <a:pt x="4227856" y="0"/>
                  </a:lnTo>
                  <a:lnTo>
                    <a:pt x="4227856" y="2092259"/>
                  </a:lnTo>
                  <a:lnTo>
                    <a:pt x="0" y="2092259"/>
                  </a:lnTo>
                  <a:close/>
                </a:path>
              </a:pathLst>
            </a:custGeom>
            <a:blipFill>
              <a:blip r:embed="rId3">
                <a:alphaModFix amt="0"/>
              </a:blip>
              <a:stretch>
                <a:fillRect l="0" t="-18830" r="-5544" b="35717"/>
              </a:stretch>
            </a:blipFill>
          </p:spPr>
        </p:sp>
        <p:sp>
          <p:nvSpPr>
            <p:cNvPr name="TextBox 106" id="106"/>
            <p:cNvSpPr txBox="true"/>
            <p:nvPr/>
          </p:nvSpPr>
          <p:spPr>
            <a:xfrm>
              <a:off x="0" y="-19050"/>
              <a:ext cx="4227856" cy="2111309"/>
            </a:xfrm>
            <a:prstGeom prst="rect">
              <a:avLst/>
            </a:prstGeom>
          </p:spPr>
          <p:txBody>
            <a:bodyPr anchor="ctr" rtlCol="false" tIns="0" lIns="0" bIns="0" rIns="0"/>
            <a:lstStyle/>
            <a:p>
              <a:pPr algn="ctr">
                <a:lnSpc>
                  <a:spcPts val="2183"/>
                </a:lnSpc>
              </a:pPr>
              <a:r>
                <a:rPr lang="en-US" sz="1819">
                  <a:solidFill>
                    <a:srgbClr val="1F374B"/>
                  </a:solidFill>
                  <a:latin typeface="Arial"/>
                  <a:ea typeface="Arial"/>
                  <a:cs typeface="Arial"/>
                  <a:sym typeface="Arial"/>
                </a:rPr>
                <a:t>Identifies abnormal conveyor position before it develops into a major breakdown.</a:t>
              </a:r>
            </a:p>
            <a:p>
              <a:pPr algn="ctr">
                <a:lnSpc>
                  <a:spcPts val="2183"/>
                </a:lnSpc>
              </a:pPr>
              <a:r>
                <a:rPr lang="en-US" sz="1819">
                  <a:solidFill>
                    <a:srgbClr val="1F374B"/>
                  </a:solidFill>
                  <a:latin typeface="Arial"/>
                  <a:ea typeface="Arial"/>
                  <a:cs typeface="Arial"/>
                  <a:sym typeface="Arial"/>
                </a:rPr>
                <a:t>Detects thinning,wear and tear in belt before consequential damage.</a:t>
              </a:r>
            </a:p>
          </p:txBody>
        </p:sp>
      </p:grpSp>
      <p:grpSp>
        <p:nvGrpSpPr>
          <p:cNvPr name="Group 107" id="107"/>
          <p:cNvGrpSpPr/>
          <p:nvPr/>
        </p:nvGrpSpPr>
        <p:grpSpPr>
          <a:xfrm rot="0">
            <a:off x="144104" y="8760758"/>
            <a:ext cx="16708020" cy="843199"/>
            <a:chOff x="0" y="0"/>
            <a:chExt cx="17998088" cy="908304"/>
          </a:xfrm>
        </p:grpSpPr>
        <p:sp>
          <p:nvSpPr>
            <p:cNvPr name="Freeform 108" id="108"/>
            <p:cNvSpPr/>
            <p:nvPr/>
          </p:nvSpPr>
          <p:spPr>
            <a:xfrm flipH="false" flipV="false" rot="0">
              <a:off x="0" y="0"/>
              <a:ext cx="17998087" cy="908304"/>
            </a:xfrm>
            <a:custGeom>
              <a:avLst/>
              <a:gdLst/>
              <a:ahLst/>
              <a:cxnLst/>
              <a:rect r="r" b="b" t="t" l="l"/>
              <a:pathLst>
                <a:path h="908304" w="17998087">
                  <a:moveTo>
                    <a:pt x="0" y="151384"/>
                  </a:moveTo>
                  <a:cubicBezTo>
                    <a:pt x="0" y="67818"/>
                    <a:pt x="62571" y="0"/>
                    <a:pt x="139673" y="0"/>
                  </a:cubicBezTo>
                  <a:lnTo>
                    <a:pt x="17858415" y="0"/>
                  </a:lnTo>
                  <a:cubicBezTo>
                    <a:pt x="17935516" y="0"/>
                    <a:pt x="17998087" y="67818"/>
                    <a:pt x="17998087" y="151384"/>
                  </a:cubicBezTo>
                  <a:lnTo>
                    <a:pt x="17998087" y="756920"/>
                  </a:lnTo>
                  <a:cubicBezTo>
                    <a:pt x="17998087" y="840486"/>
                    <a:pt x="17935516" y="908304"/>
                    <a:pt x="17858415" y="908304"/>
                  </a:cubicBezTo>
                  <a:lnTo>
                    <a:pt x="139673" y="908304"/>
                  </a:lnTo>
                  <a:cubicBezTo>
                    <a:pt x="62571" y="908304"/>
                    <a:pt x="0" y="840486"/>
                    <a:pt x="0" y="756920"/>
                  </a:cubicBezTo>
                  <a:close/>
                </a:path>
              </a:pathLst>
            </a:custGeom>
            <a:solidFill>
              <a:srgbClr val="FFFFFF"/>
            </a:solidFill>
            <a:ln w="22860" cap="sq">
              <a:solidFill>
                <a:srgbClr val="0070C0"/>
              </a:solidFill>
              <a:prstDash val="solid"/>
              <a:miter/>
            </a:ln>
          </p:spPr>
        </p:sp>
      </p:grpSp>
      <p:grpSp>
        <p:nvGrpSpPr>
          <p:cNvPr name="Group 109" id="109"/>
          <p:cNvGrpSpPr/>
          <p:nvPr/>
        </p:nvGrpSpPr>
        <p:grpSpPr>
          <a:xfrm rot="0">
            <a:off x="72052" y="8883256"/>
            <a:ext cx="16852124" cy="699213"/>
            <a:chOff x="0" y="0"/>
            <a:chExt cx="19374466" cy="803867"/>
          </a:xfrm>
        </p:grpSpPr>
        <p:sp>
          <p:nvSpPr>
            <p:cNvPr name="Freeform 110" id="110"/>
            <p:cNvSpPr/>
            <p:nvPr/>
          </p:nvSpPr>
          <p:spPr>
            <a:xfrm flipH="false" flipV="false" rot="0">
              <a:off x="0" y="0"/>
              <a:ext cx="19374465" cy="803867"/>
            </a:xfrm>
            <a:custGeom>
              <a:avLst/>
              <a:gdLst/>
              <a:ahLst/>
              <a:cxnLst/>
              <a:rect r="r" b="b" t="t" l="l"/>
              <a:pathLst>
                <a:path h="803867" w="19374465">
                  <a:moveTo>
                    <a:pt x="0" y="0"/>
                  </a:moveTo>
                  <a:lnTo>
                    <a:pt x="19374465" y="0"/>
                  </a:lnTo>
                  <a:lnTo>
                    <a:pt x="19374465" y="803867"/>
                  </a:lnTo>
                  <a:lnTo>
                    <a:pt x="0" y="803867"/>
                  </a:lnTo>
                  <a:close/>
                </a:path>
              </a:pathLst>
            </a:custGeom>
            <a:blipFill>
              <a:blip r:embed="rId3">
                <a:alphaModFix amt="0"/>
              </a:blip>
              <a:stretch>
                <a:fillRect l="0" t="-416771" r="2775" b="-396396"/>
              </a:stretch>
            </a:blipFill>
          </p:spPr>
        </p:sp>
        <p:sp>
          <p:nvSpPr>
            <p:cNvPr name="TextBox 111" id="111"/>
            <p:cNvSpPr txBox="true"/>
            <p:nvPr/>
          </p:nvSpPr>
          <p:spPr>
            <a:xfrm>
              <a:off x="0" y="-19050"/>
              <a:ext cx="19374466" cy="822917"/>
            </a:xfrm>
            <a:prstGeom prst="rect">
              <a:avLst/>
            </a:prstGeom>
          </p:spPr>
          <p:txBody>
            <a:bodyPr anchor="ctr" rtlCol="false" tIns="0" lIns="0" bIns="0" rIns="0"/>
            <a:lstStyle/>
            <a:p>
              <a:pPr algn="ctr">
                <a:lnSpc>
                  <a:spcPts val="2375"/>
                </a:lnSpc>
              </a:pPr>
              <a:r>
                <a:rPr lang="en-US" sz="1979" b="true">
                  <a:solidFill>
                    <a:srgbClr val="1F374B"/>
                  </a:solidFill>
                  <a:latin typeface="Arial Bold"/>
                  <a:ea typeface="Arial Bold"/>
                  <a:cs typeface="Arial Bold"/>
                  <a:sym typeface="Arial Bold"/>
                </a:rPr>
                <a:t>Prototype success can be demonstrated through: continuous sensing  •  Edge AI Digitalisation •  Control Room Integration  •  Local &amp; Cloud Sync</a:t>
              </a:r>
            </a:p>
          </p:txBody>
        </p:sp>
      </p:grpSp>
      <p:grpSp>
        <p:nvGrpSpPr>
          <p:cNvPr name="Group 112" id="112"/>
          <p:cNvGrpSpPr/>
          <p:nvPr/>
        </p:nvGrpSpPr>
        <p:grpSpPr>
          <a:xfrm rot="0">
            <a:off x="225381" y="218932"/>
            <a:ext cx="1524352" cy="1524352"/>
            <a:chOff x="0" y="0"/>
            <a:chExt cx="2032470" cy="2032470"/>
          </a:xfrm>
        </p:grpSpPr>
        <p:sp>
          <p:nvSpPr>
            <p:cNvPr name="Freeform 113" id="113"/>
            <p:cNvSpPr/>
            <p:nvPr/>
          </p:nvSpPr>
          <p:spPr>
            <a:xfrm flipH="false" flipV="false" rot="0">
              <a:off x="0" y="0"/>
              <a:ext cx="2032508" cy="2032508"/>
            </a:xfrm>
            <a:custGeom>
              <a:avLst/>
              <a:gdLst/>
              <a:ahLst/>
              <a:cxnLst/>
              <a:rect r="r" b="b" t="t" l="l"/>
              <a:pathLst>
                <a:path h="2032508" w="2032508">
                  <a:moveTo>
                    <a:pt x="0" y="0"/>
                  </a:moveTo>
                  <a:lnTo>
                    <a:pt x="2032508" y="0"/>
                  </a:lnTo>
                  <a:lnTo>
                    <a:pt x="2032508" y="2032508"/>
                  </a:lnTo>
                  <a:lnTo>
                    <a:pt x="0" y="2032508"/>
                  </a:lnTo>
                  <a:lnTo>
                    <a:pt x="0" y="0"/>
                  </a:lnTo>
                  <a:close/>
                </a:path>
              </a:pathLst>
            </a:custGeom>
            <a:blipFill>
              <a:blip r:embed="rId5"/>
              <a:stretch>
                <a:fillRect l="0" t="0" r="1" b="1"/>
              </a:stretch>
            </a:blipFill>
          </p:spPr>
        </p:sp>
      </p:grpSp>
      <p:sp>
        <p:nvSpPr>
          <p:cNvPr name="TextBox 114" id="114"/>
          <p:cNvSpPr txBox="true"/>
          <p:nvPr/>
        </p:nvSpPr>
        <p:spPr>
          <a:xfrm rot="0">
            <a:off x="17544674" y="9546806"/>
            <a:ext cx="1000458" cy="519713"/>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4712" y="204788"/>
            <a:ext cx="10829925" cy="1988344"/>
            <a:chOff x="0" y="0"/>
            <a:chExt cx="14439900" cy="2651126"/>
          </a:xfrm>
        </p:grpSpPr>
        <p:sp>
          <p:nvSpPr>
            <p:cNvPr name="Freeform 3" id="3"/>
            <p:cNvSpPr/>
            <p:nvPr/>
          </p:nvSpPr>
          <p:spPr>
            <a:xfrm flipH="false" flipV="false" rot="0">
              <a:off x="0" y="0"/>
              <a:ext cx="14439902" cy="2651127"/>
            </a:xfrm>
            <a:custGeom>
              <a:avLst/>
              <a:gdLst/>
              <a:ahLst/>
              <a:cxnLst/>
              <a:rect r="r" b="b" t="t" l="l"/>
              <a:pathLst>
                <a:path h="2651127" w="14439902">
                  <a:moveTo>
                    <a:pt x="0" y="0"/>
                  </a:moveTo>
                  <a:lnTo>
                    <a:pt x="14439902" y="0"/>
                  </a:lnTo>
                  <a:lnTo>
                    <a:pt x="14439902" y="2651127"/>
                  </a:lnTo>
                  <a:lnTo>
                    <a:pt x="0" y="2651127"/>
                  </a:lnTo>
                  <a:close/>
                </a:path>
              </a:pathLst>
            </a:custGeom>
            <a:blipFill>
              <a:blip r:embed="rId3">
                <a:alphaModFix amt="0"/>
              </a:blip>
              <a:stretch>
                <a:fillRect l="0" t="-56129" r="0" b="-56129"/>
              </a:stretch>
            </a:blipFill>
          </p:spPr>
        </p:sp>
        <p:sp>
          <p:nvSpPr>
            <p:cNvPr name="TextBox 4" id="4"/>
            <p:cNvSpPr txBox="true"/>
            <p:nvPr/>
          </p:nvSpPr>
          <p:spPr>
            <a:xfrm>
              <a:off x="0" y="-28575"/>
              <a:ext cx="14439900" cy="2679701"/>
            </a:xfrm>
            <a:prstGeom prst="rect">
              <a:avLst/>
            </a:prstGeom>
          </p:spPr>
          <p:txBody>
            <a:bodyPr anchor="ctr" rtlCol="false" tIns="0" lIns="0" bIns="0" rIns="0"/>
            <a:lstStyle/>
            <a:p>
              <a:pPr algn="ctr">
                <a:lnSpc>
                  <a:spcPts val="6480"/>
                </a:lnSpc>
              </a:pPr>
              <a:r>
                <a:rPr lang="en-US" sz="5400" b="true">
                  <a:solidFill>
                    <a:srgbClr val="000000"/>
                  </a:solidFill>
                  <a:latin typeface="Times New Roman Bold"/>
                  <a:ea typeface="Times New Roman Bold"/>
                  <a:cs typeface="Times New Roman Bold"/>
                  <a:sym typeface="Times New Roman Bold"/>
                </a:rPr>
                <a:t>RESEARCH AND REFERENCES</a:t>
              </a:r>
            </a:p>
          </p:txBody>
        </p:sp>
      </p:grpSp>
      <p:grpSp>
        <p:nvGrpSpPr>
          <p:cNvPr name="Group 5" id="5"/>
          <p:cNvGrpSpPr/>
          <p:nvPr/>
        </p:nvGrpSpPr>
        <p:grpSpPr>
          <a:xfrm rot="0">
            <a:off x="14670129" y="2248"/>
            <a:ext cx="3374774" cy="1593504"/>
            <a:chOff x="0" y="0"/>
            <a:chExt cx="4499699" cy="2124672"/>
          </a:xfrm>
        </p:grpSpPr>
        <p:sp>
          <p:nvSpPr>
            <p:cNvPr name="Freeform 6" id="6"/>
            <p:cNvSpPr/>
            <p:nvPr/>
          </p:nvSpPr>
          <p:spPr>
            <a:xfrm flipH="false" flipV="false" rot="0">
              <a:off x="0" y="0"/>
              <a:ext cx="4499737" cy="2124710"/>
            </a:xfrm>
            <a:custGeom>
              <a:avLst/>
              <a:gdLst/>
              <a:ahLst/>
              <a:cxnLst/>
              <a:rect r="r" b="b" t="t" l="l"/>
              <a:pathLst>
                <a:path h="2124710" w="4499737">
                  <a:moveTo>
                    <a:pt x="0" y="0"/>
                  </a:moveTo>
                  <a:lnTo>
                    <a:pt x="4499737" y="0"/>
                  </a:lnTo>
                  <a:lnTo>
                    <a:pt x="4499737" y="2124710"/>
                  </a:lnTo>
                  <a:lnTo>
                    <a:pt x="0" y="2124710"/>
                  </a:lnTo>
                  <a:lnTo>
                    <a:pt x="0" y="0"/>
                  </a:lnTo>
                  <a:close/>
                </a:path>
              </a:pathLst>
            </a:custGeom>
            <a:blipFill>
              <a:blip r:embed="rId4"/>
              <a:stretch>
                <a:fillRect l="0" t="0" r="0" b="1"/>
              </a:stretch>
            </a:blipFill>
          </p:spPr>
        </p:sp>
      </p:grpSp>
      <p:sp>
        <p:nvSpPr>
          <p:cNvPr name="TextBox 7" id="7"/>
          <p:cNvSpPr txBox="true"/>
          <p:nvPr/>
        </p:nvSpPr>
        <p:spPr>
          <a:xfrm rot="0">
            <a:off x="914400" y="2639120"/>
            <a:ext cx="16766772" cy="3867150"/>
          </a:xfrm>
          <a:prstGeom prst="rect">
            <a:avLst/>
          </a:prstGeom>
        </p:spPr>
        <p:txBody>
          <a:bodyPr anchor="t" rtlCol="false" tIns="0" lIns="0" bIns="0" rIns="0">
            <a:spAutoFit/>
          </a:bodyPr>
          <a:lstStyle/>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 Author(s), Title of paper, Journal/Conference, Year.</a:t>
            </a:r>
          </a:p>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 Author(s), Title of paper, IEEE/Elsevier, Year.</a:t>
            </a:r>
          </a:p>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 CEMA, Belt Conveyors for Bulk Materials.</a:t>
            </a:r>
          </a:p>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 Directorate General of Mines Safety (DGMS), Government of India, relevant mining safety regulations.</a:t>
            </a:r>
          </a:p>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 Indian Bureau of Mines, Government of India, mining statistics/reports.</a:t>
            </a:r>
          </a:p>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AI Models-Claude and Gemini</a:t>
            </a:r>
          </a:p>
        </p:txBody>
      </p:sp>
      <p:grpSp>
        <p:nvGrpSpPr>
          <p:cNvPr name="Group 8" id="8"/>
          <p:cNvGrpSpPr/>
          <p:nvPr/>
        </p:nvGrpSpPr>
        <p:grpSpPr>
          <a:xfrm rot="0">
            <a:off x="529504" y="236458"/>
            <a:ext cx="1524352" cy="1524352"/>
            <a:chOff x="0" y="0"/>
            <a:chExt cx="2032470" cy="2032470"/>
          </a:xfrm>
        </p:grpSpPr>
        <p:sp>
          <p:nvSpPr>
            <p:cNvPr name="Freeform 9" id="9"/>
            <p:cNvSpPr/>
            <p:nvPr/>
          </p:nvSpPr>
          <p:spPr>
            <a:xfrm flipH="false" flipV="false" rot="0">
              <a:off x="0" y="0"/>
              <a:ext cx="2032508" cy="2032508"/>
            </a:xfrm>
            <a:custGeom>
              <a:avLst/>
              <a:gdLst/>
              <a:ahLst/>
              <a:cxnLst/>
              <a:rect r="r" b="b" t="t" l="l"/>
              <a:pathLst>
                <a:path h="2032508" w="2032508">
                  <a:moveTo>
                    <a:pt x="0" y="0"/>
                  </a:moveTo>
                  <a:lnTo>
                    <a:pt x="2032508" y="0"/>
                  </a:lnTo>
                  <a:lnTo>
                    <a:pt x="2032508" y="2032508"/>
                  </a:lnTo>
                  <a:lnTo>
                    <a:pt x="0" y="2032508"/>
                  </a:lnTo>
                  <a:lnTo>
                    <a:pt x="0" y="0"/>
                  </a:lnTo>
                  <a:close/>
                </a:path>
              </a:pathLst>
            </a:custGeom>
            <a:blipFill>
              <a:blip r:embed="rId5"/>
              <a:stretch>
                <a:fillRect l="0" t="0" r="1" b="1"/>
              </a:stretch>
            </a:blipFill>
          </p:spPr>
        </p:sp>
      </p:grpSp>
      <p:sp>
        <p:nvSpPr>
          <p:cNvPr name="TextBox 10" id="10"/>
          <p:cNvSpPr txBox="true"/>
          <p:nvPr/>
        </p:nvSpPr>
        <p:spPr>
          <a:xfrm rot="0">
            <a:off x="17544674" y="9575866"/>
            <a:ext cx="1000458" cy="519713"/>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DAHVGFCMf14</dc:identifier>
  <dcterms:modified xsi:type="dcterms:W3CDTF">2011-08-01T06:04:30Z</dcterms:modified>
  <cp:revision>1</cp:revision>
  <dc:title>SIH26-A0H-T276-SIH26109_Presentation (4).pptx</dc:title>
</cp:coreProperties>
</file>