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91" r:id="rId2"/>
    <p:sldId id="298" r:id="rId3"/>
    <p:sldId id="299" r:id="rId4"/>
    <p:sldId id="300" r:id="rId5"/>
    <p:sldId id="301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594" y="12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7B71F44-039C-83ED-2337-426AF766397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BDF83D-FA7F-CBAF-CFBD-876F037FE5D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A233E3-08E2-42B9-B568-EFB7D0A4DF1A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FA1737-87B2-931B-871A-71C03932272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54FB74-F5CA-4AAC-816F-1A9DBDE086E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2F684A-2FE6-4397-9A3E-C14C60D98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70299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AF68A49-60EE-1194-3444-891E6751738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8E06694-1014-528A-9FA0-4E91799AED4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BAE7CD5-0E94-333A-26C5-D78834EDA87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FFF6C9B-5831-F439-F347-E35B7E782F7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8A3E06A-85C4-9C5D-D1A4-A1CA8D03BD8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0AED12A-D426-4AC6-B74E-E3A32075BDEC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9E137A5-B19B-4395-A863-28F25334639F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893B83E-25B3-40C7-BFB0-D5CEE2D1A707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BF90721-C5F2-42A6-AFA5-1622E9DD200B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14C958B-C728-4E58-A081-A377E198FEB6}" type="datetime1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5A5ECF0-769D-40C8-85A8-2AFED69F73F3}" type="datetime1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B36A880-ED82-4811-92D0-151E650129A3}" type="datetime1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AE2FAD0-00E6-4DFE-9996-69DB8FF16C90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2D66CB0-11E8-4976-B06C-1C5E98AD2F45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5C17439-3DD1-4167-A089-9A6A081AE368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D916E5-55E5-4A2F-9F6D-ADC959C7A04F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9B1B4419-2B30-4FF3-A74B-D61C2C6ED06F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985517-8A35-E3B6-9025-DAEC42A22C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550" y="345874"/>
            <a:ext cx="978132" cy="9781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818DA13-F5EE-0559-DE4C-2174A8E62C89}"/>
              </a:ext>
            </a:extLst>
          </p:cNvPr>
          <p:cNvSpPr txBox="1"/>
          <p:nvPr/>
        </p:nvSpPr>
        <p:spPr>
          <a:xfrm>
            <a:off x="116541" y="1838325"/>
            <a:ext cx="8577089" cy="4613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–SIH26109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Problem Statement Title-</a:t>
            </a:r>
          </a:p>
          <a:p>
            <a:pPr algn="just">
              <a:lnSpc>
                <a:spcPct val="100000"/>
              </a:lnSpc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2000" b="1" dirty="0"/>
              <a:t>"AI-Based Predictive Modelling for Early Forecasting of </a:t>
            </a:r>
          </a:p>
          <a:p>
            <a:pPr algn="just">
              <a:lnSpc>
                <a:spcPct val="100000"/>
              </a:lnSpc>
            </a:pPr>
            <a:r>
              <a:rPr lang="en-US" sz="2000" b="1" dirty="0"/>
              <a:t>     Bovine Mastitis in Indian Dairy Farms“</a:t>
            </a:r>
          </a:p>
          <a:p>
            <a:pPr algn="just">
              <a:lnSpc>
                <a:spcPct val="10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US" sz="2000" b="1" dirty="0"/>
              <a:t>Agriculture, </a:t>
            </a:r>
            <a:r>
              <a:rPr lang="en-US" sz="2000" b="1" dirty="0" err="1"/>
              <a:t>FoodTech</a:t>
            </a:r>
            <a:r>
              <a:rPr lang="en-US" sz="2000" b="1" dirty="0"/>
              <a:t> &amp; Rural Development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ID-SIH26-A0H-T276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portal)-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HexaCore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ubtitle 3">
            <a:extLst>
              <a:ext uri="{FF2B5EF4-FFF2-40B4-BE49-F238E27FC236}">
                <a16:creationId xmlns:a16="http://schemas.microsoft.com/office/drawing/2014/main" id="{42555601-7EC1-CC3F-042E-DA9117BDB860}"/>
              </a:ext>
            </a:extLst>
          </p:cNvPr>
          <p:cNvSpPr txBox="1">
            <a:spLocks/>
          </p:cNvSpPr>
          <p:nvPr/>
        </p:nvSpPr>
        <p:spPr bwMode="auto">
          <a:xfrm>
            <a:off x="1682033" y="864369"/>
            <a:ext cx="9155189" cy="1152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"AI-Based Early Forecasting of Bovine Mastitis in Indian Dairy Farms"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4FC6E4-9F98-FAD5-773E-6EFCC114CD19}"/>
              </a:ext>
            </a:extLst>
          </p:cNvPr>
          <p:cNvSpPr txBox="1"/>
          <p:nvPr/>
        </p:nvSpPr>
        <p:spPr>
          <a:xfrm>
            <a:off x="10999694" y="6275294"/>
            <a:ext cx="788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023051" y="-131692"/>
            <a:ext cx="8145898" cy="952003"/>
          </a:xfrm>
        </p:spPr>
        <p:txBody>
          <a:bodyPr>
            <a:normAutofit fontScale="90000"/>
          </a:bodyPr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MASTITIS FORECASTER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8" name="Shape 3">
            <a:extLst>
              <a:ext uri="{FF2B5EF4-FFF2-40B4-BE49-F238E27FC236}">
                <a16:creationId xmlns:a16="http://schemas.microsoft.com/office/drawing/2014/main" id="{DA005436-50A3-8D30-61D5-7A774CFCEFE0}"/>
              </a:ext>
            </a:extLst>
          </p:cNvPr>
          <p:cNvSpPr/>
          <p:nvPr/>
        </p:nvSpPr>
        <p:spPr>
          <a:xfrm>
            <a:off x="501935" y="1346035"/>
            <a:ext cx="1933575" cy="674833"/>
          </a:xfrm>
          <a:prstGeom prst="rect">
            <a:avLst/>
          </a:prstGeom>
          <a:solidFill>
            <a:srgbClr val="FFC000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DB78829B-FF71-0AB8-463D-06F0474BC82C}"/>
              </a:ext>
            </a:extLst>
          </p:cNvPr>
          <p:cNvSpPr/>
          <p:nvPr/>
        </p:nvSpPr>
        <p:spPr>
          <a:xfrm>
            <a:off x="688295" y="1438095"/>
            <a:ext cx="395430" cy="429618"/>
          </a:xfrm>
          <a:prstGeom prst="ellipse">
            <a:avLst/>
          </a:prstGeom>
          <a:solidFill>
            <a:srgbClr val="EFF6F5"/>
          </a:solidFill>
          <a:ln/>
        </p:spPr>
      </p:sp>
      <p:pic>
        <p:nvPicPr>
          <p:cNvPr id="22" name="Image 0" descr="icon_tint.png">
            <a:extLst>
              <a:ext uri="{FF2B5EF4-FFF2-40B4-BE49-F238E27FC236}">
                <a16:creationId xmlns:a16="http://schemas.microsoft.com/office/drawing/2014/main" id="{4799E867-377B-1C86-3AB3-F09FC1E027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998" y="1530156"/>
            <a:ext cx="225960" cy="245496"/>
          </a:xfrm>
          <a:prstGeom prst="rect">
            <a:avLst/>
          </a:prstGeom>
        </p:spPr>
      </p:pic>
      <p:sp>
        <p:nvSpPr>
          <p:cNvPr id="24" name="Text 5">
            <a:extLst>
              <a:ext uri="{FF2B5EF4-FFF2-40B4-BE49-F238E27FC236}">
                <a16:creationId xmlns:a16="http://schemas.microsoft.com/office/drawing/2014/main" id="{B154ADCA-AA39-5055-0AE5-479187C891FD}"/>
              </a:ext>
            </a:extLst>
          </p:cNvPr>
          <p:cNvSpPr txBox="1"/>
          <p:nvPr/>
        </p:nvSpPr>
        <p:spPr>
          <a:xfrm>
            <a:off x="1100656" y="1395900"/>
            <a:ext cx="1447557" cy="268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000" dirty="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9692B5C0-8025-DD2C-84D8-C95B51E1C100}"/>
              </a:ext>
            </a:extLst>
          </p:cNvPr>
          <p:cNvSpPr txBox="1"/>
          <p:nvPr/>
        </p:nvSpPr>
        <p:spPr>
          <a:xfrm>
            <a:off x="1117587" y="1629604"/>
            <a:ext cx="1447557" cy="322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1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 + temp,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1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quarter</a:t>
            </a:r>
            <a:endParaRPr lang="en-US" sz="850" dirty="0"/>
          </a:p>
        </p:txBody>
      </p:sp>
      <p:grpSp>
        <p:nvGrpSpPr>
          <p:cNvPr id="15388" name="Group 15387">
            <a:extLst>
              <a:ext uri="{FF2B5EF4-FFF2-40B4-BE49-F238E27FC236}">
                <a16:creationId xmlns:a16="http://schemas.microsoft.com/office/drawing/2014/main" id="{D8435182-2ACF-4EE8-13D0-F9CCA9A88186}"/>
              </a:ext>
            </a:extLst>
          </p:cNvPr>
          <p:cNvGrpSpPr/>
          <p:nvPr/>
        </p:nvGrpSpPr>
        <p:grpSpPr>
          <a:xfrm>
            <a:off x="501935" y="2381762"/>
            <a:ext cx="1933575" cy="672753"/>
            <a:chOff x="761999" y="2597201"/>
            <a:chExt cx="1933575" cy="672753"/>
          </a:xfrm>
          <a:solidFill>
            <a:srgbClr val="FFC000"/>
          </a:solidFill>
        </p:grpSpPr>
        <p:sp>
          <p:nvSpPr>
            <p:cNvPr id="29" name="Shape 8">
              <a:extLst>
                <a:ext uri="{FF2B5EF4-FFF2-40B4-BE49-F238E27FC236}">
                  <a16:creationId xmlns:a16="http://schemas.microsoft.com/office/drawing/2014/main" id="{3C330DFF-6C16-8D43-D330-5368636EE19A}"/>
                </a:ext>
              </a:extLst>
            </p:cNvPr>
            <p:cNvSpPr/>
            <p:nvPr/>
          </p:nvSpPr>
          <p:spPr>
            <a:xfrm>
              <a:off x="761999" y="2597201"/>
              <a:ext cx="1933575" cy="672753"/>
            </a:xfrm>
            <a:prstGeom prst="rect">
              <a:avLst/>
            </a:prstGeom>
            <a:grpFill/>
            <a:ln w="12700">
              <a:solidFill>
                <a:srgbClr val="DCE6E6"/>
              </a:solidFill>
              <a:prstDash val="solid"/>
            </a:ln>
          </p:spPr>
        </p:sp>
        <p:sp>
          <p:nvSpPr>
            <p:cNvPr id="31" name="Shape 9">
              <a:extLst>
                <a:ext uri="{FF2B5EF4-FFF2-40B4-BE49-F238E27FC236}">
                  <a16:creationId xmlns:a16="http://schemas.microsoft.com/office/drawing/2014/main" id="{84735108-D6A5-0F85-E432-969D69C036D5}"/>
                </a:ext>
              </a:extLst>
            </p:cNvPr>
            <p:cNvSpPr/>
            <p:nvPr/>
          </p:nvSpPr>
          <p:spPr>
            <a:xfrm>
              <a:off x="976775" y="2689262"/>
              <a:ext cx="395430" cy="429618"/>
            </a:xfrm>
            <a:prstGeom prst="ellipse">
              <a:avLst/>
            </a:prstGeom>
            <a:grpFill/>
            <a:ln/>
          </p:spPr>
        </p:sp>
        <p:sp>
          <p:nvSpPr>
            <p:cNvPr id="34" name="Text 10">
              <a:extLst>
                <a:ext uri="{FF2B5EF4-FFF2-40B4-BE49-F238E27FC236}">
                  <a16:creationId xmlns:a16="http://schemas.microsoft.com/office/drawing/2014/main" id="{35C36DA7-4AD4-C6BB-F0C2-271FD8CE5073}"/>
                </a:ext>
              </a:extLst>
            </p:cNvPr>
            <p:cNvSpPr txBox="1"/>
            <p:nvPr/>
          </p:nvSpPr>
          <p:spPr>
            <a:xfrm>
              <a:off x="1336803" y="2694573"/>
              <a:ext cx="1339448" cy="268511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/>
                <a:t>On Display Monitoring</a:t>
              </a:r>
            </a:p>
          </p:txBody>
        </p:sp>
        <p:sp>
          <p:nvSpPr>
            <p:cNvPr id="36" name="Text 11">
              <a:extLst>
                <a:ext uri="{FF2B5EF4-FFF2-40B4-BE49-F238E27FC236}">
                  <a16:creationId xmlns:a16="http://schemas.microsoft.com/office/drawing/2014/main" id="{E1BD5024-9FF2-AB13-FA57-4DD4B3DF0CAE}"/>
                </a:ext>
              </a:extLst>
            </p:cNvPr>
            <p:cNvSpPr txBox="1"/>
            <p:nvPr/>
          </p:nvSpPr>
          <p:spPr>
            <a:xfrm>
              <a:off x="1336802" y="2947741"/>
              <a:ext cx="1339449" cy="322213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5167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Logs yield,</a:t>
              </a:r>
              <a:endParaRPr lang="en-US" sz="850" dirty="0"/>
            </a:p>
            <a:p>
              <a:pPr marL="0" indent="0" algn="ctr">
                <a:buNone/>
              </a:pPr>
              <a:r>
                <a:rPr lang="en-US" sz="850" dirty="0">
                  <a:solidFill>
                    <a:srgbClr val="5167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works offline</a:t>
              </a:r>
              <a:endParaRPr lang="en-US" sz="850" dirty="0"/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7C6C699D-9AA2-09E5-A372-5AE050AD09C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59364" y="2733832"/>
              <a:ext cx="277438" cy="301425"/>
            </a:xfrm>
            <a:prstGeom prst="rect">
              <a:avLst/>
            </a:prstGeom>
            <a:grpFill/>
          </p:spPr>
        </p:pic>
      </p:grpSp>
      <p:grpSp>
        <p:nvGrpSpPr>
          <p:cNvPr id="15389" name="Group 15388">
            <a:extLst>
              <a:ext uri="{FF2B5EF4-FFF2-40B4-BE49-F238E27FC236}">
                <a16:creationId xmlns:a16="http://schemas.microsoft.com/office/drawing/2014/main" id="{D3F062A1-2B60-B748-AE61-7516CCDCDC30}"/>
              </a:ext>
            </a:extLst>
          </p:cNvPr>
          <p:cNvGrpSpPr/>
          <p:nvPr/>
        </p:nvGrpSpPr>
        <p:grpSpPr>
          <a:xfrm>
            <a:off x="501935" y="3389084"/>
            <a:ext cx="1933576" cy="672754"/>
            <a:chOff x="830517" y="4028773"/>
            <a:chExt cx="1933576" cy="672754"/>
          </a:xfrm>
          <a:solidFill>
            <a:srgbClr val="FFC000"/>
          </a:solidFill>
        </p:grpSpPr>
        <p:sp>
          <p:nvSpPr>
            <p:cNvPr id="41" name="Shape 13">
              <a:extLst>
                <a:ext uri="{FF2B5EF4-FFF2-40B4-BE49-F238E27FC236}">
                  <a16:creationId xmlns:a16="http://schemas.microsoft.com/office/drawing/2014/main" id="{79F09193-74E9-1B8D-E3F8-49B6E72D8C52}"/>
                </a:ext>
              </a:extLst>
            </p:cNvPr>
            <p:cNvSpPr/>
            <p:nvPr/>
          </p:nvSpPr>
          <p:spPr>
            <a:xfrm>
              <a:off x="830517" y="4028773"/>
              <a:ext cx="1933575" cy="672754"/>
            </a:xfrm>
            <a:prstGeom prst="rect">
              <a:avLst/>
            </a:prstGeom>
            <a:grpFill/>
            <a:ln w="12700">
              <a:solidFill>
                <a:srgbClr val="DCE6E6"/>
              </a:solidFill>
              <a:prstDash val="solid"/>
            </a:ln>
          </p:spPr>
        </p:sp>
        <p:sp>
          <p:nvSpPr>
            <p:cNvPr id="43" name="Shape 14">
              <a:extLst>
                <a:ext uri="{FF2B5EF4-FFF2-40B4-BE49-F238E27FC236}">
                  <a16:creationId xmlns:a16="http://schemas.microsoft.com/office/drawing/2014/main" id="{7F0E4C95-D841-1533-CB6F-2BE2AACEABC2}"/>
                </a:ext>
              </a:extLst>
            </p:cNvPr>
            <p:cNvSpPr/>
            <p:nvPr/>
          </p:nvSpPr>
          <p:spPr>
            <a:xfrm>
              <a:off x="976775" y="4120833"/>
              <a:ext cx="395430" cy="429618"/>
            </a:xfrm>
            <a:prstGeom prst="ellipse">
              <a:avLst/>
            </a:prstGeom>
            <a:grpFill/>
            <a:ln/>
          </p:spPr>
        </p:sp>
        <p:pic>
          <p:nvPicPr>
            <p:cNvPr id="45" name="Image 2" descr="icon_chartline.png">
              <a:extLst>
                <a:ext uri="{FF2B5EF4-FFF2-40B4-BE49-F238E27FC236}">
                  <a16:creationId xmlns:a16="http://schemas.microsoft.com/office/drawing/2014/main" id="{D14390B3-4147-5D95-B266-38819AFDABF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61510" y="4212894"/>
              <a:ext cx="225960" cy="245496"/>
            </a:xfrm>
            <a:prstGeom prst="rect">
              <a:avLst/>
            </a:prstGeom>
            <a:grpFill/>
          </p:spPr>
        </p:pic>
        <p:sp>
          <p:nvSpPr>
            <p:cNvPr id="47" name="Text 15">
              <a:extLst>
                <a:ext uri="{FF2B5EF4-FFF2-40B4-BE49-F238E27FC236}">
                  <a16:creationId xmlns:a16="http://schemas.microsoft.com/office/drawing/2014/main" id="{15CECF12-349D-0510-B877-FB2390E9D22B}"/>
                </a:ext>
              </a:extLst>
            </p:cNvPr>
            <p:cNvSpPr txBox="1"/>
            <p:nvPr/>
          </p:nvSpPr>
          <p:spPr>
            <a:xfrm>
              <a:off x="1316536" y="4060551"/>
              <a:ext cx="1447557" cy="268511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2345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Prediction Model</a:t>
              </a:r>
              <a:endParaRPr lang="en-US" sz="1000" dirty="0"/>
            </a:p>
          </p:txBody>
        </p:sp>
        <p:sp>
          <p:nvSpPr>
            <p:cNvPr id="49" name="Text 16">
              <a:extLst>
                <a:ext uri="{FF2B5EF4-FFF2-40B4-BE49-F238E27FC236}">
                  <a16:creationId xmlns:a16="http://schemas.microsoft.com/office/drawing/2014/main" id="{CF0D3531-6D24-67A8-D848-8D4CCDB22278}"/>
                </a:ext>
              </a:extLst>
            </p:cNvPr>
            <p:cNvSpPr txBox="1"/>
            <p:nvPr/>
          </p:nvSpPr>
          <p:spPr>
            <a:xfrm>
              <a:off x="1316536" y="4313719"/>
              <a:ext cx="1447557" cy="322213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5167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Per-cow</a:t>
              </a:r>
              <a:endParaRPr lang="en-US" sz="850" dirty="0"/>
            </a:p>
            <a:p>
              <a:pPr marL="0" indent="0" algn="ctr">
                <a:buNone/>
              </a:pPr>
              <a:r>
                <a:rPr lang="en-US" sz="850" dirty="0">
                  <a:solidFill>
                    <a:srgbClr val="5167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baseline check</a:t>
              </a:r>
              <a:endParaRPr lang="en-US" sz="850" dirty="0"/>
            </a:p>
          </p:txBody>
        </p:sp>
      </p:grpSp>
      <p:grpSp>
        <p:nvGrpSpPr>
          <p:cNvPr id="15391" name="Group 15390">
            <a:extLst>
              <a:ext uri="{FF2B5EF4-FFF2-40B4-BE49-F238E27FC236}">
                <a16:creationId xmlns:a16="http://schemas.microsoft.com/office/drawing/2014/main" id="{A773C6DE-A503-EED3-FA04-88110644A621}"/>
              </a:ext>
            </a:extLst>
          </p:cNvPr>
          <p:cNvGrpSpPr/>
          <p:nvPr/>
        </p:nvGrpSpPr>
        <p:grpSpPr>
          <a:xfrm>
            <a:off x="502568" y="4554180"/>
            <a:ext cx="1933575" cy="645911"/>
            <a:chOff x="2962274" y="5610829"/>
            <a:chExt cx="2066925" cy="645911"/>
          </a:xfrm>
          <a:solidFill>
            <a:srgbClr val="FFC000"/>
          </a:solidFill>
        </p:grpSpPr>
        <p:sp>
          <p:nvSpPr>
            <p:cNvPr id="63" name="Shape 23">
              <a:extLst>
                <a:ext uri="{FF2B5EF4-FFF2-40B4-BE49-F238E27FC236}">
                  <a16:creationId xmlns:a16="http://schemas.microsoft.com/office/drawing/2014/main" id="{155D3C56-A63A-9756-3243-FF6C847DBB16}"/>
                </a:ext>
              </a:extLst>
            </p:cNvPr>
            <p:cNvSpPr/>
            <p:nvPr/>
          </p:nvSpPr>
          <p:spPr>
            <a:xfrm>
              <a:off x="2962274" y="5610829"/>
              <a:ext cx="2066925" cy="645911"/>
            </a:xfrm>
            <a:prstGeom prst="rect">
              <a:avLst/>
            </a:prstGeom>
            <a:grpFill/>
            <a:ln w="12700">
              <a:solidFill>
                <a:srgbClr val="DCE6E6"/>
              </a:solidFill>
              <a:prstDash val="solid"/>
            </a:ln>
          </p:spPr>
        </p:sp>
        <p:sp>
          <p:nvSpPr>
            <p:cNvPr id="15362" name="Shape 24">
              <a:extLst>
                <a:ext uri="{FF2B5EF4-FFF2-40B4-BE49-F238E27FC236}">
                  <a16:creationId xmlns:a16="http://schemas.microsoft.com/office/drawing/2014/main" id="{C219C41F-20DA-8106-8E46-74754C367DF3}"/>
                </a:ext>
              </a:extLst>
            </p:cNvPr>
            <p:cNvSpPr/>
            <p:nvPr/>
          </p:nvSpPr>
          <p:spPr>
            <a:xfrm>
              <a:off x="3092770" y="5699920"/>
              <a:ext cx="410829" cy="415759"/>
            </a:xfrm>
            <a:prstGeom prst="ellipse">
              <a:avLst/>
            </a:prstGeom>
            <a:grpFill/>
            <a:ln/>
          </p:spPr>
        </p:sp>
        <p:pic>
          <p:nvPicPr>
            <p:cNvPr id="15364" name="Image 4" descr="icon_bell.png">
              <a:extLst>
                <a:ext uri="{FF2B5EF4-FFF2-40B4-BE49-F238E27FC236}">
                  <a16:creationId xmlns:a16="http://schemas.microsoft.com/office/drawing/2014/main" id="{C9BEE383-CD85-FB59-7537-CB583C3B490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199792" y="5789012"/>
              <a:ext cx="234759" cy="237577"/>
            </a:xfrm>
            <a:prstGeom prst="rect">
              <a:avLst/>
            </a:prstGeom>
            <a:grpFill/>
          </p:spPr>
        </p:pic>
        <p:sp>
          <p:nvSpPr>
            <p:cNvPr id="15366" name="Text 25">
              <a:extLst>
                <a:ext uri="{FF2B5EF4-FFF2-40B4-BE49-F238E27FC236}">
                  <a16:creationId xmlns:a16="http://schemas.microsoft.com/office/drawing/2014/main" id="{A111D067-16B1-ACEB-8E38-5D87CEF66856}"/>
                </a:ext>
              </a:extLst>
            </p:cNvPr>
            <p:cNvSpPr txBox="1"/>
            <p:nvPr/>
          </p:nvSpPr>
          <p:spPr>
            <a:xfrm>
              <a:off x="3434551" y="5699920"/>
              <a:ext cx="1503927" cy="259849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2345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Alert</a:t>
              </a:r>
              <a:endParaRPr lang="en-US" sz="1000" dirty="0"/>
            </a:p>
          </p:txBody>
        </p:sp>
        <p:sp>
          <p:nvSpPr>
            <p:cNvPr id="15368" name="Text 26">
              <a:extLst>
                <a:ext uri="{FF2B5EF4-FFF2-40B4-BE49-F238E27FC236}">
                  <a16:creationId xmlns:a16="http://schemas.microsoft.com/office/drawing/2014/main" id="{1832F40B-98B2-26DD-322A-87B29BEEBD99}"/>
                </a:ext>
              </a:extLst>
            </p:cNvPr>
            <p:cNvSpPr txBox="1"/>
            <p:nvPr/>
          </p:nvSpPr>
          <p:spPr>
            <a:xfrm>
              <a:off x="3434552" y="5944921"/>
              <a:ext cx="1503927" cy="311819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 err="1">
                  <a:solidFill>
                    <a:srgbClr val="5167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Local-language+buzzer</a:t>
              </a:r>
              <a:endParaRPr lang="en-US" sz="850" dirty="0">
                <a:solidFill>
                  <a:srgbClr val="51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</p:txBody>
        </p:sp>
      </p:grpSp>
      <p:sp>
        <p:nvSpPr>
          <p:cNvPr id="15381" name="Text 7">
            <a:extLst>
              <a:ext uri="{FF2B5EF4-FFF2-40B4-BE49-F238E27FC236}">
                <a16:creationId xmlns:a16="http://schemas.microsoft.com/office/drawing/2014/main" id="{F3FECD7B-C745-6BB5-530C-BAFDB9DB2AAC}"/>
              </a:ext>
            </a:extLst>
          </p:cNvPr>
          <p:cNvSpPr txBox="1"/>
          <p:nvPr/>
        </p:nvSpPr>
        <p:spPr>
          <a:xfrm rot="5400000">
            <a:off x="1404527" y="1958188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383" name="Text 7">
            <a:extLst>
              <a:ext uri="{FF2B5EF4-FFF2-40B4-BE49-F238E27FC236}">
                <a16:creationId xmlns:a16="http://schemas.microsoft.com/office/drawing/2014/main" id="{0746C93B-697E-87E1-9BDB-407C3DE1EECD}"/>
              </a:ext>
            </a:extLst>
          </p:cNvPr>
          <p:cNvSpPr txBox="1"/>
          <p:nvPr/>
        </p:nvSpPr>
        <p:spPr>
          <a:xfrm rot="5400000">
            <a:off x="1415456" y="2998189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385" name="Text 7">
            <a:extLst>
              <a:ext uri="{FF2B5EF4-FFF2-40B4-BE49-F238E27FC236}">
                <a16:creationId xmlns:a16="http://schemas.microsoft.com/office/drawing/2014/main" id="{57BCEDD7-CAFA-9FDB-EAFF-4B23695733C5}"/>
              </a:ext>
            </a:extLst>
          </p:cNvPr>
          <p:cNvSpPr txBox="1"/>
          <p:nvPr/>
        </p:nvSpPr>
        <p:spPr>
          <a:xfrm rot="5400000">
            <a:off x="1430815" y="4042371"/>
            <a:ext cx="256032" cy="417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392" name="TextBox 15391">
            <a:extLst>
              <a:ext uri="{FF2B5EF4-FFF2-40B4-BE49-F238E27FC236}">
                <a16:creationId xmlns:a16="http://schemas.microsoft.com/office/drawing/2014/main" id="{2D88220C-CC3D-BE84-6DF2-4DBEA1ED6D18}"/>
              </a:ext>
            </a:extLst>
          </p:cNvPr>
          <p:cNvSpPr txBox="1"/>
          <p:nvPr/>
        </p:nvSpPr>
        <p:spPr>
          <a:xfrm>
            <a:off x="2952750" y="898507"/>
            <a:ext cx="3676650" cy="369332"/>
          </a:xfrm>
          <a:prstGeom prst="rect">
            <a:avLst/>
          </a:prstGeom>
          <a:solidFill>
            <a:srgbClr val="FFA75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Detailed Solution</a:t>
            </a:r>
          </a:p>
        </p:txBody>
      </p:sp>
      <p:sp>
        <p:nvSpPr>
          <p:cNvPr id="15393" name="TextBox 15392">
            <a:extLst>
              <a:ext uri="{FF2B5EF4-FFF2-40B4-BE49-F238E27FC236}">
                <a16:creationId xmlns:a16="http://schemas.microsoft.com/office/drawing/2014/main" id="{09AC36B4-ED25-F8AC-EDD8-33AF8C321D5B}"/>
              </a:ext>
            </a:extLst>
          </p:cNvPr>
          <p:cNvSpPr txBox="1"/>
          <p:nvPr/>
        </p:nvSpPr>
        <p:spPr>
          <a:xfrm>
            <a:off x="2952750" y="1538302"/>
            <a:ext cx="3676650" cy="13849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Sensing — A clip-on probe measures electrical conductivity (EC) and temperature for each quarter during hand milking, using a two-electrode AC measurement system with ±3% measurement accuracy and a response time of &lt;2 seconds per reading.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5394" name="TextBox 15393">
            <a:extLst>
              <a:ext uri="{FF2B5EF4-FFF2-40B4-BE49-F238E27FC236}">
                <a16:creationId xmlns:a16="http://schemas.microsoft.com/office/drawing/2014/main" id="{D2CA0302-1591-2AE5-BD7C-40D301D3547E}"/>
              </a:ext>
            </a:extLst>
          </p:cNvPr>
          <p:cNvSpPr txBox="1"/>
          <p:nvPr/>
        </p:nvSpPr>
        <p:spPr>
          <a:xfrm>
            <a:off x="2952751" y="3231513"/>
            <a:ext cx="3676650" cy="95410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/>
                </a:solidFill>
              </a:rPr>
              <a:t>Predicting-Learns each cow's personal EC, yield and </a:t>
            </a:r>
            <a:r>
              <a:rPr lang="en-US" sz="1400" dirty="0" err="1">
                <a:solidFill>
                  <a:schemeClr val="tx1"/>
                </a:solidFill>
              </a:rPr>
              <a:t>behaviour</a:t>
            </a:r>
            <a:r>
              <a:rPr lang="en-US" sz="1400" dirty="0">
                <a:solidFill>
                  <a:schemeClr val="tx1"/>
                </a:solidFill>
              </a:rPr>
              <a:t> baseline; flags readings over 15-20% deviation. Confirmed only after 2 consecutive milkings.</a:t>
            </a:r>
          </a:p>
        </p:txBody>
      </p:sp>
      <p:sp>
        <p:nvSpPr>
          <p:cNvPr id="15395" name="TextBox 15394">
            <a:extLst>
              <a:ext uri="{FF2B5EF4-FFF2-40B4-BE49-F238E27FC236}">
                <a16:creationId xmlns:a16="http://schemas.microsoft.com/office/drawing/2014/main" id="{88CF29C1-2824-4F69-97A0-A9D5CD6EC67A}"/>
              </a:ext>
            </a:extLst>
          </p:cNvPr>
          <p:cNvSpPr txBox="1"/>
          <p:nvPr/>
        </p:nvSpPr>
        <p:spPr>
          <a:xfrm>
            <a:off x="2952751" y="4480162"/>
            <a:ext cx="3676650" cy="7386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/>
                </a:solidFill>
              </a:rPr>
              <a:t>Alert-Fires on-device as a buzzer plus red/green icon, days before any visible sign, with zero connectivity needed.</a:t>
            </a:r>
          </a:p>
        </p:txBody>
      </p:sp>
      <p:sp>
        <p:nvSpPr>
          <p:cNvPr id="15396" name="TextBox 15395">
            <a:extLst>
              <a:ext uri="{FF2B5EF4-FFF2-40B4-BE49-F238E27FC236}">
                <a16:creationId xmlns:a16="http://schemas.microsoft.com/office/drawing/2014/main" id="{E0B6C4EB-D98E-2957-744D-F46E9533C62D}"/>
              </a:ext>
            </a:extLst>
          </p:cNvPr>
          <p:cNvSpPr txBox="1"/>
          <p:nvPr/>
        </p:nvSpPr>
        <p:spPr>
          <a:xfrm>
            <a:off x="2952751" y="5559220"/>
            <a:ext cx="3676650" cy="7386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/>
                </a:solidFill>
              </a:rPr>
              <a:t>Tracking-Logs every alert and antibiotic-withdrawal window against the cow automatically.</a:t>
            </a:r>
          </a:p>
        </p:txBody>
      </p:sp>
      <p:sp>
        <p:nvSpPr>
          <p:cNvPr id="15400" name="Text 7">
            <a:extLst>
              <a:ext uri="{FF2B5EF4-FFF2-40B4-BE49-F238E27FC236}">
                <a16:creationId xmlns:a16="http://schemas.microsoft.com/office/drawing/2014/main" id="{C713C70B-368F-DC51-1F17-950A1B7956D4}"/>
              </a:ext>
            </a:extLst>
          </p:cNvPr>
          <p:cNvSpPr txBox="1"/>
          <p:nvPr/>
        </p:nvSpPr>
        <p:spPr>
          <a:xfrm rot="5400000">
            <a:off x="4663059" y="1175586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402" name="Text 7">
            <a:extLst>
              <a:ext uri="{FF2B5EF4-FFF2-40B4-BE49-F238E27FC236}">
                <a16:creationId xmlns:a16="http://schemas.microsoft.com/office/drawing/2014/main" id="{8E53E904-D8D4-9216-4C2E-D38BE2EB71D5}"/>
              </a:ext>
            </a:extLst>
          </p:cNvPr>
          <p:cNvSpPr txBox="1"/>
          <p:nvPr/>
        </p:nvSpPr>
        <p:spPr>
          <a:xfrm rot="5400000">
            <a:off x="4663059" y="2874702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406" name="Text 7">
            <a:extLst>
              <a:ext uri="{FF2B5EF4-FFF2-40B4-BE49-F238E27FC236}">
                <a16:creationId xmlns:a16="http://schemas.microsoft.com/office/drawing/2014/main" id="{E5E149E1-25F8-B665-1B30-2CCCC9F19A5D}"/>
              </a:ext>
            </a:extLst>
          </p:cNvPr>
          <p:cNvSpPr txBox="1"/>
          <p:nvPr/>
        </p:nvSpPr>
        <p:spPr>
          <a:xfrm rot="5400000">
            <a:off x="4663059" y="5160423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408" name="Text 7">
            <a:extLst>
              <a:ext uri="{FF2B5EF4-FFF2-40B4-BE49-F238E27FC236}">
                <a16:creationId xmlns:a16="http://schemas.microsoft.com/office/drawing/2014/main" id="{3849CC3D-8FB3-00FE-2C42-13D91CAFD575}"/>
              </a:ext>
            </a:extLst>
          </p:cNvPr>
          <p:cNvSpPr txBox="1"/>
          <p:nvPr/>
        </p:nvSpPr>
        <p:spPr>
          <a:xfrm rot="5400000">
            <a:off x="4663059" y="4082381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411" name="TextBox 15410">
            <a:extLst>
              <a:ext uri="{FF2B5EF4-FFF2-40B4-BE49-F238E27FC236}">
                <a16:creationId xmlns:a16="http://schemas.microsoft.com/office/drawing/2014/main" id="{6D98D82D-27DB-AA3D-230D-0850EFAFD40D}"/>
              </a:ext>
            </a:extLst>
          </p:cNvPr>
          <p:cNvSpPr txBox="1"/>
          <p:nvPr/>
        </p:nvSpPr>
        <p:spPr>
          <a:xfrm>
            <a:off x="6960104" y="1849293"/>
            <a:ext cx="5143500" cy="369331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i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makes us different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Per-cow, offline AI: Learns each cow's own EC/temperature baseline and predicts mastitis risk on-device (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</a:rPr>
              <a:t>TinyML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), with no cloud or connectivity required.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Built for hand-milking, not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</a:rPr>
              <a:t>parlours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: A ₹3,000–3,500 clip-on probe brings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</a:rPr>
              <a:t>parlour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-grade detection to small/medium Indian dairy farms at a fraction of automated-system cost.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Actionable + compliant: Alerts via buzzer/LED in local language (no smartphone needed) and auto-tracks antibiotic withdrawal windows per cow for traceability.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CB04C8-998B-ADB4-D591-D667C8CBAA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1444" y="213762"/>
            <a:ext cx="978132" cy="9781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490167-22D1-3E59-3487-C963C1DC6826}"/>
              </a:ext>
            </a:extLst>
          </p:cNvPr>
          <p:cNvSpPr txBox="1"/>
          <p:nvPr/>
        </p:nvSpPr>
        <p:spPr>
          <a:xfrm>
            <a:off x="10999694" y="6275294"/>
            <a:ext cx="788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592097" y="43071"/>
            <a:ext cx="6376396" cy="1062337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2367BA-D910-7354-C883-1216924E53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0781" y="1176297"/>
            <a:ext cx="3936635" cy="350047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32C8B44-324D-565C-A197-96CC6BB27118}"/>
              </a:ext>
            </a:extLst>
          </p:cNvPr>
          <p:cNvSpPr txBox="1"/>
          <p:nvPr/>
        </p:nvSpPr>
        <p:spPr>
          <a:xfrm>
            <a:off x="8549097" y="1105408"/>
            <a:ext cx="3571875" cy="369331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Milk flows through the electrode chamber.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electrodes measure the electrical conductivity of milk.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Temperature and flow are also measured.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ESP32-S3 processes the data and runs </a:t>
            </a:r>
            <a:r>
              <a:rPr lang="en-US" dirty="0" err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TinyML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model locally.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 mastitis risk is high → Red LED &amp; Buzzer ON.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Otherwise → Green LED ON.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 data is stored in SD card for months.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1CFCB59-C89B-CCA0-85A7-51E2DA7339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29" y="1176297"/>
            <a:ext cx="4158072" cy="401826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41C4F2A-63E1-9BA0-321F-6AB72210E42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0328"/>
          <a:stretch>
            <a:fillRect/>
          </a:stretch>
        </p:blipFill>
        <p:spPr>
          <a:xfrm>
            <a:off x="1322965" y="5408709"/>
            <a:ext cx="9582046" cy="133069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6F1B74D-5FAC-8DDD-5873-B4D8DA4E26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6440" y="85705"/>
            <a:ext cx="978132" cy="9781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3B5A48-E67F-B317-8EA4-FF2B92D984E6}"/>
              </a:ext>
            </a:extLst>
          </p:cNvPr>
          <p:cNvSpPr txBox="1"/>
          <p:nvPr/>
        </p:nvSpPr>
        <p:spPr>
          <a:xfrm>
            <a:off x="10999694" y="6275294"/>
            <a:ext cx="788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3953" y="-3883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9E34F741-2F23-D981-B948-9DF839FBE28C}"/>
              </a:ext>
            </a:extLst>
          </p:cNvPr>
          <p:cNvGrpSpPr/>
          <p:nvPr/>
        </p:nvGrpSpPr>
        <p:grpSpPr>
          <a:xfrm>
            <a:off x="220699" y="1345692"/>
            <a:ext cx="11584205" cy="5266689"/>
            <a:chOff x="37191" y="109728"/>
            <a:chExt cx="11767713" cy="6144768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D8EED8D-0043-3B3D-9566-F1DE25A8C6AC}"/>
                </a:ext>
              </a:extLst>
            </p:cNvPr>
            <p:cNvSpPr txBox="1"/>
            <p:nvPr/>
          </p:nvSpPr>
          <p:spPr>
            <a:xfrm>
              <a:off x="4052620" y="137928"/>
              <a:ext cx="365760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300" b="1" dirty="0">
                  <a:solidFill>
                    <a:srgbClr val="141414"/>
                  </a:solidFill>
                  <a:latin typeface="Arial"/>
                </a:rPr>
                <a:t>TECHNICAL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8C0D8A0-DFA5-CAF1-BEC8-2C4D60AD89CA}"/>
                </a:ext>
              </a:extLst>
            </p:cNvPr>
            <p:cNvSpPr txBox="1"/>
            <p:nvPr/>
          </p:nvSpPr>
          <p:spPr>
            <a:xfrm>
              <a:off x="37191" y="163062"/>
              <a:ext cx="365760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300" b="1">
                  <a:solidFill>
                    <a:srgbClr val="141414"/>
                  </a:solidFill>
                  <a:latin typeface="Arial"/>
                </a:rPr>
                <a:t>ECONOMIC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A7B8ECC-86FA-7497-55DB-D6E4C21410BA}"/>
                </a:ext>
              </a:extLst>
            </p:cNvPr>
            <p:cNvSpPr txBox="1"/>
            <p:nvPr/>
          </p:nvSpPr>
          <p:spPr>
            <a:xfrm>
              <a:off x="8046720" y="169854"/>
              <a:ext cx="365760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300" b="1">
                  <a:solidFill>
                    <a:srgbClr val="141414"/>
                  </a:solidFill>
                  <a:latin typeface="Arial"/>
                </a:rPr>
                <a:t>SOCIAL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B0A6AFF-BCCB-E760-A73F-066CF42BE5E0}"/>
                </a:ext>
              </a:extLst>
            </p:cNvPr>
            <p:cNvSpPr/>
            <p:nvPr/>
          </p:nvSpPr>
          <p:spPr>
            <a:xfrm>
              <a:off x="4041648" y="109728"/>
              <a:ext cx="10972" cy="6144768"/>
            </a:xfrm>
            <a:prstGeom prst="rect">
              <a:avLst/>
            </a:prstGeom>
            <a:solidFill>
              <a:srgbClr val="14141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21153A70-A05D-CED5-AEED-2DCBCFE7BEA2}"/>
                </a:ext>
              </a:extLst>
            </p:cNvPr>
            <p:cNvSpPr/>
            <p:nvPr/>
          </p:nvSpPr>
          <p:spPr>
            <a:xfrm>
              <a:off x="7845552" y="109728"/>
              <a:ext cx="10972" cy="6144768"/>
            </a:xfrm>
            <a:prstGeom prst="rect">
              <a:avLst/>
            </a:prstGeom>
            <a:solidFill>
              <a:srgbClr val="14141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98A8C833-D1E0-50F6-552A-7A1601039F90}"/>
                </a:ext>
              </a:extLst>
            </p:cNvPr>
            <p:cNvGrpSpPr/>
            <p:nvPr/>
          </p:nvGrpSpPr>
          <p:grpSpPr>
            <a:xfrm>
              <a:off x="429082" y="5080705"/>
              <a:ext cx="3321786" cy="1031528"/>
              <a:chOff x="476859" y="5110328"/>
              <a:chExt cx="3321786" cy="1031528"/>
            </a:xfrm>
          </p:grpSpPr>
          <p:sp>
            <p:nvSpPr>
              <p:cNvPr id="17429" name="Rectangle 17428">
                <a:extLst>
                  <a:ext uri="{FF2B5EF4-FFF2-40B4-BE49-F238E27FC236}">
                    <a16:creationId xmlns:a16="http://schemas.microsoft.com/office/drawing/2014/main" id="{25580956-2A06-A5BB-24F3-307345F8E726}"/>
                  </a:ext>
                </a:extLst>
              </p:cNvPr>
              <p:cNvSpPr/>
              <p:nvPr/>
            </p:nvSpPr>
            <p:spPr>
              <a:xfrm>
                <a:off x="476859" y="5110328"/>
                <a:ext cx="3321786" cy="1031528"/>
              </a:xfrm>
              <a:prstGeom prst="rect">
                <a:avLst/>
              </a:prstGeom>
              <a:noFill/>
              <a:ln w="15240">
                <a:solidFill>
                  <a:srgbClr val="14141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430" name="TextBox 17429">
                <a:extLst>
                  <a:ext uri="{FF2B5EF4-FFF2-40B4-BE49-F238E27FC236}">
                    <a16:creationId xmlns:a16="http://schemas.microsoft.com/office/drawing/2014/main" id="{5D09E11D-5B75-BEED-967F-10641CEC68A3}"/>
                  </a:ext>
                </a:extLst>
              </p:cNvPr>
              <p:cNvSpPr txBox="1"/>
              <p:nvPr/>
            </p:nvSpPr>
            <p:spPr>
              <a:xfrm>
                <a:off x="495607" y="5126969"/>
                <a:ext cx="3246961" cy="969543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l"/>
                <a:r>
                  <a:rPr sz="12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/>
                  </a:rPr>
                  <a:t>Food-grade stainless-steel electrodes are biocompatible, safe for milk contact, and resistant to corrosion from milk and cleaning chemicals.</a:t>
                </a: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8835D006-B308-6097-409A-345630F885B3}"/>
                </a:ext>
              </a:extLst>
            </p:cNvPr>
            <p:cNvGrpSpPr/>
            <p:nvPr/>
          </p:nvGrpSpPr>
          <p:grpSpPr>
            <a:xfrm>
              <a:off x="267920" y="753743"/>
              <a:ext cx="3539640" cy="4057354"/>
              <a:chOff x="384048" y="971846"/>
              <a:chExt cx="3539640" cy="4057354"/>
            </a:xfrm>
          </p:grpSpPr>
          <p:sp>
            <p:nvSpPr>
              <p:cNvPr id="17427" name="Rectangle: Rounded Corners 17426">
                <a:extLst>
                  <a:ext uri="{FF2B5EF4-FFF2-40B4-BE49-F238E27FC236}">
                    <a16:creationId xmlns:a16="http://schemas.microsoft.com/office/drawing/2014/main" id="{09B13C3E-C961-5A48-2A9D-205A54492953}"/>
                  </a:ext>
                </a:extLst>
              </p:cNvPr>
              <p:cNvSpPr/>
              <p:nvPr/>
            </p:nvSpPr>
            <p:spPr>
              <a:xfrm>
                <a:off x="384048" y="971846"/>
                <a:ext cx="3467404" cy="4057354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28" name="TextBox 17427">
                <a:extLst>
                  <a:ext uri="{FF2B5EF4-FFF2-40B4-BE49-F238E27FC236}">
                    <a16:creationId xmlns:a16="http://schemas.microsoft.com/office/drawing/2014/main" id="{EF3764F8-9A0C-1AAE-0146-A2649E932195}"/>
                  </a:ext>
                </a:extLst>
              </p:cNvPr>
              <p:cNvSpPr txBox="1"/>
              <p:nvPr/>
            </p:nvSpPr>
            <p:spPr>
              <a:xfrm>
                <a:off x="542644" y="1106424"/>
                <a:ext cx="3381044" cy="3735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05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  <a:defRPr sz="1120">
                    <a:solidFill>
                      <a:srgbClr val="141414"/>
                    </a:solidFill>
                    <a:latin typeface="Arial"/>
                  </a:defRPr>
                </a:pPr>
                <a:r>
                  <a:rPr lang="en-US" sz="1400" dirty="0"/>
                  <a:t>Farmers face a loss of Rs.2,500 per cow if </a:t>
                </a:r>
                <a:r>
                  <a:rPr lang="en-US" sz="1400" dirty="0" err="1"/>
                  <a:t>affected,on</a:t>
                </a:r>
                <a:r>
                  <a:rPr lang="en-US" sz="1400" dirty="0"/>
                  <a:t> a large scale it is high</a:t>
                </a:r>
                <a:endParaRPr sz="1400" dirty="0"/>
              </a:p>
              <a:p>
                <a:pPr>
                  <a:lnSpc>
                    <a:spcPct val="105000"/>
                  </a:lnSpc>
                  <a:spcAft>
                    <a:spcPts val="800"/>
                  </a:spcAft>
                  <a:defRPr sz="1120">
                    <a:solidFill>
                      <a:srgbClr val="141414"/>
                    </a:solidFill>
                    <a:latin typeface="Arial"/>
                  </a:defRPr>
                </a:pPr>
                <a:r>
                  <a:rPr sz="1400" dirty="0"/>
                  <a:t>• Total device cost (prototype): ~₹3,</a:t>
                </a:r>
                <a:r>
                  <a:rPr lang="en-US" sz="1400" dirty="0"/>
                  <a:t>0</a:t>
                </a:r>
                <a:r>
                  <a:rPr sz="1400" dirty="0"/>
                  <a:t>00 – ₹</a:t>
                </a:r>
                <a:r>
                  <a:rPr lang="en-US" sz="1400" dirty="0"/>
                  <a:t>3</a:t>
                </a:r>
                <a:r>
                  <a:rPr sz="1400" dirty="0"/>
                  <a:t>,</a:t>
                </a:r>
                <a:r>
                  <a:rPr lang="en-US" sz="1400" dirty="0"/>
                  <a:t>5</a:t>
                </a:r>
                <a:r>
                  <a:rPr sz="1400" dirty="0"/>
                  <a:t>00</a:t>
                </a:r>
              </a:p>
              <a:p>
                <a:pPr>
                  <a:lnSpc>
                    <a:spcPct val="105000"/>
                  </a:lnSpc>
                  <a:spcAft>
                    <a:spcPts val="800"/>
                  </a:spcAft>
                  <a:defRPr sz="1120">
                    <a:solidFill>
                      <a:srgbClr val="141414"/>
                    </a:solidFill>
                    <a:latin typeface="Arial"/>
                  </a:defRPr>
                </a:pPr>
                <a:r>
                  <a:rPr sz="1400" dirty="0"/>
                  <a:t>• One-time investment; no recurring subscription or cloud charges.</a:t>
                </a:r>
              </a:p>
              <a:p>
                <a:pPr>
                  <a:lnSpc>
                    <a:spcPct val="105000"/>
                  </a:lnSpc>
                  <a:spcAft>
                    <a:spcPts val="800"/>
                  </a:spcAft>
                  <a:defRPr sz="1120">
                    <a:solidFill>
                      <a:srgbClr val="141414"/>
                    </a:solidFill>
                    <a:latin typeface="Arial"/>
                  </a:defRPr>
                </a:pPr>
                <a:r>
                  <a:rPr sz="1400" dirty="0"/>
                  <a:t>•  A single automated milking </a:t>
                </a:r>
                <a:r>
                  <a:rPr sz="1400" dirty="0" err="1"/>
                  <a:t>parlour</a:t>
                </a:r>
                <a:r>
                  <a:rPr sz="1400" dirty="0"/>
                  <a:t> costs several lakh rupees — our device costs only a small fraction of that.</a:t>
                </a:r>
              </a:p>
              <a:p>
                <a:pPr>
                  <a:lnSpc>
                    <a:spcPct val="105000"/>
                  </a:lnSpc>
                  <a:spcAft>
                    <a:spcPts val="800"/>
                  </a:spcAft>
                  <a:defRPr sz="1120">
                    <a:solidFill>
                      <a:srgbClr val="141414"/>
                    </a:solidFill>
                    <a:latin typeface="Arial"/>
                  </a:defRPr>
                </a:pPr>
                <a:r>
                  <a:rPr sz="1400" dirty="0"/>
                  <a:t>• Highly affordable and scalable for small &amp; medium dairy farms.</a:t>
                </a: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2ADD4607-3625-3CBD-7C7C-A96E8991A3FF}"/>
                </a:ext>
              </a:extLst>
            </p:cNvPr>
            <p:cNvGrpSpPr/>
            <p:nvPr/>
          </p:nvGrpSpPr>
          <p:grpSpPr>
            <a:xfrm>
              <a:off x="4286708" y="4550461"/>
              <a:ext cx="3284524" cy="1444752"/>
              <a:chOff x="4286708" y="4456786"/>
              <a:chExt cx="3284524" cy="1444752"/>
            </a:xfrm>
          </p:grpSpPr>
          <p:sp>
            <p:nvSpPr>
              <p:cNvPr id="17414" name="Rectangle 17413">
                <a:extLst>
                  <a:ext uri="{FF2B5EF4-FFF2-40B4-BE49-F238E27FC236}">
                    <a16:creationId xmlns:a16="http://schemas.microsoft.com/office/drawing/2014/main" id="{0FB86D5A-2AAE-1CF7-9653-560D5F0CEDB9}"/>
                  </a:ext>
                </a:extLst>
              </p:cNvPr>
              <p:cNvSpPr/>
              <p:nvPr/>
            </p:nvSpPr>
            <p:spPr>
              <a:xfrm>
                <a:off x="4286708" y="4456786"/>
                <a:ext cx="3273552" cy="1444752"/>
              </a:xfrm>
              <a:prstGeom prst="rect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415" name="Rectangle 17414">
                <a:extLst>
                  <a:ext uri="{FF2B5EF4-FFF2-40B4-BE49-F238E27FC236}">
                    <a16:creationId xmlns:a16="http://schemas.microsoft.com/office/drawing/2014/main" id="{056D60A0-F91F-B71B-98A4-EEACD8A30407}"/>
                  </a:ext>
                </a:extLst>
              </p:cNvPr>
              <p:cNvSpPr/>
              <p:nvPr/>
            </p:nvSpPr>
            <p:spPr>
              <a:xfrm>
                <a:off x="4297680" y="4736592"/>
                <a:ext cx="3273552" cy="7315"/>
              </a:xfrm>
              <a:prstGeom prst="rect">
                <a:avLst/>
              </a:prstGeom>
              <a:solidFill>
                <a:srgbClr val="141414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416" name="Rectangle 17415">
                <a:extLst>
                  <a:ext uri="{FF2B5EF4-FFF2-40B4-BE49-F238E27FC236}">
                    <a16:creationId xmlns:a16="http://schemas.microsoft.com/office/drawing/2014/main" id="{1DABD2FA-D84F-6163-1F0A-3D06F4C3DBF9}"/>
                  </a:ext>
                </a:extLst>
              </p:cNvPr>
              <p:cNvSpPr/>
              <p:nvPr/>
            </p:nvSpPr>
            <p:spPr>
              <a:xfrm>
                <a:off x="4297680" y="5230368"/>
                <a:ext cx="3273552" cy="7315"/>
              </a:xfrm>
              <a:prstGeom prst="rect">
                <a:avLst/>
              </a:prstGeom>
              <a:solidFill>
                <a:srgbClr val="141414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417" name="Rectangle 17416">
                <a:extLst>
                  <a:ext uri="{FF2B5EF4-FFF2-40B4-BE49-F238E27FC236}">
                    <a16:creationId xmlns:a16="http://schemas.microsoft.com/office/drawing/2014/main" id="{F533D0F2-04C9-9743-B41B-FF17F55075AC}"/>
                  </a:ext>
                </a:extLst>
              </p:cNvPr>
              <p:cNvSpPr/>
              <p:nvPr/>
            </p:nvSpPr>
            <p:spPr>
              <a:xfrm>
                <a:off x="6336792" y="4736592"/>
                <a:ext cx="7315" cy="1115568"/>
              </a:xfrm>
              <a:prstGeom prst="rect">
                <a:avLst/>
              </a:prstGeom>
              <a:solidFill>
                <a:srgbClr val="141414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418" name="TextBox 17417">
                <a:extLst>
                  <a:ext uri="{FF2B5EF4-FFF2-40B4-BE49-F238E27FC236}">
                    <a16:creationId xmlns:a16="http://schemas.microsoft.com/office/drawing/2014/main" id="{84CA5390-0CCA-F65B-0B93-B1F52C9377E7}"/>
                  </a:ext>
                </a:extLst>
              </p:cNvPr>
              <p:cNvSpPr txBox="1"/>
              <p:nvPr/>
            </p:nvSpPr>
            <p:spPr>
              <a:xfrm>
                <a:off x="4370832" y="4462272"/>
                <a:ext cx="3127248" cy="2286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150" b="1" dirty="0">
                    <a:solidFill>
                      <a:srgbClr val="141414"/>
                    </a:solidFill>
                    <a:latin typeface="Arial"/>
                  </a:rPr>
                  <a:t>COST BREAKDOWN (Prototype)</a:t>
                </a:r>
              </a:p>
            </p:txBody>
          </p:sp>
          <p:sp>
            <p:nvSpPr>
              <p:cNvPr id="17423" name="TextBox 17422">
                <a:extLst>
                  <a:ext uri="{FF2B5EF4-FFF2-40B4-BE49-F238E27FC236}">
                    <a16:creationId xmlns:a16="http://schemas.microsoft.com/office/drawing/2014/main" id="{A12A662A-CE65-FE85-1B4A-1634A13D3A35}"/>
                  </a:ext>
                </a:extLst>
              </p:cNvPr>
              <p:cNvSpPr txBox="1"/>
              <p:nvPr/>
            </p:nvSpPr>
            <p:spPr>
              <a:xfrm>
                <a:off x="4370832" y="4890444"/>
                <a:ext cx="1847088" cy="256032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l"/>
                <a:r>
                  <a:rPr sz="919" b="0" dirty="0">
                    <a:solidFill>
                      <a:srgbClr val="141414"/>
                    </a:solidFill>
                    <a:latin typeface="Arial"/>
                  </a:rPr>
                  <a:t>All components + enclosure</a:t>
                </a:r>
              </a:p>
            </p:txBody>
          </p:sp>
          <p:sp>
            <p:nvSpPr>
              <p:cNvPr id="17424" name="TextBox 17423">
                <a:extLst>
                  <a:ext uri="{FF2B5EF4-FFF2-40B4-BE49-F238E27FC236}">
                    <a16:creationId xmlns:a16="http://schemas.microsoft.com/office/drawing/2014/main" id="{8F5756D9-3603-7E6E-9710-FC04B81C7822}"/>
                  </a:ext>
                </a:extLst>
              </p:cNvPr>
              <p:cNvSpPr txBox="1"/>
              <p:nvPr/>
            </p:nvSpPr>
            <p:spPr>
              <a:xfrm>
                <a:off x="6419088" y="4890444"/>
                <a:ext cx="1005840" cy="272759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919" dirty="0">
                    <a:solidFill>
                      <a:srgbClr val="141414"/>
                    </a:solidFill>
                    <a:latin typeface="Arial"/>
                  </a:rPr>
                  <a:t>2,7</a:t>
                </a:r>
                <a:r>
                  <a:rPr sz="919" b="0" dirty="0">
                    <a:solidFill>
                      <a:srgbClr val="141414"/>
                    </a:solidFill>
                    <a:latin typeface="Arial"/>
                  </a:rPr>
                  <a:t>50 – 3,</a:t>
                </a:r>
                <a:r>
                  <a:rPr lang="en-US" sz="919" b="0" dirty="0">
                    <a:solidFill>
                      <a:srgbClr val="141414"/>
                    </a:solidFill>
                    <a:latin typeface="Arial"/>
                  </a:rPr>
                  <a:t>00</a:t>
                </a:r>
                <a:r>
                  <a:rPr sz="919" b="0" dirty="0">
                    <a:solidFill>
                      <a:srgbClr val="141414"/>
                    </a:solidFill>
                    <a:latin typeface="Arial"/>
                  </a:rPr>
                  <a:t>0</a:t>
                </a:r>
              </a:p>
            </p:txBody>
          </p:sp>
          <p:sp>
            <p:nvSpPr>
              <p:cNvPr id="17425" name="TextBox 17424">
                <a:extLst>
                  <a:ext uri="{FF2B5EF4-FFF2-40B4-BE49-F238E27FC236}">
                    <a16:creationId xmlns:a16="http://schemas.microsoft.com/office/drawing/2014/main" id="{416C47A9-1D68-13A2-91BE-4470CDF3D853}"/>
                  </a:ext>
                </a:extLst>
              </p:cNvPr>
              <p:cNvSpPr txBox="1"/>
              <p:nvPr/>
            </p:nvSpPr>
            <p:spPr>
              <a:xfrm>
                <a:off x="4389120" y="5476984"/>
                <a:ext cx="1847088" cy="2286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l"/>
                <a:r>
                  <a:rPr sz="940" b="1" dirty="0">
                    <a:solidFill>
                      <a:srgbClr val="141414"/>
                    </a:solidFill>
                    <a:latin typeface="Arial"/>
                  </a:rPr>
                  <a:t>Total Estimated Cost</a:t>
                </a:r>
              </a:p>
            </p:txBody>
          </p:sp>
          <p:sp>
            <p:nvSpPr>
              <p:cNvPr id="17426" name="TextBox 17425">
                <a:extLst>
                  <a:ext uri="{FF2B5EF4-FFF2-40B4-BE49-F238E27FC236}">
                    <a16:creationId xmlns:a16="http://schemas.microsoft.com/office/drawing/2014/main" id="{D5036190-D64E-AC92-521F-6EF44BE53C1F}"/>
                  </a:ext>
                </a:extLst>
              </p:cNvPr>
              <p:cNvSpPr txBox="1"/>
              <p:nvPr/>
            </p:nvSpPr>
            <p:spPr>
              <a:xfrm>
                <a:off x="6419088" y="5453034"/>
                <a:ext cx="1005840" cy="276499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sz="940" b="1" dirty="0">
                    <a:solidFill>
                      <a:srgbClr val="141414"/>
                    </a:solidFill>
                    <a:latin typeface="Arial"/>
                  </a:rPr>
                  <a:t>3,</a:t>
                </a:r>
                <a:r>
                  <a:rPr lang="en-US" sz="940" b="1" dirty="0">
                    <a:solidFill>
                      <a:srgbClr val="141414"/>
                    </a:solidFill>
                    <a:latin typeface="Arial"/>
                  </a:rPr>
                  <a:t>0</a:t>
                </a:r>
                <a:r>
                  <a:rPr sz="940" b="1" dirty="0">
                    <a:solidFill>
                      <a:srgbClr val="141414"/>
                    </a:solidFill>
                    <a:latin typeface="Arial"/>
                  </a:rPr>
                  <a:t>00 – </a:t>
                </a:r>
                <a:r>
                  <a:rPr lang="en-US" sz="940" b="1" dirty="0">
                    <a:solidFill>
                      <a:srgbClr val="141414"/>
                    </a:solidFill>
                    <a:latin typeface="Arial"/>
                  </a:rPr>
                  <a:t>3,5</a:t>
                </a:r>
                <a:r>
                  <a:rPr sz="940" b="1" dirty="0">
                    <a:solidFill>
                      <a:srgbClr val="141414"/>
                    </a:solidFill>
                    <a:latin typeface="Arial"/>
                  </a:rPr>
                  <a:t>00</a:t>
                </a: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C234160F-5B90-7E68-496B-B5AD93197EE7}"/>
                </a:ext>
              </a:extLst>
            </p:cNvPr>
            <p:cNvGrpSpPr/>
            <p:nvPr/>
          </p:nvGrpSpPr>
          <p:grpSpPr>
            <a:xfrm>
              <a:off x="8147304" y="753743"/>
              <a:ext cx="3657600" cy="4486024"/>
              <a:chOff x="8046720" y="519679"/>
              <a:chExt cx="3657600" cy="4486024"/>
            </a:xfrm>
          </p:grpSpPr>
          <p:sp>
            <p:nvSpPr>
              <p:cNvPr id="17412" name="Rectangle: Rounded Corners 17411">
                <a:extLst>
                  <a:ext uri="{FF2B5EF4-FFF2-40B4-BE49-F238E27FC236}">
                    <a16:creationId xmlns:a16="http://schemas.microsoft.com/office/drawing/2014/main" id="{E94BDC70-5A3F-41BD-0509-E3C154F62E74}"/>
                  </a:ext>
                </a:extLst>
              </p:cNvPr>
              <p:cNvSpPr/>
              <p:nvPr/>
            </p:nvSpPr>
            <p:spPr>
              <a:xfrm>
                <a:off x="8046720" y="519679"/>
                <a:ext cx="3657600" cy="3880211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13" name="TextBox 17412">
                <a:extLst>
                  <a:ext uri="{FF2B5EF4-FFF2-40B4-BE49-F238E27FC236}">
                    <a16:creationId xmlns:a16="http://schemas.microsoft.com/office/drawing/2014/main" id="{8C80BAFF-02FC-34BB-2A12-A7A7EEA34D52}"/>
                  </a:ext>
                </a:extLst>
              </p:cNvPr>
              <p:cNvSpPr txBox="1"/>
              <p:nvPr/>
            </p:nvSpPr>
            <p:spPr>
              <a:xfrm>
                <a:off x="8220456" y="753743"/>
                <a:ext cx="3474720" cy="42519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5000"/>
                  </a:lnSpc>
                  <a:spcAft>
                    <a:spcPts val="800"/>
                  </a:spcAft>
                  <a:defRPr sz="1120">
                    <a:solidFill>
                      <a:srgbClr val="141414"/>
                    </a:solidFill>
                    <a:latin typeface="Arial"/>
                  </a:defRPr>
                </a:pPr>
                <a:r>
                  <a:rPr dirty="0"/>
                  <a:t>• Local-language display with simple alerts (Green/Red).</a:t>
                </a:r>
              </a:p>
              <a:p>
                <a:pPr>
                  <a:lnSpc>
                    <a:spcPct val="105000"/>
                  </a:lnSpc>
                  <a:spcAft>
                    <a:spcPts val="800"/>
                  </a:spcAft>
                  <a:defRPr sz="1120">
                    <a:solidFill>
                      <a:srgbClr val="141414"/>
                    </a:solidFill>
                    <a:latin typeface="Arial"/>
                  </a:defRPr>
                </a:pPr>
                <a:r>
                  <a:rPr dirty="0"/>
                  <a:t>• LED indicators: Green (Normal) and Red (Risk Detected).</a:t>
                </a:r>
              </a:p>
              <a:p>
                <a:pPr>
                  <a:lnSpc>
                    <a:spcPct val="105000"/>
                  </a:lnSpc>
                  <a:spcAft>
                    <a:spcPts val="800"/>
                  </a:spcAft>
                  <a:defRPr sz="1120">
                    <a:solidFill>
                      <a:srgbClr val="141414"/>
                    </a:solidFill>
                    <a:latin typeface="Arial"/>
                  </a:defRPr>
                </a:pPr>
                <a:r>
                  <a:rPr dirty="0"/>
                  <a:t>• Buzzer is mild for easy attention without causing disturbance.</a:t>
                </a:r>
              </a:p>
              <a:p>
                <a:pPr>
                  <a:lnSpc>
                    <a:spcPct val="105000"/>
                  </a:lnSpc>
                  <a:spcAft>
                    <a:spcPts val="800"/>
                  </a:spcAft>
                  <a:defRPr sz="1120">
                    <a:solidFill>
                      <a:srgbClr val="141414"/>
                    </a:solidFill>
                    <a:latin typeface="Arial"/>
                  </a:defRPr>
                </a:pPr>
                <a:r>
                  <a:rPr dirty="0"/>
                  <a:t>• No smartphone required.</a:t>
                </a:r>
              </a:p>
              <a:p>
                <a:pPr>
                  <a:lnSpc>
                    <a:spcPct val="105000"/>
                  </a:lnSpc>
                  <a:spcAft>
                    <a:spcPts val="800"/>
                  </a:spcAft>
                  <a:defRPr sz="1120">
                    <a:solidFill>
                      <a:srgbClr val="141414"/>
                    </a:solidFill>
                    <a:latin typeface="Arial"/>
                  </a:defRPr>
                </a:pPr>
                <a:r>
                  <a:rPr dirty="0"/>
                  <a:t>• No </a:t>
                </a:r>
                <a:r>
                  <a:rPr dirty="0" err="1"/>
                  <a:t>behaviour</a:t>
                </a:r>
                <a:r>
                  <a:rPr dirty="0"/>
                  <a:t> change beyond attaching the clip-on electrode during milking.</a:t>
                </a:r>
              </a:p>
              <a:p>
                <a:pPr>
                  <a:lnSpc>
                    <a:spcPct val="105000"/>
                  </a:lnSpc>
                  <a:spcAft>
                    <a:spcPts val="800"/>
                  </a:spcAft>
                  <a:defRPr sz="1120">
                    <a:solidFill>
                      <a:srgbClr val="141414"/>
                    </a:solidFill>
                    <a:latin typeface="Arial"/>
                  </a:defRPr>
                </a:pPr>
                <a:r>
                  <a:rPr dirty="0"/>
                  <a:t>• Adds only a few seconds per cow.</a:t>
                </a:r>
              </a:p>
              <a:p>
                <a:pPr>
                  <a:lnSpc>
                    <a:spcPct val="105000"/>
                  </a:lnSpc>
                  <a:spcAft>
                    <a:spcPts val="800"/>
                  </a:spcAft>
                  <a:defRPr sz="1120">
                    <a:solidFill>
                      <a:srgbClr val="141414"/>
                    </a:solidFill>
                    <a:latin typeface="Arial"/>
                  </a:defRPr>
                </a:pPr>
                <a:r>
                  <a:rPr dirty="0"/>
                  <a:t>• Helps early detection, reduces losses, and improves animal health and farmer income.</a:t>
                </a:r>
              </a:p>
            </p:txBody>
          </p:sp>
        </p:grpSp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90328F8C-F359-CB7B-EA6A-A2987AA4BDFF}"/>
                </a:ext>
              </a:extLst>
            </p:cNvPr>
            <p:cNvSpPr/>
            <p:nvPr/>
          </p:nvSpPr>
          <p:spPr>
            <a:xfrm>
              <a:off x="4174226" y="753743"/>
              <a:ext cx="3556112" cy="3554909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452D98A-6630-CD17-19B9-D5A97CE41FCF}"/>
                </a:ext>
              </a:extLst>
            </p:cNvPr>
            <p:cNvSpPr txBox="1"/>
            <p:nvPr/>
          </p:nvSpPr>
          <p:spPr>
            <a:xfrm>
              <a:off x="4339970" y="969263"/>
              <a:ext cx="3463519" cy="34361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5000"/>
                </a:lnSpc>
                <a:spcAft>
                  <a:spcPts val="800"/>
                </a:spcAft>
                <a:defRPr sz="1120">
                  <a:solidFill>
                    <a:srgbClr val="141414"/>
                  </a:solidFill>
                  <a:latin typeface="Arial"/>
                </a:defRPr>
              </a:pPr>
              <a:r>
                <a:rPr dirty="0"/>
                <a:t>• Conductivity is measured using food-grade stainless-steel electrodes placed in the milk flow path. Food-grade stainless steel is safe, corrosion-resistant, and suitable for long-term use in milk.</a:t>
              </a:r>
            </a:p>
            <a:p>
              <a:pPr>
                <a:lnSpc>
                  <a:spcPct val="105000"/>
                </a:lnSpc>
                <a:spcAft>
                  <a:spcPts val="800"/>
                </a:spcAft>
                <a:defRPr sz="1120">
                  <a:solidFill>
                    <a:srgbClr val="141414"/>
                  </a:solidFill>
                  <a:latin typeface="Arial"/>
                </a:defRPr>
              </a:pPr>
              <a:r>
                <a:rPr dirty="0"/>
                <a:t>• Other parameters measured: temperature (DS18B20) and milk flow/quantity.</a:t>
              </a:r>
            </a:p>
            <a:p>
              <a:pPr>
                <a:lnSpc>
                  <a:spcPct val="105000"/>
                </a:lnSpc>
                <a:spcAft>
                  <a:spcPts val="800"/>
                </a:spcAft>
                <a:defRPr sz="1120">
                  <a:solidFill>
                    <a:srgbClr val="141414"/>
                  </a:solidFill>
                  <a:latin typeface="Arial"/>
                </a:defRPr>
              </a:pPr>
              <a:r>
                <a:rPr dirty="0"/>
                <a:t>• Controlled by ESP32-S3 (N16R8) with Wi-Fi, 8MB PSRAM and 16MB Flash.</a:t>
              </a:r>
            </a:p>
            <a:p>
              <a:pPr>
                <a:lnSpc>
                  <a:spcPct val="105000"/>
                </a:lnSpc>
                <a:spcAft>
                  <a:spcPts val="800"/>
                </a:spcAft>
                <a:defRPr sz="1120">
                  <a:solidFill>
                    <a:srgbClr val="141414"/>
                  </a:solidFill>
                  <a:latin typeface="Arial"/>
                </a:defRPr>
              </a:pPr>
              <a:r>
                <a:rPr dirty="0"/>
                <a:t>• Local AI (</a:t>
              </a:r>
              <a:r>
                <a:rPr dirty="0" err="1"/>
                <a:t>TinyML</a:t>
              </a:r>
              <a:r>
                <a:rPr dirty="0"/>
                <a:t>) analyses 14-day trends and predicts mastitis risk offline.</a:t>
              </a:r>
            </a:p>
            <a:p>
              <a:pPr>
                <a:lnSpc>
                  <a:spcPct val="105000"/>
                </a:lnSpc>
                <a:spcAft>
                  <a:spcPts val="800"/>
                </a:spcAft>
                <a:defRPr sz="1120">
                  <a:solidFill>
                    <a:srgbClr val="141414"/>
                  </a:solidFill>
                  <a:latin typeface="Arial"/>
                </a:defRPr>
              </a:pPr>
              <a:r>
                <a:rPr dirty="0"/>
                <a:t>• Data is stored on a microSD card for months (8GB or more).</a:t>
              </a:r>
            </a:p>
            <a:p>
              <a:pPr>
                <a:lnSpc>
                  <a:spcPct val="105000"/>
                </a:lnSpc>
                <a:spcAft>
                  <a:spcPts val="800"/>
                </a:spcAft>
                <a:defRPr sz="1120">
                  <a:solidFill>
                    <a:srgbClr val="141414"/>
                  </a:solidFill>
                  <a:latin typeface="Arial"/>
                </a:defRPr>
              </a:pPr>
              <a:r>
                <a:rPr dirty="0"/>
                <a:t>.</a:t>
              </a:r>
            </a:p>
          </p:txBody>
        </p:sp>
      </p:grpSp>
      <p:pic>
        <p:nvPicPr>
          <p:cNvPr id="17432" name="Picture 17431">
            <a:extLst>
              <a:ext uri="{FF2B5EF4-FFF2-40B4-BE49-F238E27FC236}">
                <a16:creationId xmlns:a16="http://schemas.microsoft.com/office/drawing/2014/main" id="{8FA74513-629C-CF63-96B2-EC2E6196FA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709" y="191220"/>
            <a:ext cx="978132" cy="9781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C28F35-BA5D-5182-4CCD-D977CE87E915}"/>
              </a:ext>
            </a:extLst>
          </p:cNvPr>
          <p:cNvSpPr txBox="1"/>
          <p:nvPr/>
        </p:nvSpPr>
        <p:spPr>
          <a:xfrm>
            <a:off x="10999694" y="6275294"/>
            <a:ext cx="788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8D3648-066D-E703-8D3A-18FF09FD59B1}"/>
              </a:ext>
            </a:extLst>
          </p:cNvPr>
          <p:cNvSpPr txBox="1"/>
          <p:nvPr/>
        </p:nvSpPr>
        <p:spPr>
          <a:xfrm>
            <a:off x="8375368" y="5523539"/>
            <a:ext cx="3170095" cy="101566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Designed for zero digital literacy: simple visual (Green/Red LED) and mild audio alerts work for farmers who cannot read or use smartphones, ensuring adoption across rural and semi-literate dairy communities.</a:t>
            </a:r>
          </a:p>
        </p:txBody>
      </p:sp>
    </p:spTree>
    <p:extLst>
      <p:ext uri="{BB962C8B-B14F-4D97-AF65-F5344CB8AC3E}">
        <p14:creationId xmlns:p14="http://schemas.microsoft.com/office/powerpoint/2010/main" val="2581074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051560" y="-127699"/>
            <a:ext cx="10515600" cy="1325563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pSp>
        <p:nvGrpSpPr>
          <p:cNvPr id="17476" name="Group 17475">
            <a:extLst>
              <a:ext uri="{FF2B5EF4-FFF2-40B4-BE49-F238E27FC236}">
                <a16:creationId xmlns:a16="http://schemas.microsoft.com/office/drawing/2014/main" id="{38F3DAE9-D500-A4A8-8FAD-087FA77992BF}"/>
              </a:ext>
            </a:extLst>
          </p:cNvPr>
          <p:cNvGrpSpPr/>
          <p:nvPr/>
        </p:nvGrpSpPr>
        <p:grpSpPr>
          <a:xfrm>
            <a:off x="502920" y="1261872"/>
            <a:ext cx="10844784" cy="4343400"/>
            <a:chOff x="502920" y="1261872"/>
            <a:chExt cx="10844784" cy="4343400"/>
          </a:xfrm>
        </p:grpSpPr>
        <p:sp>
          <p:nvSpPr>
            <p:cNvPr id="5" name="Rounded Rectangle 17410">
              <a:extLst>
                <a:ext uri="{FF2B5EF4-FFF2-40B4-BE49-F238E27FC236}">
                  <a16:creationId xmlns:a16="http://schemas.microsoft.com/office/drawing/2014/main" id="{BAE7E297-153E-8021-260B-36A6EB575D43}"/>
                </a:ext>
              </a:extLst>
            </p:cNvPr>
            <p:cNvSpPr/>
            <p:nvPr/>
          </p:nvSpPr>
          <p:spPr>
            <a:xfrm>
              <a:off x="502920" y="1261872"/>
              <a:ext cx="1965960" cy="384048"/>
            </a:xfrm>
            <a:prstGeom prst="roundRect">
              <a:avLst/>
            </a:prstGeom>
            <a:solidFill>
              <a:srgbClr val="0070C0"/>
            </a:solidFill>
            <a:ln w="1524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F1BC60E-FDD1-ED9C-FBB4-60E4DF69A20A}"/>
                </a:ext>
              </a:extLst>
            </p:cNvPr>
            <p:cNvSpPr txBox="1"/>
            <p:nvPr/>
          </p:nvSpPr>
          <p:spPr>
            <a:xfrm>
              <a:off x="576072" y="1271016"/>
              <a:ext cx="1828800" cy="34747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txBody>
            <a:bodyPr wrap="square" lIns="54864" tIns="54864" rIns="54864" bIns="54864" anchor="ctr">
              <a:spAutoFit/>
            </a:bodyPr>
            <a:lstStyle/>
            <a:p>
              <a:pPr algn="ctr"/>
              <a:r>
                <a:rPr sz="1500" b="1" dirty="0">
                  <a:solidFill>
                    <a:srgbClr val="FFFFFF"/>
                  </a:solidFill>
                  <a:latin typeface="Aptos"/>
                </a:rPr>
                <a:t>IMPACT FLOW</a:t>
              </a:r>
            </a:p>
          </p:txBody>
        </p:sp>
        <p:sp>
          <p:nvSpPr>
            <p:cNvPr id="13" name="Rounded Rectangle 17412">
              <a:extLst>
                <a:ext uri="{FF2B5EF4-FFF2-40B4-BE49-F238E27FC236}">
                  <a16:creationId xmlns:a16="http://schemas.microsoft.com/office/drawing/2014/main" id="{52C77ACA-80E9-C2A8-D18B-25939C0E221F}"/>
                </a:ext>
              </a:extLst>
            </p:cNvPr>
            <p:cNvSpPr/>
            <p:nvPr/>
          </p:nvSpPr>
          <p:spPr>
            <a:xfrm>
              <a:off x="502920" y="1755648"/>
              <a:ext cx="1664208" cy="1143000"/>
            </a:xfrm>
            <a:prstGeom prst="roundRect">
              <a:avLst/>
            </a:prstGeom>
            <a:solidFill>
              <a:srgbClr val="DDEBF7"/>
            </a:solidFill>
            <a:ln w="1524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185B7B6-D804-B954-EF8D-A0E20E0B4C2D}"/>
                </a:ext>
              </a:extLst>
            </p:cNvPr>
            <p:cNvSpPr txBox="1"/>
            <p:nvPr/>
          </p:nvSpPr>
          <p:spPr>
            <a:xfrm>
              <a:off x="748665" y="1756766"/>
              <a:ext cx="1133856" cy="464743"/>
            </a:xfrm>
            <a:prstGeom prst="rect">
              <a:avLst/>
            </a:prstGeom>
            <a:noFill/>
          </p:spPr>
          <p:txBody>
            <a:bodyPr wrap="square" lIns="54864" tIns="54864" rIns="54864" bIns="54864" anchor="ctr">
              <a:spAutoFit/>
            </a:bodyPr>
            <a:lstStyle/>
            <a:p>
              <a:pPr marL="228600" indent="-228600" algn="l">
                <a:buFont typeface="+mj-lt"/>
                <a:buAutoNum type="arabicPeriod"/>
              </a:pPr>
              <a:r>
                <a:rPr sz="1150" b="1" dirty="0">
                  <a:solidFill>
                    <a:srgbClr val="0070C0"/>
                  </a:solidFill>
                  <a:latin typeface="Arial"/>
                </a:rPr>
                <a:t>EARLY SENSING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67EBB00-3484-8115-D964-C7B67F99D7A5}"/>
                </a:ext>
              </a:extLst>
            </p:cNvPr>
            <p:cNvSpPr txBox="1"/>
            <p:nvPr/>
          </p:nvSpPr>
          <p:spPr>
            <a:xfrm>
              <a:off x="594360" y="2194560"/>
              <a:ext cx="1481328" cy="566928"/>
            </a:xfrm>
            <a:prstGeom prst="rect">
              <a:avLst/>
            </a:prstGeom>
            <a:noFill/>
          </p:spPr>
          <p:txBody>
            <a:bodyPr wrap="square" lIns="54864" tIns="54864" rIns="54864" bIns="54864" anchor="ctr">
              <a:spAutoFit/>
            </a:bodyPr>
            <a:lstStyle/>
            <a:p>
              <a:pPr algn="ctr"/>
              <a:r>
                <a:rPr sz="1019" b="0">
                  <a:solidFill>
                    <a:srgbClr val="1F374B"/>
                  </a:solidFill>
                  <a:latin typeface="Arial"/>
                </a:rPr>
                <a:t>Detect EC / temperature deviation</a:t>
              </a:r>
            </a:p>
          </p:txBody>
        </p:sp>
        <p:sp>
          <p:nvSpPr>
            <p:cNvPr id="23" name="Right Arrow 17417">
              <a:extLst>
                <a:ext uri="{FF2B5EF4-FFF2-40B4-BE49-F238E27FC236}">
                  <a16:creationId xmlns:a16="http://schemas.microsoft.com/office/drawing/2014/main" id="{44B3DAD8-ED6D-A9D6-38CB-79181166D0E4}"/>
                </a:ext>
              </a:extLst>
            </p:cNvPr>
            <p:cNvSpPr/>
            <p:nvPr/>
          </p:nvSpPr>
          <p:spPr>
            <a:xfrm>
              <a:off x="2180844" y="2185415"/>
              <a:ext cx="91440" cy="274320"/>
            </a:xfrm>
            <a:prstGeom prst="rightArrow">
              <a:avLst/>
            </a:prstGeom>
            <a:solidFill>
              <a:srgbClr val="595959"/>
            </a:solidFill>
            <a:ln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ounded Rectangle 17418">
              <a:extLst>
                <a:ext uri="{FF2B5EF4-FFF2-40B4-BE49-F238E27FC236}">
                  <a16:creationId xmlns:a16="http://schemas.microsoft.com/office/drawing/2014/main" id="{B37C3CED-2921-A449-6BA0-EDECC8CE00BA}"/>
                </a:ext>
              </a:extLst>
            </p:cNvPr>
            <p:cNvSpPr/>
            <p:nvPr/>
          </p:nvSpPr>
          <p:spPr>
            <a:xfrm>
              <a:off x="2286000" y="1755648"/>
              <a:ext cx="1664208" cy="1143000"/>
            </a:xfrm>
            <a:prstGeom prst="roundRect">
              <a:avLst/>
            </a:prstGeom>
            <a:solidFill>
              <a:srgbClr val="DDEBF7"/>
            </a:solidFill>
            <a:ln w="15240"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B5C2983-4D6D-6ADD-ED1A-8FC774366FAE}"/>
                </a:ext>
              </a:extLst>
            </p:cNvPr>
            <p:cNvSpPr txBox="1"/>
            <p:nvPr/>
          </p:nvSpPr>
          <p:spPr>
            <a:xfrm>
              <a:off x="2574036" y="1803541"/>
              <a:ext cx="1586484" cy="464743"/>
            </a:xfrm>
            <a:prstGeom prst="rect">
              <a:avLst/>
            </a:prstGeom>
            <a:noFill/>
          </p:spPr>
          <p:txBody>
            <a:bodyPr wrap="square" lIns="54864" tIns="54864" rIns="54864" bIns="54864" anchor="ctr">
              <a:spAutoFit/>
            </a:bodyPr>
            <a:lstStyle/>
            <a:p>
              <a:pPr algn="l"/>
              <a:r>
                <a:rPr lang="en-US" sz="1150" b="1" dirty="0">
                  <a:solidFill>
                    <a:srgbClr val="4472C4"/>
                  </a:solidFill>
                  <a:latin typeface="Arial"/>
                </a:rPr>
                <a:t>2.</a:t>
              </a:r>
              <a:r>
                <a:rPr sz="1150" b="1" dirty="0">
                  <a:solidFill>
                    <a:srgbClr val="4472C4"/>
                  </a:solidFill>
                  <a:latin typeface="Arial"/>
                </a:rPr>
                <a:t>PERSONAL </a:t>
              </a:r>
              <a:r>
                <a:rPr lang="en-US" sz="1150" b="1" dirty="0">
                  <a:solidFill>
                    <a:srgbClr val="4472C4"/>
                  </a:solidFill>
                  <a:latin typeface="Arial"/>
                </a:rPr>
                <a:t>   </a:t>
              </a:r>
              <a:r>
                <a:rPr sz="1150" b="1" dirty="0">
                  <a:solidFill>
                    <a:srgbClr val="4472C4"/>
                  </a:solidFill>
                  <a:latin typeface="Arial"/>
                </a:rPr>
                <a:t>BASELINE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C46812C-F711-A5CE-DFA8-5AF760108C48}"/>
                </a:ext>
              </a:extLst>
            </p:cNvPr>
            <p:cNvSpPr txBox="1"/>
            <p:nvPr/>
          </p:nvSpPr>
          <p:spPr>
            <a:xfrm>
              <a:off x="2377440" y="2194560"/>
              <a:ext cx="1481328" cy="566928"/>
            </a:xfrm>
            <a:prstGeom prst="rect">
              <a:avLst/>
            </a:prstGeom>
            <a:noFill/>
          </p:spPr>
          <p:txBody>
            <a:bodyPr wrap="square" lIns="54864" tIns="54864" rIns="54864" bIns="54864" anchor="ctr">
              <a:spAutoFit/>
            </a:bodyPr>
            <a:lstStyle/>
            <a:p>
              <a:pPr algn="ctr"/>
              <a:r>
                <a:rPr sz="1019" b="0">
                  <a:solidFill>
                    <a:srgbClr val="1F374B"/>
                  </a:solidFill>
                  <a:latin typeface="Arial"/>
                </a:rPr>
                <a:t>Compare against each cow's normal</a:t>
              </a:r>
            </a:p>
          </p:txBody>
        </p:sp>
        <p:sp>
          <p:nvSpPr>
            <p:cNvPr id="35" name="Right Arrow 17423">
              <a:extLst>
                <a:ext uri="{FF2B5EF4-FFF2-40B4-BE49-F238E27FC236}">
                  <a16:creationId xmlns:a16="http://schemas.microsoft.com/office/drawing/2014/main" id="{512522FB-9C96-7385-F6F7-C01F32574100}"/>
                </a:ext>
              </a:extLst>
            </p:cNvPr>
            <p:cNvSpPr/>
            <p:nvPr/>
          </p:nvSpPr>
          <p:spPr>
            <a:xfrm>
              <a:off x="3963924" y="2185415"/>
              <a:ext cx="91440" cy="274320"/>
            </a:xfrm>
            <a:prstGeom prst="rightArrow">
              <a:avLst/>
            </a:prstGeom>
            <a:solidFill>
              <a:srgbClr val="595959"/>
            </a:solidFill>
            <a:ln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Rounded Rectangle 17424">
              <a:extLst>
                <a:ext uri="{FF2B5EF4-FFF2-40B4-BE49-F238E27FC236}">
                  <a16:creationId xmlns:a16="http://schemas.microsoft.com/office/drawing/2014/main" id="{29C32054-1340-36C4-A82F-0468DAB86415}"/>
                </a:ext>
              </a:extLst>
            </p:cNvPr>
            <p:cNvSpPr/>
            <p:nvPr/>
          </p:nvSpPr>
          <p:spPr>
            <a:xfrm>
              <a:off x="4069080" y="1755648"/>
              <a:ext cx="1664208" cy="1143000"/>
            </a:xfrm>
            <a:prstGeom prst="roundRect">
              <a:avLst/>
            </a:prstGeom>
            <a:solidFill>
              <a:srgbClr val="FCE4D6"/>
            </a:solidFill>
            <a:ln w="15240">
              <a:solidFill>
                <a:srgbClr val="ED7D3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CB71D96-A47D-7B59-FB6B-D85AD21225C2}"/>
                </a:ext>
              </a:extLst>
            </p:cNvPr>
            <p:cNvSpPr txBox="1"/>
            <p:nvPr/>
          </p:nvSpPr>
          <p:spPr>
            <a:xfrm>
              <a:off x="4178808" y="1826647"/>
              <a:ext cx="1481328" cy="287771"/>
            </a:xfrm>
            <a:prstGeom prst="rect">
              <a:avLst/>
            </a:prstGeom>
            <a:noFill/>
          </p:spPr>
          <p:txBody>
            <a:bodyPr wrap="square" lIns="54864" tIns="54864" rIns="54864" bIns="54864" anchor="ctr">
              <a:spAutoFit/>
            </a:bodyPr>
            <a:lstStyle/>
            <a:p>
              <a:pPr algn="l"/>
              <a:r>
                <a:rPr lang="en-US" sz="1150" b="1" dirty="0">
                  <a:solidFill>
                    <a:srgbClr val="ED7D31"/>
                  </a:solidFill>
                  <a:latin typeface="Arial"/>
                </a:rPr>
                <a:t>3.</a:t>
              </a:r>
              <a:r>
                <a:rPr sz="1150" b="1" dirty="0">
                  <a:solidFill>
                    <a:srgbClr val="ED7D31"/>
                  </a:solidFill>
                  <a:latin typeface="Arial"/>
                </a:rPr>
                <a:t>RISK FORECAST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2B8BB57-28A3-09A5-E9B6-E8F941DF468C}"/>
                </a:ext>
              </a:extLst>
            </p:cNvPr>
            <p:cNvSpPr txBox="1"/>
            <p:nvPr/>
          </p:nvSpPr>
          <p:spPr>
            <a:xfrm>
              <a:off x="4160520" y="2194560"/>
              <a:ext cx="1481328" cy="566928"/>
            </a:xfrm>
            <a:prstGeom prst="rect">
              <a:avLst/>
            </a:prstGeom>
            <a:noFill/>
          </p:spPr>
          <p:txBody>
            <a:bodyPr wrap="square" lIns="54864" tIns="54864" rIns="54864" bIns="54864" anchor="ctr">
              <a:spAutoFit/>
            </a:bodyPr>
            <a:lstStyle/>
            <a:p>
              <a:pPr algn="ctr"/>
              <a:r>
                <a:rPr sz="1019" b="0">
                  <a:solidFill>
                    <a:srgbClr val="1F374B"/>
                  </a:solidFill>
                  <a:latin typeface="Arial"/>
                </a:rPr>
                <a:t>Flag repeated abnormal patterns</a:t>
              </a:r>
            </a:p>
          </p:txBody>
        </p:sp>
        <p:sp>
          <p:nvSpPr>
            <p:cNvPr id="47" name="Right Arrow 17429">
              <a:extLst>
                <a:ext uri="{FF2B5EF4-FFF2-40B4-BE49-F238E27FC236}">
                  <a16:creationId xmlns:a16="http://schemas.microsoft.com/office/drawing/2014/main" id="{BFBE33C8-4F39-0E9F-E6F3-24CA8C0B85D5}"/>
                </a:ext>
              </a:extLst>
            </p:cNvPr>
            <p:cNvSpPr/>
            <p:nvPr/>
          </p:nvSpPr>
          <p:spPr>
            <a:xfrm>
              <a:off x="5747004" y="2185415"/>
              <a:ext cx="91440" cy="274320"/>
            </a:xfrm>
            <a:prstGeom prst="rightArrow">
              <a:avLst/>
            </a:prstGeom>
            <a:solidFill>
              <a:srgbClr val="595959"/>
            </a:solidFill>
            <a:ln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Rounded Rectangle 17430">
              <a:extLst>
                <a:ext uri="{FF2B5EF4-FFF2-40B4-BE49-F238E27FC236}">
                  <a16:creationId xmlns:a16="http://schemas.microsoft.com/office/drawing/2014/main" id="{D41B2DCC-2215-06E3-D09F-EC66E96A0EC6}"/>
                </a:ext>
              </a:extLst>
            </p:cNvPr>
            <p:cNvSpPr/>
            <p:nvPr/>
          </p:nvSpPr>
          <p:spPr>
            <a:xfrm>
              <a:off x="5852160" y="1755648"/>
              <a:ext cx="1664208" cy="1143000"/>
            </a:xfrm>
            <a:prstGeom prst="roundRect">
              <a:avLst/>
            </a:prstGeom>
            <a:solidFill>
              <a:srgbClr val="E2EFDA"/>
            </a:solidFill>
            <a:ln w="15240">
              <a:solidFill>
                <a:srgbClr val="70AD4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CC96251-12B7-E2F0-9336-44463A8C3B58}"/>
                </a:ext>
              </a:extLst>
            </p:cNvPr>
            <p:cNvSpPr txBox="1"/>
            <p:nvPr/>
          </p:nvSpPr>
          <p:spPr>
            <a:xfrm>
              <a:off x="5957316" y="1826647"/>
              <a:ext cx="1485900" cy="287771"/>
            </a:xfrm>
            <a:prstGeom prst="rect">
              <a:avLst/>
            </a:prstGeom>
            <a:noFill/>
          </p:spPr>
          <p:txBody>
            <a:bodyPr wrap="square" lIns="54864" tIns="54864" rIns="54864" bIns="54864" anchor="ctr">
              <a:spAutoFit/>
            </a:bodyPr>
            <a:lstStyle/>
            <a:p>
              <a:pPr algn="l"/>
              <a:r>
                <a:rPr lang="en-US" sz="1150" b="1" dirty="0">
                  <a:solidFill>
                    <a:srgbClr val="70AD47"/>
                  </a:solidFill>
                  <a:latin typeface="Arial"/>
                </a:rPr>
                <a:t>4.</a:t>
              </a:r>
              <a:r>
                <a:rPr sz="1150" b="1" dirty="0">
                  <a:solidFill>
                    <a:srgbClr val="70AD47"/>
                  </a:solidFill>
                  <a:latin typeface="Arial"/>
                </a:rPr>
                <a:t>TIMELY ACTION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E102081-98B7-9CCF-0C7B-EB50BA701FF0}"/>
                </a:ext>
              </a:extLst>
            </p:cNvPr>
            <p:cNvSpPr txBox="1"/>
            <p:nvPr/>
          </p:nvSpPr>
          <p:spPr>
            <a:xfrm>
              <a:off x="5943600" y="2194560"/>
              <a:ext cx="1481328" cy="566928"/>
            </a:xfrm>
            <a:prstGeom prst="rect">
              <a:avLst/>
            </a:prstGeom>
            <a:noFill/>
          </p:spPr>
          <p:txBody>
            <a:bodyPr wrap="square" lIns="54864" tIns="54864" rIns="54864" bIns="54864" anchor="ctr">
              <a:spAutoFit/>
            </a:bodyPr>
            <a:lstStyle/>
            <a:p>
              <a:pPr algn="ctr"/>
              <a:r>
                <a:rPr sz="1019" b="0">
                  <a:solidFill>
                    <a:srgbClr val="1F374B"/>
                  </a:solidFill>
                  <a:latin typeface="Arial"/>
                </a:rPr>
                <a:t>Monitor, re-test or contact vet</a:t>
              </a:r>
            </a:p>
          </p:txBody>
        </p:sp>
        <p:sp>
          <p:nvSpPr>
            <p:cNvPr id="59" name="Right Arrow 17435">
              <a:extLst>
                <a:ext uri="{FF2B5EF4-FFF2-40B4-BE49-F238E27FC236}">
                  <a16:creationId xmlns:a16="http://schemas.microsoft.com/office/drawing/2014/main" id="{7EED18F8-CD7D-414F-38EF-7D44FFA608D8}"/>
                </a:ext>
              </a:extLst>
            </p:cNvPr>
            <p:cNvSpPr/>
            <p:nvPr/>
          </p:nvSpPr>
          <p:spPr>
            <a:xfrm>
              <a:off x="7530084" y="2185415"/>
              <a:ext cx="91440" cy="274320"/>
            </a:xfrm>
            <a:prstGeom prst="rightArrow">
              <a:avLst/>
            </a:prstGeom>
            <a:solidFill>
              <a:srgbClr val="595959"/>
            </a:solidFill>
            <a:ln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Rounded Rectangle 17436">
              <a:extLst>
                <a:ext uri="{FF2B5EF4-FFF2-40B4-BE49-F238E27FC236}">
                  <a16:creationId xmlns:a16="http://schemas.microsoft.com/office/drawing/2014/main" id="{BDD0DAB6-6682-602C-683C-5EEB9E8085EA}"/>
                </a:ext>
              </a:extLst>
            </p:cNvPr>
            <p:cNvSpPr/>
            <p:nvPr/>
          </p:nvSpPr>
          <p:spPr>
            <a:xfrm>
              <a:off x="7635240" y="1755648"/>
              <a:ext cx="1664208" cy="1143000"/>
            </a:xfrm>
            <a:prstGeom prst="roundRect">
              <a:avLst/>
            </a:prstGeom>
            <a:solidFill>
              <a:srgbClr val="EAE0F5"/>
            </a:solidFill>
            <a:ln w="1524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13" name="TextBox 17412">
              <a:extLst>
                <a:ext uri="{FF2B5EF4-FFF2-40B4-BE49-F238E27FC236}">
                  <a16:creationId xmlns:a16="http://schemas.microsoft.com/office/drawing/2014/main" id="{9DD5341B-3494-EBD9-A2F8-DAF7425C488F}"/>
                </a:ext>
              </a:extLst>
            </p:cNvPr>
            <p:cNvSpPr txBox="1"/>
            <p:nvPr/>
          </p:nvSpPr>
          <p:spPr>
            <a:xfrm>
              <a:off x="7997952" y="1795628"/>
              <a:ext cx="1586484" cy="464743"/>
            </a:xfrm>
            <a:prstGeom prst="rect">
              <a:avLst/>
            </a:prstGeom>
            <a:noFill/>
          </p:spPr>
          <p:txBody>
            <a:bodyPr wrap="square" lIns="54864" tIns="54864" rIns="54864" bIns="54864" anchor="ctr">
              <a:spAutoFit/>
            </a:bodyPr>
            <a:lstStyle/>
            <a:p>
              <a:pPr algn="l"/>
              <a:r>
                <a:rPr lang="en-US" sz="1150" b="1" dirty="0">
                  <a:solidFill>
                    <a:srgbClr val="7030A0"/>
                  </a:solidFill>
                  <a:latin typeface="Arial"/>
                </a:rPr>
                <a:t>5.</a:t>
              </a:r>
              <a:r>
                <a:rPr sz="1150" b="1" dirty="0">
                  <a:solidFill>
                    <a:srgbClr val="7030A0"/>
                  </a:solidFill>
                  <a:latin typeface="Arial"/>
                </a:rPr>
                <a:t>BETTER</a:t>
              </a:r>
              <a:r>
                <a:rPr lang="en-US" sz="1150" b="1" dirty="0">
                  <a:solidFill>
                    <a:srgbClr val="7030A0"/>
                  </a:solidFill>
                  <a:latin typeface="Arial"/>
                </a:rPr>
                <a:t> </a:t>
              </a:r>
              <a:r>
                <a:rPr sz="1150" b="1" dirty="0">
                  <a:solidFill>
                    <a:srgbClr val="7030A0"/>
                  </a:solidFill>
                  <a:latin typeface="Arial"/>
                </a:rPr>
                <a:t>OUTCOMES</a:t>
              </a:r>
            </a:p>
          </p:txBody>
        </p:sp>
        <p:sp>
          <p:nvSpPr>
            <p:cNvPr id="17415" name="TextBox 17414">
              <a:extLst>
                <a:ext uri="{FF2B5EF4-FFF2-40B4-BE49-F238E27FC236}">
                  <a16:creationId xmlns:a16="http://schemas.microsoft.com/office/drawing/2014/main" id="{5C900F6B-9207-835A-8C5C-0997A8948E31}"/>
                </a:ext>
              </a:extLst>
            </p:cNvPr>
            <p:cNvSpPr txBox="1"/>
            <p:nvPr/>
          </p:nvSpPr>
          <p:spPr>
            <a:xfrm>
              <a:off x="7726680" y="2194560"/>
              <a:ext cx="1481328" cy="566928"/>
            </a:xfrm>
            <a:prstGeom prst="rect">
              <a:avLst/>
            </a:prstGeom>
            <a:noFill/>
          </p:spPr>
          <p:txBody>
            <a:bodyPr wrap="square" lIns="54864" tIns="54864" rIns="54864" bIns="54864" anchor="ctr">
              <a:spAutoFit/>
            </a:bodyPr>
            <a:lstStyle/>
            <a:p>
              <a:pPr algn="ctr"/>
              <a:r>
                <a:rPr sz="1019" b="0">
                  <a:solidFill>
                    <a:srgbClr val="1F374B"/>
                  </a:solidFill>
                  <a:latin typeface="Arial"/>
                </a:rPr>
                <a:t>Support animal health &amp; milk quality</a:t>
              </a:r>
            </a:p>
          </p:txBody>
        </p:sp>
        <p:sp>
          <p:nvSpPr>
            <p:cNvPr id="17417" name="Right Arrow 17441">
              <a:extLst>
                <a:ext uri="{FF2B5EF4-FFF2-40B4-BE49-F238E27FC236}">
                  <a16:creationId xmlns:a16="http://schemas.microsoft.com/office/drawing/2014/main" id="{3E5D55CF-8821-9074-9A03-B97CCEA131C1}"/>
                </a:ext>
              </a:extLst>
            </p:cNvPr>
            <p:cNvSpPr/>
            <p:nvPr/>
          </p:nvSpPr>
          <p:spPr>
            <a:xfrm>
              <a:off x="9313164" y="2185415"/>
              <a:ext cx="91440" cy="274320"/>
            </a:xfrm>
            <a:prstGeom prst="rightArrow">
              <a:avLst/>
            </a:prstGeom>
            <a:solidFill>
              <a:srgbClr val="595959"/>
            </a:solidFill>
            <a:ln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19" name="Rounded Rectangle 17442">
              <a:extLst>
                <a:ext uri="{FF2B5EF4-FFF2-40B4-BE49-F238E27FC236}">
                  <a16:creationId xmlns:a16="http://schemas.microsoft.com/office/drawing/2014/main" id="{C9D1B103-6328-9336-F7E9-26060D8FAB8F}"/>
                </a:ext>
              </a:extLst>
            </p:cNvPr>
            <p:cNvSpPr/>
            <p:nvPr/>
          </p:nvSpPr>
          <p:spPr>
            <a:xfrm>
              <a:off x="9418320" y="1755648"/>
              <a:ext cx="1664208" cy="1143000"/>
            </a:xfrm>
            <a:prstGeom prst="roundRect">
              <a:avLst/>
            </a:prstGeom>
            <a:solidFill>
              <a:srgbClr val="F2F2F2"/>
            </a:solidFill>
            <a:ln w="15240">
              <a:solidFill>
                <a:srgbClr val="1F3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25" name="TextBox 17424">
              <a:extLst>
                <a:ext uri="{FF2B5EF4-FFF2-40B4-BE49-F238E27FC236}">
                  <a16:creationId xmlns:a16="http://schemas.microsoft.com/office/drawing/2014/main" id="{C528CB7B-4E42-9096-6FC6-3A67E88ED0A2}"/>
                </a:ext>
              </a:extLst>
            </p:cNvPr>
            <p:cNvSpPr txBox="1"/>
            <p:nvPr/>
          </p:nvSpPr>
          <p:spPr>
            <a:xfrm>
              <a:off x="9872853" y="1795627"/>
              <a:ext cx="1411224" cy="464743"/>
            </a:xfrm>
            <a:prstGeom prst="rect">
              <a:avLst/>
            </a:prstGeom>
            <a:noFill/>
          </p:spPr>
          <p:txBody>
            <a:bodyPr wrap="square" lIns="54864" tIns="54864" rIns="54864" bIns="54864" anchor="ctr">
              <a:spAutoFit/>
            </a:bodyPr>
            <a:lstStyle/>
            <a:p>
              <a:pPr algn="l"/>
              <a:r>
                <a:rPr lang="en-US" sz="1150" b="1" dirty="0">
                  <a:solidFill>
                    <a:srgbClr val="1F374B"/>
                  </a:solidFill>
                  <a:latin typeface="Arial"/>
                </a:rPr>
                <a:t>6.</a:t>
              </a:r>
              <a:r>
                <a:rPr sz="1150" b="1" dirty="0">
                  <a:solidFill>
                    <a:srgbClr val="1F374B"/>
                  </a:solidFill>
                  <a:latin typeface="Arial"/>
                </a:rPr>
                <a:t>DIGITAL RECORDS</a:t>
              </a:r>
            </a:p>
          </p:txBody>
        </p:sp>
        <p:sp>
          <p:nvSpPr>
            <p:cNvPr id="17427" name="TextBox 17426">
              <a:extLst>
                <a:ext uri="{FF2B5EF4-FFF2-40B4-BE49-F238E27FC236}">
                  <a16:creationId xmlns:a16="http://schemas.microsoft.com/office/drawing/2014/main" id="{665CBA8B-8EE4-F00F-DF08-59C673D3E14C}"/>
                </a:ext>
              </a:extLst>
            </p:cNvPr>
            <p:cNvSpPr txBox="1"/>
            <p:nvPr/>
          </p:nvSpPr>
          <p:spPr>
            <a:xfrm>
              <a:off x="9509760" y="2194560"/>
              <a:ext cx="1481328" cy="566928"/>
            </a:xfrm>
            <a:prstGeom prst="rect">
              <a:avLst/>
            </a:prstGeom>
            <a:noFill/>
          </p:spPr>
          <p:txBody>
            <a:bodyPr wrap="square" lIns="54864" tIns="54864" rIns="54864" bIns="54864" anchor="ctr">
              <a:spAutoFit/>
            </a:bodyPr>
            <a:lstStyle/>
            <a:p>
              <a:pPr algn="ctr"/>
              <a:r>
                <a:rPr sz="1019" b="0">
                  <a:solidFill>
                    <a:srgbClr val="1F374B"/>
                  </a:solidFill>
                  <a:latin typeface="Arial"/>
                </a:rPr>
                <a:t>Build traceable herd history</a:t>
              </a:r>
            </a:p>
          </p:txBody>
        </p:sp>
        <p:sp>
          <p:nvSpPr>
            <p:cNvPr id="17429" name="Rounded Rectangle 17447">
              <a:extLst>
                <a:ext uri="{FF2B5EF4-FFF2-40B4-BE49-F238E27FC236}">
                  <a16:creationId xmlns:a16="http://schemas.microsoft.com/office/drawing/2014/main" id="{4C61C4C9-B58A-B587-6E95-27C5BCD5EB4E}"/>
                </a:ext>
              </a:extLst>
            </p:cNvPr>
            <p:cNvSpPr/>
            <p:nvPr/>
          </p:nvSpPr>
          <p:spPr>
            <a:xfrm>
              <a:off x="502920" y="3182112"/>
              <a:ext cx="2240280" cy="384048"/>
            </a:xfrm>
            <a:prstGeom prst="roundRect">
              <a:avLst/>
            </a:prstGeom>
            <a:solidFill>
              <a:srgbClr val="0070C0"/>
            </a:solidFill>
            <a:ln w="1524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31" name="TextBox 17430">
              <a:extLst>
                <a:ext uri="{FF2B5EF4-FFF2-40B4-BE49-F238E27FC236}">
                  <a16:creationId xmlns:a16="http://schemas.microsoft.com/office/drawing/2014/main" id="{350B7D16-2E00-F1A4-7ADC-F02DB211697F}"/>
                </a:ext>
              </a:extLst>
            </p:cNvPr>
            <p:cNvSpPr txBox="1"/>
            <p:nvPr/>
          </p:nvSpPr>
          <p:spPr>
            <a:xfrm>
              <a:off x="576072" y="3191256"/>
              <a:ext cx="2103120" cy="34747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square" lIns="54864" tIns="54864" rIns="54864" bIns="54864" anchor="ctr">
              <a:spAutoFit/>
            </a:bodyPr>
            <a:lstStyle/>
            <a:p>
              <a:pPr algn="ctr"/>
              <a:r>
                <a:rPr sz="1500" b="1" dirty="0">
                  <a:solidFill>
                    <a:srgbClr val="FFFFFF"/>
                  </a:solidFill>
                  <a:latin typeface="Aptos"/>
                </a:rPr>
                <a:t>KEY BENEFITS</a:t>
              </a:r>
            </a:p>
          </p:txBody>
        </p:sp>
        <p:sp>
          <p:nvSpPr>
            <p:cNvPr id="17433" name="Rounded Rectangle 17449">
              <a:extLst>
                <a:ext uri="{FF2B5EF4-FFF2-40B4-BE49-F238E27FC236}">
                  <a16:creationId xmlns:a16="http://schemas.microsoft.com/office/drawing/2014/main" id="{F8A8EDF9-3C07-DEC5-4AA0-095C7E41C610}"/>
                </a:ext>
              </a:extLst>
            </p:cNvPr>
            <p:cNvSpPr/>
            <p:nvPr/>
          </p:nvSpPr>
          <p:spPr>
            <a:xfrm>
              <a:off x="640080" y="3675887"/>
              <a:ext cx="2560320" cy="1298448"/>
            </a:xfrm>
            <a:prstGeom prst="roundRect">
              <a:avLst/>
            </a:prstGeom>
            <a:solidFill>
              <a:srgbClr val="E2EFDA"/>
            </a:solidFill>
            <a:ln w="15240">
              <a:solidFill>
                <a:srgbClr val="70AD4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39" name="TextBox 17438">
              <a:extLst>
                <a:ext uri="{FF2B5EF4-FFF2-40B4-BE49-F238E27FC236}">
                  <a16:creationId xmlns:a16="http://schemas.microsoft.com/office/drawing/2014/main" id="{F60DF08D-39FE-B371-3870-0F4AC2175CA5}"/>
                </a:ext>
              </a:extLst>
            </p:cNvPr>
            <p:cNvSpPr txBox="1"/>
            <p:nvPr/>
          </p:nvSpPr>
          <p:spPr>
            <a:xfrm>
              <a:off x="804671" y="3804083"/>
              <a:ext cx="1835658" cy="310854"/>
            </a:xfrm>
            <a:prstGeom prst="rect">
              <a:avLst/>
            </a:prstGeom>
            <a:noFill/>
          </p:spPr>
          <p:txBody>
            <a:bodyPr wrap="square" lIns="54864" tIns="54864" rIns="54864" bIns="54864" anchor="ctr">
              <a:spAutoFit/>
            </a:bodyPr>
            <a:lstStyle/>
            <a:p>
              <a:pPr marL="285750" indent="-285750" algn="l">
                <a:buFont typeface="Wingdings" panose="05000000000000000000" pitchFamily="2" charset="2"/>
                <a:buChar char="v"/>
              </a:pPr>
              <a:r>
                <a:rPr sz="1300" b="1" dirty="0">
                  <a:solidFill>
                    <a:srgbClr val="70AD47"/>
                  </a:solidFill>
                  <a:latin typeface="Arial"/>
                </a:rPr>
                <a:t>ANIMAL HEALTH</a:t>
              </a:r>
            </a:p>
          </p:txBody>
        </p:sp>
        <p:sp>
          <p:nvSpPr>
            <p:cNvPr id="17441" name="TextBox 17440">
              <a:extLst>
                <a:ext uri="{FF2B5EF4-FFF2-40B4-BE49-F238E27FC236}">
                  <a16:creationId xmlns:a16="http://schemas.microsoft.com/office/drawing/2014/main" id="{6054C7CF-9BD4-EDB7-F786-6292B468AAEA}"/>
                </a:ext>
              </a:extLst>
            </p:cNvPr>
            <p:cNvSpPr txBox="1"/>
            <p:nvPr/>
          </p:nvSpPr>
          <p:spPr>
            <a:xfrm>
              <a:off x="842009" y="4196778"/>
              <a:ext cx="2231136" cy="475488"/>
            </a:xfrm>
            <a:prstGeom prst="rect">
              <a:avLst/>
            </a:prstGeom>
            <a:noFill/>
          </p:spPr>
          <p:txBody>
            <a:bodyPr wrap="square" lIns="54864" tIns="54864" rIns="54864" bIns="54864" anchor="ctr">
              <a:spAutoFit/>
            </a:bodyPr>
            <a:lstStyle/>
            <a:p>
              <a:pPr algn="ctr"/>
              <a:r>
                <a:rPr sz="1080" b="0" dirty="0">
                  <a:solidFill>
                    <a:srgbClr val="1F374B"/>
                  </a:solidFill>
                  <a:latin typeface="Arial"/>
                </a:rPr>
                <a:t>Earlier attention to abnormal trends
and better follow-up per cow</a:t>
              </a:r>
            </a:p>
          </p:txBody>
        </p:sp>
        <p:sp>
          <p:nvSpPr>
            <p:cNvPr id="17443" name="Rounded Rectangle 17454">
              <a:extLst>
                <a:ext uri="{FF2B5EF4-FFF2-40B4-BE49-F238E27FC236}">
                  <a16:creationId xmlns:a16="http://schemas.microsoft.com/office/drawing/2014/main" id="{3AE27FA4-6D93-B111-A73C-975017465851}"/>
                </a:ext>
              </a:extLst>
            </p:cNvPr>
            <p:cNvSpPr/>
            <p:nvPr/>
          </p:nvSpPr>
          <p:spPr>
            <a:xfrm>
              <a:off x="3355848" y="3675887"/>
              <a:ext cx="2560320" cy="1298448"/>
            </a:xfrm>
            <a:prstGeom prst="roundRect">
              <a:avLst/>
            </a:prstGeom>
            <a:solidFill>
              <a:srgbClr val="FCE4D6"/>
            </a:solidFill>
            <a:ln w="15240">
              <a:solidFill>
                <a:srgbClr val="ED7D3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49" name="TextBox 17448">
              <a:extLst>
                <a:ext uri="{FF2B5EF4-FFF2-40B4-BE49-F238E27FC236}">
                  <a16:creationId xmlns:a16="http://schemas.microsoft.com/office/drawing/2014/main" id="{C5AA495F-D858-B20F-92B2-99A486F2A6F2}"/>
                </a:ext>
              </a:extLst>
            </p:cNvPr>
            <p:cNvSpPr txBox="1"/>
            <p:nvPr/>
          </p:nvSpPr>
          <p:spPr>
            <a:xfrm>
              <a:off x="3534156" y="3815777"/>
              <a:ext cx="1737360" cy="310854"/>
            </a:xfrm>
            <a:prstGeom prst="rect">
              <a:avLst/>
            </a:prstGeom>
            <a:noFill/>
          </p:spPr>
          <p:txBody>
            <a:bodyPr wrap="square" lIns="54864" tIns="54864" rIns="54864" bIns="54864" anchor="ctr">
              <a:spAutoFit/>
            </a:bodyPr>
            <a:lstStyle/>
            <a:p>
              <a:pPr marL="285750" indent="-285750" algn="l">
                <a:buFont typeface="Wingdings" panose="05000000000000000000" pitchFamily="2" charset="2"/>
                <a:buChar char="v"/>
              </a:pPr>
              <a:r>
                <a:rPr sz="1300" b="1" dirty="0">
                  <a:solidFill>
                    <a:srgbClr val="ED7D31"/>
                  </a:solidFill>
                  <a:latin typeface="Arial"/>
                </a:rPr>
                <a:t>FARMER VALUE</a:t>
              </a:r>
            </a:p>
          </p:txBody>
        </p:sp>
        <p:sp>
          <p:nvSpPr>
            <p:cNvPr id="17451" name="TextBox 17450">
              <a:extLst>
                <a:ext uri="{FF2B5EF4-FFF2-40B4-BE49-F238E27FC236}">
                  <a16:creationId xmlns:a16="http://schemas.microsoft.com/office/drawing/2014/main" id="{1E362B6B-4CA4-6481-1921-9E845A416F4B}"/>
                </a:ext>
              </a:extLst>
            </p:cNvPr>
            <p:cNvSpPr txBox="1"/>
            <p:nvPr/>
          </p:nvSpPr>
          <p:spPr>
            <a:xfrm>
              <a:off x="3483864" y="4179126"/>
              <a:ext cx="2231136" cy="475488"/>
            </a:xfrm>
            <a:prstGeom prst="rect">
              <a:avLst/>
            </a:prstGeom>
            <a:noFill/>
          </p:spPr>
          <p:txBody>
            <a:bodyPr wrap="square" lIns="54864" tIns="54864" rIns="54864" bIns="54864" anchor="ctr">
              <a:spAutoFit/>
            </a:bodyPr>
            <a:lstStyle/>
            <a:p>
              <a:pPr algn="ctr"/>
              <a:r>
                <a:rPr sz="1080" b="0">
                  <a:solidFill>
                    <a:srgbClr val="1F374B"/>
                  </a:solidFill>
                  <a:latin typeface="Arial"/>
                </a:rPr>
                <a:t>Decision support that fits into
existing hand-milking routines</a:t>
              </a:r>
            </a:p>
          </p:txBody>
        </p:sp>
        <p:sp>
          <p:nvSpPr>
            <p:cNvPr id="17453" name="Rounded Rectangle 17459">
              <a:extLst>
                <a:ext uri="{FF2B5EF4-FFF2-40B4-BE49-F238E27FC236}">
                  <a16:creationId xmlns:a16="http://schemas.microsoft.com/office/drawing/2014/main" id="{BCFD6885-36D3-1E48-4B26-7EA9030D1076}"/>
                </a:ext>
              </a:extLst>
            </p:cNvPr>
            <p:cNvSpPr/>
            <p:nvPr/>
          </p:nvSpPr>
          <p:spPr>
            <a:xfrm>
              <a:off x="6071616" y="3675887"/>
              <a:ext cx="2560320" cy="1298448"/>
            </a:xfrm>
            <a:prstGeom prst="roundRect">
              <a:avLst/>
            </a:prstGeom>
            <a:solidFill>
              <a:srgbClr val="DDEBF7"/>
            </a:solidFill>
            <a:ln w="1524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59" name="TextBox 17458">
              <a:extLst>
                <a:ext uri="{FF2B5EF4-FFF2-40B4-BE49-F238E27FC236}">
                  <a16:creationId xmlns:a16="http://schemas.microsoft.com/office/drawing/2014/main" id="{6C70ABD4-4518-81AD-FEF7-27FEF3260228}"/>
                </a:ext>
              </a:extLst>
            </p:cNvPr>
            <p:cNvSpPr txBox="1"/>
            <p:nvPr/>
          </p:nvSpPr>
          <p:spPr>
            <a:xfrm>
              <a:off x="6309360" y="3802973"/>
              <a:ext cx="1737360" cy="310854"/>
            </a:xfrm>
            <a:prstGeom prst="rect">
              <a:avLst/>
            </a:prstGeom>
            <a:noFill/>
          </p:spPr>
          <p:txBody>
            <a:bodyPr wrap="square" lIns="54864" tIns="54864" rIns="54864" bIns="54864" anchor="ctr">
              <a:spAutoFit/>
            </a:bodyPr>
            <a:lstStyle/>
            <a:p>
              <a:pPr marL="285750" indent="-285750" algn="l">
                <a:buFont typeface="Wingdings" panose="05000000000000000000" pitchFamily="2" charset="2"/>
                <a:buChar char="v"/>
              </a:pPr>
              <a:r>
                <a:rPr sz="1300" b="1" dirty="0">
                  <a:solidFill>
                    <a:srgbClr val="0070C0"/>
                  </a:solidFill>
                  <a:latin typeface="Arial"/>
                </a:rPr>
                <a:t>MILK SAFETY</a:t>
              </a:r>
            </a:p>
          </p:txBody>
        </p:sp>
        <p:sp>
          <p:nvSpPr>
            <p:cNvPr id="17461" name="TextBox 17460">
              <a:extLst>
                <a:ext uri="{FF2B5EF4-FFF2-40B4-BE49-F238E27FC236}">
                  <a16:creationId xmlns:a16="http://schemas.microsoft.com/office/drawing/2014/main" id="{39694D5D-8D64-62E3-027D-0141C78FCB4D}"/>
                </a:ext>
              </a:extLst>
            </p:cNvPr>
            <p:cNvSpPr txBox="1"/>
            <p:nvPr/>
          </p:nvSpPr>
          <p:spPr>
            <a:xfrm>
              <a:off x="6236207" y="4247990"/>
              <a:ext cx="2231136" cy="475488"/>
            </a:xfrm>
            <a:prstGeom prst="rect">
              <a:avLst/>
            </a:prstGeom>
            <a:noFill/>
          </p:spPr>
          <p:txBody>
            <a:bodyPr wrap="square" lIns="54864" tIns="54864" rIns="54864" bIns="54864" anchor="ctr">
              <a:spAutoFit/>
            </a:bodyPr>
            <a:lstStyle/>
            <a:p>
              <a:pPr algn="ctr"/>
              <a:r>
                <a:rPr sz="1080" b="0">
                  <a:solidFill>
                    <a:srgbClr val="1F374B"/>
                  </a:solidFill>
                  <a:latin typeface="Arial"/>
                </a:rPr>
                <a:t>Traceable alerts and treatment/
withdrawal tracking</a:t>
              </a:r>
            </a:p>
          </p:txBody>
        </p:sp>
        <p:sp>
          <p:nvSpPr>
            <p:cNvPr id="17463" name="Rounded Rectangle 17464">
              <a:extLst>
                <a:ext uri="{FF2B5EF4-FFF2-40B4-BE49-F238E27FC236}">
                  <a16:creationId xmlns:a16="http://schemas.microsoft.com/office/drawing/2014/main" id="{49D93441-6A2E-1F84-6BC2-01DCB88E3477}"/>
                </a:ext>
              </a:extLst>
            </p:cNvPr>
            <p:cNvSpPr/>
            <p:nvPr/>
          </p:nvSpPr>
          <p:spPr>
            <a:xfrm>
              <a:off x="8787384" y="3675887"/>
              <a:ext cx="2560320" cy="1298448"/>
            </a:xfrm>
            <a:prstGeom prst="roundRect">
              <a:avLst/>
            </a:prstGeom>
            <a:solidFill>
              <a:srgbClr val="EAE0F5"/>
            </a:solidFill>
            <a:ln w="1524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69" name="TextBox 17468">
              <a:extLst>
                <a:ext uri="{FF2B5EF4-FFF2-40B4-BE49-F238E27FC236}">
                  <a16:creationId xmlns:a16="http://schemas.microsoft.com/office/drawing/2014/main" id="{6D7FDCB1-D51C-E553-D013-6168436A1C74}"/>
                </a:ext>
              </a:extLst>
            </p:cNvPr>
            <p:cNvSpPr txBox="1"/>
            <p:nvPr/>
          </p:nvSpPr>
          <p:spPr>
            <a:xfrm>
              <a:off x="8961121" y="3821554"/>
              <a:ext cx="2029967" cy="310854"/>
            </a:xfrm>
            <a:prstGeom prst="rect">
              <a:avLst/>
            </a:prstGeom>
            <a:noFill/>
          </p:spPr>
          <p:txBody>
            <a:bodyPr wrap="square" lIns="54864" tIns="54864" rIns="54864" bIns="54864" anchor="ctr">
              <a:spAutoFit/>
            </a:bodyPr>
            <a:lstStyle/>
            <a:p>
              <a:pPr marL="285750" indent="-285750" algn="l">
                <a:buFont typeface="Wingdings" panose="05000000000000000000" pitchFamily="2" charset="2"/>
                <a:buChar char="v"/>
              </a:pPr>
              <a:r>
                <a:rPr sz="1300" b="1" dirty="0">
                  <a:solidFill>
                    <a:srgbClr val="7030A0"/>
                  </a:solidFill>
                  <a:latin typeface="Arial"/>
                </a:rPr>
                <a:t>RURAL INCLUSION</a:t>
              </a:r>
            </a:p>
          </p:txBody>
        </p:sp>
        <p:sp>
          <p:nvSpPr>
            <p:cNvPr id="17471" name="TextBox 17470">
              <a:extLst>
                <a:ext uri="{FF2B5EF4-FFF2-40B4-BE49-F238E27FC236}">
                  <a16:creationId xmlns:a16="http://schemas.microsoft.com/office/drawing/2014/main" id="{38026B42-1C42-8DC8-8D18-8316D9DF95ED}"/>
                </a:ext>
              </a:extLst>
            </p:cNvPr>
            <p:cNvSpPr txBox="1"/>
            <p:nvPr/>
          </p:nvSpPr>
          <p:spPr>
            <a:xfrm>
              <a:off x="8945499" y="4179126"/>
              <a:ext cx="2231136" cy="475488"/>
            </a:xfrm>
            <a:prstGeom prst="rect">
              <a:avLst/>
            </a:prstGeom>
            <a:noFill/>
          </p:spPr>
          <p:txBody>
            <a:bodyPr wrap="square" lIns="54864" tIns="54864" rIns="54864" bIns="54864" anchor="ctr">
              <a:spAutoFit/>
            </a:bodyPr>
            <a:lstStyle/>
            <a:p>
              <a:pPr algn="ctr"/>
              <a:r>
                <a:rPr sz="1080" b="0" dirty="0">
                  <a:solidFill>
                    <a:srgbClr val="1F374B"/>
                  </a:solidFill>
                  <a:latin typeface="Arial"/>
                </a:rPr>
                <a:t>Offline-first + local-language
alerts for low-connectivity farms</a:t>
              </a:r>
            </a:p>
          </p:txBody>
        </p:sp>
        <p:sp>
          <p:nvSpPr>
            <p:cNvPr id="17473" name="Rounded Rectangle 17469">
              <a:extLst>
                <a:ext uri="{FF2B5EF4-FFF2-40B4-BE49-F238E27FC236}">
                  <a16:creationId xmlns:a16="http://schemas.microsoft.com/office/drawing/2014/main" id="{9A423F05-6597-E9FA-2C8D-37155C2A5F46}"/>
                </a:ext>
              </a:extLst>
            </p:cNvPr>
            <p:cNvSpPr/>
            <p:nvPr/>
          </p:nvSpPr>
          <p:spPr>
            <a:xfrm>
              <a:off x="658368" y="5166360"/>
              <a:ext cx="9738360" cy="438912"/>
            </a:xfrm>
            <a:prstGeom prst="roundRect">
              <a:avLst/>
            </a:prstGeom>
            <a:solidFill>
              <a:srgbClr val="FFFFFF"/>
            </a:solidFill>
            <a:ln w="1524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75" name="TextBox 17474">
              <a:extLst>
                <a:ext uri="{FF2B5EF4-FFF2-40B4-BE49-F238E27FC236}">
                  <a16:creationId xmlns:a16="http://schemas.microsoft.com/office/drawing/2014/main" id="{28C6C32A-6297-5628-34CB-450836CC9CE8}"/>
                </a:ext>
              </a:extLst>
            </p:cNvPr>
            <p:cNvSpPr txBox="1"/>
            <p:nvPr/>
          </p:nvSpPr>
          <p:spPr>
            <a:xfrm>
              <a:off x="822960" y="5212080"/>
              <a:ext cx="9418320" cy="320040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spAutoFit/>
            </a:bodyPr>
            <a:lstStyle/>
            <a:p>
              <a:pPr algn="ctr"/>
              <a:r>
                <a:rPr sz="1120" b="1" dirty="0">
                  <a:solidFill>
                    <a:srgbClr val="1F374B"/>
                  </a:solidFill>
                  <a:latin typeface="Arial"/>
                </a:rPr>
                <a:t>Prototype success can be demonstrated through:  Detection consistency  •  Alert usability  •  Offline operation  •  Validation against veterinary/diagnostic results</a:t>
              </a:r>
            </a:p>
          </p:txBody>
        </p:sp>
      </p:grpSp>
      <p:pic>
        <p:nvPicPr>
          <p:cNvPr id="17478" name="Picture 17477">
            <a:extLst>
              <a:ext uri="{FF2B5EF4-FFF2-40B4-BE49-F238E27FC236}">
                <a16:creationId xmlns:a16="http://schemas.microsoft.com/office/drawing/2014/main" id="{5016D2F6-64E4-4A72-C930-C39C90F47C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302" y="165006"/>
            <a:ext cx="978132" cy="9781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B8677CF-B7DA-8AFC-BD4C-FF6346585F76}"/>
              </a:ext>
            </a:extLst>
          </p:cNvPr>
          <p:cNvSpPr txBox="1"/>
          <p:nvPr/>
        </p:nvSpPr>
        <p:spPr>
          <a:xfrm>
            <a:off x="10999694" y="6275294"/>
            <a:ext cx="788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41667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276474" y="136522"/>
            <a:ext cx="7219951" cy="1325563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Text 12">
            <a:extLst>
              <a:ext uri="{FF2B5EF4-FFF2-40B4-BE49-F238E27FC236}">
                <a16:creationId xmlns:a16="http://schemas.microsoft.com/office/drawing/2014/main" id="{EDFAB1B9-45E3-4878-1C6B-155DE4C51C9A}"/>
              </a:ext>
            </a:extLst>
          </p:cNvPr>
          <p:cNvSpPr txBox="1"/>
          <p:nvPr/>
        </p:nvSpPr>
        <p:spPr>
          <a:xfrm>
            <a:off x="609599" y="1803861"/>
            <a:ext cx="11177847" cy="3948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Bansal, B.K. et al. (2009) — Economic analysis of bovine mastitis in India and Punjab</a:t>
            </a:r>
            <a:endParaRPr lang="en-US" sz="24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Epidemiology of Bovine Mastitis in Cows of Dharwad District — PMC</a:t>
            </a:r>
            <a:endParaRPr lang="en-US" sz="24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Sinha, M.K. et al. (2014) — Subclinical Mastitis in Dairy Animals: Incidence, Economics, Predisposing Factors</a:t>
            </a:r>
            <a:endParaRPr lang="en-US" sz="24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Frontiers in Veterinary Science (2025) — ML-based clinical mastitis detection using milk EC and SCC</a:t>
            </a:r>
            <a:endParaRPr lang="en-US" sz="24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Lazaro, A. et al. — Battery-less NFC conductivity sensor for bovine mastitis detection, Farming 4.0</a:t>
            </a:r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 Models-Claude and Gemini</a:t>
            </a:r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87CFE3-D9A2-D2FE-0DC5-087AD9F898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054" y="176691"/>
            <a:ext cx="978132" cy="9781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1DBC53-4DD5-3A37-D69C-2B271BE8AEDD}"/>
              </a:ext>
            </a:extLst>
          </p:cNvPr>
          <p:cNvSpPr txBox="1"/>
          <p:nvPr/>
        </p:nvSpPr>
        <p:spPr>
          <a:xfrm>
            <a:off x="10999694" y="6275294"/>
            <a:ext cx="788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7524</TotalTime>
  <Words>929</Words>
  <Application>Microsoft Office PowerPoint</Application>
  <PresentationFormat>Widescreen</PresentationFormat>
  <Paragraphs>121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Aptos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MASTITIS FORECASTER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Rajeshkumar Ponnurangan</cp:lastModifiedBy>
  <cp:revision>156</cp:revision>
  <dcterms:created xsi:type="dcterms:W3CDTF">2013-12-12T18:46:50Z</dcterms:created>
  <dcterms:modified xsi:type="dcterms:W3CDTF">2026-08-30T18:41:19Z</dcterms:modified>
  <cp:category/>
</cp:coreProperties>
</file>